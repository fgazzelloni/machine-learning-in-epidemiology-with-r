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6cd96f588c405a" /><Relationship Type="http://schemas.openxmlformats.org/officeDocument/2006/relationships/extended-properties" Target="/docProps/app.xml" Id="R59a2026f57a640df" /><Relationship Type="http://schemas.openxmlformats.org/officeDocument/2006/relationships/officeDocument" Target="/ppt/presentation.xml" Id="Rf562ac8638124eea" /></Relationships>
</file>

<file path=ppt/presentation.xml><?xml version="1.0" encoding="utf-8"?>
<p:presentation xmlns:p="http://schemas.openxmlformats.org/presentationml/2006/main">
  <p:sldMasterIdLst>
    <p:sldMasterId xmlns:r="http://schemas.openxmlformats.org/officeDocument/2006/relationships" id="2147483648" r:id="R517eddc9b0264386"/>
  </p:sldMasterIdLst>
  <p:notesMasterIdLst>
    <p:notesMasterId xmlns:r="http://schemas.openxmlformats.org/officeDocument/2006/relationships" r:id="Rdc7142c525114634"/>
  </p:notesMasterIdLst>
  <p:sldIdLst>
    <p:sldId xmlns:r="http://schemas.openxmlformats.org/officeDocument/2006/relationships" id="256" r:id="R12afa9ac6b9448bc"/>
    <p:sldId xmlns:r="http://schemas.openxmlformats.org/officeDocument/2006/relationships" id="257" r:id="R5b3b73655c4949e5"/>
    <p:sldId xmlns:r="http://schemas.openxmlformats.org/officeDocument/2006/relationships" id="258" r:id="Rcc8d8c3bd2d7489d"/>
    <p:sldId xmlns:r="http://schemas.openxmlformats.org/officeDocument/2006/relationships" id="259" r:id="R655e21ade501497c"/>
    <p:sldId xmlns:r="http://schemas.openxmlformats.org/officeDocument/2006/relationships" id="260" r:id="R6795e16749614523"/>
    <p:sldId xmlns:r="http://schemas.openxmlformats.org/officeDocument/2006/relationships" id="261" r:id="R323e04ea2f63452b"/>
    <p:sldId xmlns:r="http://schemas.openxmlformats.org/officeDocument/2006/relationships" id="262" r:id="R3c98015d008b4965"/>
    <p:sldId xmlns:r="http://schemas.openxmlformats.org/officeDocument/2006/relationships" id="263" r:id="Rad7da0290ee74dcd"/>
    <p:sldId xmlns:r="http://schemas.openxmlformats.org/officeDocument/2006/relationships" id="264" r:id="R59485832a9a74c58"/>
    <p:sldId xmlns:r="http://schemas.openxmlformats.org/officeDocument/2006/relationships" id="265" r:id="Rfffdcca172684df1"/>
    <p:sldId xmlns:r="http://schemas.openxmlformats.org/officeDocument/2006/relationships" id="266" r:id="R224d4ea82f4642ee"/>
    <p:sldId xmlns:r="http://schemas.openxmlformats.org/officeDocument/2006/relationships" id="267" r:id="R5d44a2492c6048c4"/>
    <p:sldId xmlns:r="http://schemas.openxmlformats.org/officeDocument/2006/relationships" id="268" r:id="Ra0ff006434594ec9"/>
    <p:sldId xmlns:r="http://schemas.openxmlformats.org/officeDocument/2006/relationships" id="269" r:id="Rbe611a5c63d641c4"/>
    <p:sldId xmlns:r="http://schemas.openxmlformats.org/officeDocument/2006/relationships" id="270" r:id="Rd0f599c26f9041c5"/>
    <p:sldId xmlns:r="http://schemas.openxmlformats.org/officeDocument/2006/relationships" id="271" r:id="Ra4c8fe9143a54eb9"/>
    <p:sldId xmlns:r="http://schemas.openxmlformats.org/officeDocument/2006/relationships" id="272" r:id="R3ed4e6e6c9e04071"/>
    <p:sldId xmlns:r="http://schemas.openxmlformats.org/officeDocument/2006/relationships" id="273" r:id="Rc3f050ac97fc41b2"/>
    <p:sldId xmlns:r="http://schemas.openxmlformats.org/officeDocument/2006/relationships" id="274" r:id="R9401d14384cc4c69"/>
    <p:sldId xmlns:r="http://schemas.openxmlformats.org/officeDocument/2006/relationships" id="275" r:id="R03708561a88c4737"/>
    <p:sldId xmlns:r="http://schemas.openxmlformats.org/officeDocument/2006/relationships" id="276" r:id="Rcad94f81c8c04bb3"/>
    <p:sldId xmlns:r="http://schemas.openxmlformats.org/officeDocument/2006/relationships" id="277" r:id="R790586803f1d49b0"/>
    <p:sldId xmlns:r="http://schemas.openxmlformats.org/officeDocument/2006/relationships" id="278" r:id="R31a772ab7f544f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9e4d33e8ba4d31" /><Relationship Type="http://schemas.openxmlformats.org/officeDocument/2006/relationships/slideMaster" Target="/ppt/slideMasters/slideMaster1.xml" Id="R517eddc9b0264386" /><Relationship Type="http://schemas.openxmlformats.org/officeDocument/2006/relationships/notesMaster" Target="/ppt/notesMasters/notesMaster1.xml" Id="Rdc7142c525114634" /><Relationship Type="http://schemas.openxmlformats.org/officeDocument/2006/relationships/presProps" Target="/ppt/presProps.xml" Id="R8bb30b4b10454789" /><Relationship Type="http://schemas.openxmlformats.org/officeDocument/2006/relationships/tableStyles" Target="/ppt/tableStyles.xml" Id="R37109b3881324780" /><Relationship Type="http://schemas.openxmlformats.org/officeDocument/2006/relationships/slide" Target="/ppt/slides/slide1.xml" Id="R12afa9ac6b9448bc" /><Relationship Type="http://schemas.openxmlformats.org/officeDocument/2006/relationships/slide" Target="/ppt/slides/slide2.xml" Id="R5b3b73655c4949e5" /><Relationship Type="http://schemas.openxmlformats.org/officeDocument/2006/relationships/slide" Target="/ppt/slides/slide3.xml" Id="Rcc8d8c3bd2d7489d" /><Relationship Type="http://schemas.openxmlformats.org/officeDocument/2006/relationships/slide" Target="/ppt/slides/slide4.xml" Id="R655e21ade501497c" /><Relationship Type="http://schemas.openxmlformats.org/officeDocument/2006/relationships/slide" Target="/ppt/slides/slide5.xml" Id="R6795e16749614523" /><Relationship Type="http://schemas.openxmlformats.org/officeDocument/2006/relationships/slide" Target="/ppt/slides/slide6.xml" Id="R323e04ea2f63452b" /><Relationship Type="http://schemas.openxmlformats.org/officeDocument/2006/relationships/slide" Target="/ppt/slides/slide7.xml" Id="R3c98015d008b4965" /><Relationship Type="http://schemas.openxmlformats.org/officeDocument/2006/relationships/slide" Target="/ppt/slides/slide8.xml" Id="Rad7da0290ee74dcd" /><Relationship Type="http://schemas.openxmlformats.org/officeDocument/2006/relationships/slide" Target="/ppt/slides/slide9.xml" Id="R59485832a9a74c58" /><Relationship Type="http://schemas.openxmlformats.org/officeDocument/2006/relationships/slide" Target="/ppt/slides/slide10.xml" Id="Rfffdcca172684df1" /><Relationship Type="http://schemas.openxmlformats.org/officeDocument/2006/relationships/slide" Target="/ppt/slides/slide11.xml" Id="R224d4ea82f4642ee" /><Relationship Type="http://schemas.openxmlformats.org/officeDocument/2006/relationships/slide" Target="/ppt/slides/slide12.xml" Id="R5d44a2492c6048c4" /><Relationship Type="http://schemas.openxmlformats.org/officeDocument/2006/relationships/slide" Target="/ppt/slides/slide13.xml" Id="Ra0ff006434594ec9" /><Relationship Type="http://schemas.openxmlformats.org/officeDocument/2006/relationships/slide" Target="/ppt/slides/slide14.xml" Id="Rbe611a5c63d641c4" /><Relationship Type="http://schemas.openxmlformats.org/officeDocument/2006/relationships/slide" Target="/ppt/slides/slide15.xml" Id="Rd0f599c26f9041c5" /><Relationship Type="http://schemas.openxmlformats.org/officeDocument/2006/relationships/slide" Target="/ppt/slides/slide16.xml" Id="Ra4c8fe9143a54eb9" /><Relationship Type="http://schemas.openxmlformats.org/officeDocument/2006/relationships/slide" Target="/ppt/slides/slide17.xml" Id="R3ed4e6e6c9e04071" /><Relationship Type="http://schemas.openxmlformats.org/officeDocument/2006/relationships/slide" Target="/ppt/slides/slide18.xml" Id="Rc3f050ac97fc41b2" /><Relationship Type="http://schemas.openxmlformats.org/officeDocument/2006/relationships/slide" Target="/ppt/slides/slide19.xml" Id="R9401d14384cc4c69" /><Relationship Type="http://schemas.openxmlformats.org/officeDocument/2006/relationships/slide" Target="/ppt/slides/slide20.xml" Id="R03708561a88c4737" /><Relationship Type="http://schemas.openxmlformats.org/officeDocument/2006/relationships/slide" Target="/ppt/slides/slide21.xml" Id="Rcad94f81c8c04bb3" /><Relationship Type="http://schemas.openxmlformats.org/officeDocument/2006/relationships/slide" Target="/ppt/slides/slide22.xml" Id="R790586803f1d49b0" /><Relationship Type="http://schemas.openxmlformats.org/officeDocument/2006/relationships/slide" Target="/ppt/slides/slide23.xml" Id="R31a772ab7f544f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fde4c8971d4d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53947a25ad4f45" /><Relationship Type="http://schemas.openxmlformats.org/officeDocument/2006/relationships/notesMaster" Target="/ppt/notesMasters/notesMaster1.xml" Id="R6a0c503fa2fa40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30fbae9a834e57" /><Relationship Type="http://schemas.openxmlformats.org/officeDocument/2006/relationships/notesMaster" Target="/ppt/notesMasters/notesMaster1.xml" Id="R44ba73c7d1404f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0309569dbb459f" /><Relationship Type="http://schemas.openxmlformats.org/officeDocument/2006/relationships/notesMaster" Target="/ppt/notesMasters/notesMaster1.xml" Id="R1d9a692fb5e846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e8503feb1b46c1" /><Relationship Type="http://schemas.openxmlformats.org/officeDocument/2006/relationships/notesMaster" Target="/ppt/notesMasters/notesMaster1.xml" Id="R6f022cb099c043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5f754933c44dab" /><Relationship Type="http://schemas.openxmlformats.org/officeDocument/2006/relationships/notesMaster" Target="/ppt/notesMasters/notesMaster1.xml" Id="Rccda895958144c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03ed3834ba4cbf" /><Relationship Type="http://schemas.openxmlformats.org/officeDocument/2006/relationships/notesMaster" Target="/ppt/notesMasters/notesMaster1.xml" Id="R11fad5a5a3314d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73f1ff5d1241d7" /><Relationship Type="http://schemas.openxmlformats.org/officeDocument/2006/relationships/notesMaster" Target="/ppt/notesMasters/notesMaster1.xml" Id="R2081ccf5d43f42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cceee6a9674899" /><Relationship Type="http://schemas.openxmlformats.org/officeDocument/2006/relationships/notesMaster" Target="/ppt/notesMasters/notesMaster1.xml" Id="Rc5c29cc30bb147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2c8f2852c74c72" /><Relationship Type="http://schemas.openxmlformats.org/officeDocument/2006/relationships/notesMaster" Target="/ppt/notesMasters/notesMaster1.xml" Id="R32035d6f7a9f49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27c82e590b4e23" /><Relationship Type="http://schemas.openxmlformats.org/officeDocument/2006/relationships/notesMaster" Target="/ppt/notesMasters/notesMaster1.xml" Id="R47b99bc0e9604c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b5aa27b073431c" /><Relationship Type="http://schemas.openxmlformats.org/officeDocument/2006/relationships/notesMaster" Target="/ppt/notesMasters/notesMaster1.xml" Id="Rd35120d3d2b745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6156e2fedb463b" /><Relationship Type="http://schemas.openxmlformats.org/officeDocument/2006/relationships/notesMaster" Target="/ppt/notesMasters/notesMaster1.xml" Id="Ra1554b11c78e4b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1318923fff4fa1" /><Relationship Type="http://schemas.openxmlformats.org/officeDocument/2006/relationships/notesMaster" Target="/ppt/notesMasters/notesMaster1.xml" Id="R1acbc869fb9846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604556adc0437c" /><Relationship Type="http://schemas.openxmlformats.org/officeDocument/2006/relationships/notesMaster" Target="/ppt/notesMasters/notesMaster1.xml" Id="R041c2943319e44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e6404277c4031" /><Relationship Type="http://schemas.openxmlformats.org/officeDocument/2006/relationships/notesMaster" Target="/ppt/notesMasters/notesMaster1.xml" Id="R2adc22d1507446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60ce2b820e4fdf" /><Relationship Type="http://schemas.openxmlformats.org/officeDocument/2006/relationships/notesMaster" Target="/ppt/notesMasters/notesMaster1.xml" Id="Rdc16eae582184e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409f3b13b294957" /><Relationship Type="http://schemas.openxmlformats.org/officeDocument/2006/relationships/notesMaster" Target="/ppt/notesMasters/notesMaster1.xml" Id="Rbbc7ba936ade41f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f1c42a46b14786" /><Relationship Type="http://schemas.openxmlformats.org/officeDocument/2006/relationships/notesMaster" Target="/ppt/notesMasters/notesMaster1.xml" Id="R10808e17570b44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e2d8220a074d71" /><Relationship Type="http://schemas.openxmlformats.org/officeDocument/2006/relationships/notesMaster" Target="/ppt/notesMasters/notesMaster1.xml" Id="Ref6d30e65fb84c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6b8baec20d466b" /><Relationship Type="http://schemas.openxmlformats.org/officeDocument/2006/relationships/notesMaster" Target="/ppt/notesMasters/notesMaster1.xml" Id="Re8801ca7c9214d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1479d7ef634e83" /><Relationship Type="http://schemas.openxmlformats.org/officeDocument/2006/relationships/notesMaster" Target="/ppt/notesMasters/notesMaster1.xml" Id="R423304cb857d46b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f9b52d06b3a4458" /><Relationship Type="http://schemas.openxmlformats.org/officeDocument/2006/relationships/notesMaster" Target="/ppt/notesMasters/notesMaster1.xml" Id="R5fc2d7f4531e496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7ebb48238c04285" /><Relationship Type="http://schemas.openxmlformats.org/officeDocument/2006/relationships/notesMaster" Target="/ppt/notesMasters/notesMaster1.xml" Id="R277750f8198b4d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Reconnect with Part 1: prediction tasks, preparation, logistic regression, trees, random forests and evaluation. Today develops a clinical teaching example.</a:t>
            </a:r>
          </a:p>
          <a:p xmlns:a="http://schemas.openxmlformats.org/drawingml/2006/main">
            <a:r>
              <a:t/>
            </a:r>
          </a:p>
          <a:p xmlns:a="http://schemas.openxmlformats.org/drawingml/2006/main">
            <a:r>
              <a:t>DEMONSTRATION / QUESTION</a:t>
            </a:r>
          </a:p>
          <a:p xmlns:a="http://schemas.openxmlformats.org/drawingml/2006/main">
            <a:r>
              <a:t>Invite participants to open the root RStudio project.</a:t>
            </a:r>
          </a:p>
          <a:p xmlns:a="http://schemas.openxmlformats.org/drawingml/2006/main">
            <a:r>
              <a:t/>
            </a:r>
          </a:p>
          <a:p xmlns:a="http://schemas.openxmlformats.org/drawingml/2006/main">
            <a:r>
              <a:t>TRANSITION</a:t>
            </a:r>
          </a:p>
          <a:p xmlns:a="http://schemas.openxmlformats.org/drawingml/2006/main">
            <a:r>
              <a:t>Show the route and how R practice fits into it.</a:t>
            </a:r>
          </a:p>
          <a:p xmlns:a="http://schemas.openxmlformats.org/drawingml/2006/main">
            <a:r>
              <a:t/>
            </a:r>
          </a:p>
          <a:p xmlns:a="http://schemas.openxmlformats.org/drawingml/2006/main">
            <a:r>
              <a:t>SOURCE</a:t>
            </a:r>
          </a:p>
          <a:p xmlns:a="http://schemas.openxmlformats.org/drawingml/2006/main">
            <a:r>
              <a:t>Part 1 deck; Part 2 notebook introduction.</a:t>
            </a:r>
          </a:p>
          <a:p xmlns:a="http://schemas.openxmlformats.org/drawingml/2006/main">
            <a:r>
              <a:t/>
            </a:r>
          </a:p>
          <a:p xmlns:a="http://schemas.openxmlformats.org/drawingml/2006/main">
            <a:r>
              <a:t>SUGGESTED TIME</a:t>
            </a:r>
          </a:p>
          <a:p xmlns:a="http://schemas.openxmlformats.org/drawingml/2006/main">
            <a:r>
              <a:t>0–3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Use sections 1–4 live. Suggested allocation: 40 minutes explanation, 60 minutes R demonstrations and participant practice, 20 minutes discussion and questions. Appendix is follow-up material.</a:t>
            </a:r>
          </a:p>
          <a:p xmlns:a="http://schemas.openxmlformats.org/drawingml/2006/main">
            <a:r>
              <a:t/>
            </a:r>
          </a:p>
          <a:p xmlns:a="http://schemas.openxmlformats.org/drawingml/2006/main">
            <a:r>
              <a:t>DEMONSTRATION / QUESTION</a:t>
            </a:r>
          </a:p>
          <a:p xmlns:a="http://schemas.openxmlformats.org/drawingml/2006/main">
            <a:r>
              <a:t>Ask participants to keep RStudio open beside the workshop.</a:t>
            </a:r>
          </a:p>
          <a:p xmlns:a="http://schemas.openxmlformats.org/drawingml/2006/main">
            <a:r>
              <a:t/>
            </a:r>
          </a:p>
          <a:p xmlns:a="http://schemas.openxmlformats.org/drawingml/2006/main">
            <a:r>
              <a:t>TRANSITION</a:t>
            </a:r>
          </a:p>
          <a:p xmlns:a="http://schemas.openxmlformats.org/drawingml/2006/main">
            <a:r>
              <a:t>Reconnect the examples before reading the data.</a:t>
            </a:r>
          </a:p>
          <a:p xmlns:a="http://schemas.openxmlformats.org/drawingml/2006/main">
            <a:r>
              <a:t/>
            </a:r>
          </a:p>
          <a:p xmlns:a="http://schemas.openxmlformats.org/drawingml/2006/main">
            <a:r>
              <a:t>SOURCE</a:t>
            </a:r>
          </a:p>
          <a:p xmlns:a="http://schemas.openxmlformats.org/drawingml/2006/main">
            <a:r>
              <a:t>part2/ml-workflow-2.qmd: Session route.</a:t>
            </a:r>
          </a:p>
          <a:p xmlns:a="http://schemas.openxmlformats.org/drawingml/2006/main">
            <a:r>
              <a:t/>
            </a:r>
          </a:p>
          <a:p xmlns:a="http://schemas.openxmlformats.org/drawingml/2006/main">
            <a:r>
              <a:t>SUGGESTED TIME</a:t>
            </a:r>
          </a:p>
          <a:p xmlns:a="http://schemas.openxmlformats.org/drawingml/2006/main">
            <a:r>
              <a:t>3–6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Part 1 used West Nile surveillance. Do not transfer its unit or outcome automatically to clinical data. Ask what each row and each prediction mean here. Retain the discipline of using appropriate information and separating fitting from evaluation.</a:t>
            </a:r>
          </a:p>
          <a:p xmlns:a="http://schemas.openxmlformats.org/drawingml/2006/main">
            <a:r>
              <a:t/>
            </a:r>
          </a:p>
          <a:p xmlns:a="http://schemas.openxmlformats.org/drawingml/2006/main">
            <a:r>
              <a:t>DEMONSTRATION / QUESTION</a:t>
            </a:r>
          </a:p>
          <a:p xmlns:a="http://schemas.openxmlformats.org/drawingml/2006/main">
            <a:r>
              <a:t>Recall one reason a split can give misleading results.</a:t>
            </a:r>
          </a:p>
          <a:p xmlns:a="http://schemas.openxmlformats.org/drawingml/2006/main">
            <a:r>
              <a:t/>
            </a:r>
          </a:p>
          <a:p xmlns:a="http://schemas.openxmlformats.org/drawingml/2006/main">
            <a:r>
              <a:t>TRANSITION</a:t>
            </a:r>
          </a:p>
          <a:p xmlns:a="http://schemas.openxmlformats.org/drawingml/2006/main">
            <a:r>
              <a:t>Inspect the patient data.</a:t>
            </a:r>
          </a:p>
          <a:p xmlns:a="http://schemas.openxmlformats.org/drawingml/2006/main">
            <a:r>
              <a:t/>
            </a:r>
          </a:p>
          <a:p xmlns:a="http://schemas.openxmlformats.org/drawingml/2006/main">
            <a:r>
              <a:t>SOURCE</a:t>
            </a:r>
          </a:p>
          <a:p xmlns:a="http://schemas.openxmlformats.org/drawingml/2006/main">
            <a:r>
              <a:t>Notebook introduction; Part 1 teaching context.</a:t>
            </a:r>
          </a:p>
          <a:p xmlns:a="http://schemas.openxmlformats.org/drawingml/2006/main">
            <a:r>
              <a:t/>
            </a:r>
          </a:p>
          <a:p xmlns:a="http://schemas.openxmlformats.org/drawingml/2006/main">
            <a:r>
              <a:t>SUGGESTED TIME</a:t>
            </a:r>
          </a:p>
          <a:p xmlns:a="http://schemas.openxmlformats.org/drawingml/2006/main">
            <a:r>
              <a:t>6–10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One row represents one patient. There are 14 columns including the outcome, 13 predictors, no missing values and no removed rows. The positive class is present. Read the raw data and preparation mapping before discussing models.</a:t>
            </a:r>
          </a:p>
          <a:p xmlns:a="http://schemas.openxmlformats.org/drawingml/2006/main">
            <a:r>
              <a:t/>
            </a:r>
          </a:p>
          <a:p xmlns:a="http://schemas.openxmlformats.org/drawingml/2006/main">
            <a:r>
              <a:t>DEMONSTRATION / QUESTION</a:t>
            </a:r>
          </a:p>
          <a:p xmlns:a="http://schemas.openxmlformats.org/drawingml/2006/main">
            <a:r>
              <a:t>Run source("R/01-data.R"), dim(heart), table(heart$heart_disease), str(heart). Allow 8 minutes practice.</a:t>
            </a:r>
          </a:p>
          <a:p xmlns:a="http://schemas.openxmlformats.org/drawingml/2006/main">
            <a:r>
              <a:t/>
            </a:r>
          </a:p>
          <a:p xmlns:a="http://schemas.openxmlformats.org/drawingml/2006/main">
            <a:r>
              <a:t>TRANSITION</a:t>
            </a:r>
          </a:p>
          <a:p xmlns:a="http://schemas.openxmlformats.org/drawingml/2006/main">
            <a:r>
              <a:t>State precisely what we classify.</a:t>
            </a:r>
          </a:p>
          <a:p xmlns:a="http://schemas.openxmlformats.org/drawingml/2006/main">
            <a:r>
              <a:t/>
            </a:r>
          </a:p>
          <a:p xmlns:a="http://schemas.openxmlformats.org/drawingml/2006/main">
            <a:r>
              <a:t>SOURCE</a:t>
            </a:r>
          </a:p>
          <a:p xmlns:a="http://schemas.openxmlformats.org/drawingml/2006/main">
            <a:r>
              <a:t>Notebook §1; R/01-data.R; data/README.md; outputs/VALIDATION.md.</a:t>
            </a:r>
          </a:p>
          <a:p xmlns:a="http://schemas.openxmlformats.org/drawingml/2006/main">
            <a:r>
              <a:t/>
            </a:r>
          </a:p>
          <a:p xmlns:a="http://schemas.openxmlformats.org/drawingml/2006/main">
            <a:r>
              <a:t>SUGGESTED TIME</a:t>
            </a:r>
          </a:p>
          <a:p xmlns:a="http://schemas.openxmlformats.org/drawingml/2006/main">
            <a:r>
              <a:t>10–20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Classification assigns an observation to a category. Positive is the class whose detection we focus on, not a judgement of desirability. The outcome describes disease status in this teaching sample, without a future-event horizon. No clinical validation is established.</a:t>
            </a:r>
          </a:p>
          <a:p xmlns:a="http://schemas.openxmlformats.org/drawingml/2006/main">
            <a:r>
              <a:t/>
            </a:r>
          </a:p>
          <a:p xmlns:a="http://schemas.openxmlformats.org/drawingml/2006/main">
            <a:r>
              <a:t>DEMONSTRATION / QUESTION</a:t>
            </a:r>
          </a:p>
          <a:p xmlns:a="http://schemas.openxmlformats.org/drawingml/2006/main">
            <a:r>
              <a:t>Find target = "heart_disease" and positive = "present" in the script.</a:t>
            </a:r>
          </a:p>
          <a:p xmlns:a="http://schemas.openxmlformats.org/drawingml/2006/main">
            <a:r>
              <a:t/>
            </a:r>
          </a:p>
          <a:p xmlns:a="http://schemas.openxmlformats.org/drawingml/2006/main">
            <a:r>
              <a:t>TRANSITION</a:t>
            </a:r>
          </a:p>
          <a:p xmlns:a="http://schemas.openxmlformats.org/drawingml/2006/main">
            <a:r>
              <a:t>A tree learns a sequence of questions from these measurements.</a:t>
            </a:r>
          </a:p>
          <a:p xmlns:a="http://schemas.openxmlformats.org/drawingml/2006/main">
            <a:r>
              <a:t/>
            </a:r>
          </a:p>
          <a:p xmlns:a="http://schemas.openxmlformats.org/drawingml/2006/main">
            <a:r>
              <a:t>SOURCE</a:t>
            </a:r>
          </a:p>
          <a:p xmlns:a="http://schemas.openxmlformats.org/drawingml/2006/main">
            <a:r>
              <a:t>Notebook §1; R/02-trees-and-evaluation.R, as_task_classif; data/README.md.</a:t>
            </a:r>
          </a:p>
          <a:p xmlns:a="http://schemas.openxmlformats.org/drawingml/2006/main">
            <a:r>
              <a:t/>
            </a:r>
          </a:p>
          <a:p xmlns:a="http://schemas.openxmlformats.org/drawingml/2006/main">
            <a:r>
              <a:t>SUGGESTED TIME</a:t>
            </a:r>
          </a:p>
          <a:p xmlns:a="http://schemas.openxmlformats.org/drawingml/2006/main">
            <a:r>
              <a:t>20–25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Read the root question on the saved tree and trace one path. A tree recursively separates patients into groups that are more similar in outcome. A leaf is a terminal group. The proportions and row percentages describe this fitted sample. Fitted accuracy is not a new-patient performance estimate.</a:t>
            </a:r>
          </a:p>
          <a:p xmlns:a="http://schemas.openxmlformats.org/drawingml/2006/main">
            <a:r>
              <a:t/>
            </a:r>
          </a:p>
          <a:p xmlns:a="http://schemas.openxmlformats.org/drawingml/2006/main">
            <a:r>
              <a:t>DEMONSTRATION / QUESTION</a:t>
            </a:r>
          </a:p>
          <a:p xmlns:a="http://schemas.openxmlformats.org/drawingml/2006/main">
            <a:r>
              <a:t>Run the cart fitting expression. Trace one branch together, then let participants choose another.</a:t>
            </a:r>
          </a:p>
          <a:p xmlns:a="http://schemas.openxmlformats.org/drawingml/2006/main">
            <a:r>
              <a:t/>
            </a:r>
          </a:p>
          <a:p xmlns:a="http://schemas.openxmlformats.org/drawingml/2006/main">
            <a:r>
              <a:t>TRANSITION</a:t>
            </a:r>
          </a:p>
          <a:p xmlns:a="http://schemas.openxmlformats.org/drawingml/2006/main">
            <a:r>
              <a:t>Compare the extra flexibility of a deep tree with pruning.</a:t>
            </a:r>
          </a:p>
          <a:p xmlns:a="http://schemas.openxmlformats.org/drawingml/2006/main">
            <a:r>
              <a:t/>
            </a:r>
          </a:p>
          <a:p xmlns:a="http://schemas.openxmlformats.org/drawingml/2006/main">
            <a:r>
              <a:t>SOURCE</a:t>
            </a:r>
          </a:p>
          <a:p xmlns:a="http://schemas.openxmlformats.org/drawingml/2006/main">
            <a:r>
              <a:t>Notebook §2; R/02-trees-and-evaluation.R, article-trees; figures/01-tree.png.</a:t>
            </a:r>
          </a:p>
          <a:p xmlns:a="http://schemas.openxmlformats.org/drawingml/2006/main">
            <a:r>
              <a:t/>
            </a:r>
          </a:p>
          <a:p xmlns:a="http://schemas.openxmlformats.org/drawingml/2006/main">
            <a:r>
              <a:t>SUGGESTED TIME</a:t>
            </a:r>
          </a:p>
          <a:p xmlns:a="http://schemas.openxmlformats.org/drawingml/2006/main">
            <a:r>
              <a:t>25–33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left illustration is newly rendered from the supplied deep-tree fitting expression using the prepared local data. It is a fitting illustration, not another evaluation result. The right figure is the supplied pruned tree. Small leaf labels in the deep overview are for structure only; inspect the full image or R plot during the demonstration. minsplit sets the minimum observations required to attempt a split.</a:t>
            </a:r>
          </a:p>
          <a:p xmlns:a="http://schemas.openxmlformats.org/drawingml/2006/main">
            <a:r>
              <a:t/>
            </a:r>
          </a:p>
          <a:p xmlns:a="http://schemas.openxmlformats.org/drawingml/2006/main">
            <a:r>
              <a:t>DEMONSTRATION / QUESTION</a:t>
            </a:r>
          </a:p>
          <a:p xmlns:a="http://schemas.openxmlformats.org/drawingml/2006/main">
            <a:r>
              <a:t>Fit deep_cart and pruned_cart. Ask: which structure would be easier to explain?</a:t>
            </a:r>
          </a:p>
          <a:p xmlns:a="http://schemas.openxmlformats.org/drawingml/2006/main">
            <a:r>
              <a:t/>
            </a:r>
          </a:p>
          <a:p xmlns:a="http://schemas.openxmlformats.org/drawingml/2006/main">
            <a:r>
              <a:t>TRANSITION</a:t>
            </a:r>
          </a:p>
          <a:p xmlns:a="http://schemas.openxmlformats.org/drawingml/2006/main">
            <a:r>
              <a:t>The complexity plot helps explain why branches may be removed.</a:t>
            </a:r>
          </a:p>
          <a:p xmlns:a="http://schemas.openxmlformats.org/drawingml/2006/main">
            <a:r>
              <a:t/>
            </a:r>
          </a:p>
          <a:p xmlns:a="http://schemas.openxmlformats.org/drawingml/2006/main">
            <a:r>
              <a:t>SOURCE</a:t>
            </a:r>
          </a:p>
          <a:p xmlns:a="http://schemas.openxmlformats.org/drawingml/2006/main">
            <a:r>
              <a:t>Notebook §2; R/02-trees-and-evaluation.R; deep_cart and pruned_cart.</a:t>
            </a:r>
          </a:p>
          <a:p xmlns:a="http://schemas.openxmlformats.org/drawingml/2006/main">
            <a:r>
              <a:t/>
            </a:r>
          </a:p>
          <a:p xmlns:a="http://schemas.openxmlformats.org/drawingml/2006/main">
            <a:r>
              <a:t>SUGGESTED TIME</a:t>
            </a:r>
          </a:p>
          <a:p xmlns:a="http://schemas.openxmlformats.org/drawingml/2006/main">
            <a:r>
              <a:t>33–39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Explain the relative cross-validation error and tree-size axes. Complexity parameter cp controls the tradeoff between fit and complexity. The fixed 0.031 is retained for replication, not claimed to be universally optimal or selected by our test set. The initial trees use all rows, so even their internal complexity assessment is not the held-out evaluation introduced later.</a:t>
            </a:r>
          </a:p>
          <a:p xmlns:a="http://schemas.openxmlformats.org/drawingml/2006/main">
            <a:r>
              <a:t/>
            </a:r>
          </a:p>
          <a:p xmlns:a="http://schemas.openxmlformats.org/drawingml/2006/main">
            <a:r>
              <a:t>DEMONSTRATION / QUESTION</a:t>
            </a:r>
          </a:p>
          <a:p xmlns:a="http://schemas.openxmlformats.org/drawingml/2006/main">
            <a:r>
              <a:t>Ask participants to locate cp in prune(). Discuss whether the smallest training error settles the question.</a:t>
            </a:r>
          </a:p>
          <a:p xmlns:a="http://schemas.openxmlformats.org/drawingml/2006/main">
            <a:r>
              <a:t/>
            </a:r>
          </a:p>
          <a:p xmlns:a="http://schemas.openxmlformats.org/drawingml/2006/main">
            <a:r>
              <a:t>TRANSITION</a:t>
            </a:r>
          </a:p>
          <a:p xmlns:a="http://schemas.openxmlformats.org/drawingml/2006/main">
            <a:r>
              <a:t>A neural network offers a different way to learn patterns.</a:t>
            </a:r>
          </a:p>
          <a:p xmlns:a="http://schemas.openxmlformats.org/drawingml/2006/main">
            <a:r>
              <a:t/>
            </a:r>
          </a:p>
          <a:p xmlns:a="http://schemas.openxmlformats.org/drawingml/2006/main">
            <a:r>
              <a:t>SOURCE</a:t>
            </a:r>
          </a:p>
          <a:p xmlns:a="http://schemas.openxmlformats.org/drawingml/2006/main">
            <a:r>
              <a:t>Notebook §2; R/02-trees-and-evaluation.R; figures/02-complexity.png.</a:t>
            </a:r>
          </a:p>
          <a:p xmlns:a="http://schemas.openxmlformats.org/drawingml/2006/main">
            <a:r>
              <a:t/>
            </a:r>
          </a:p>
          <a:p xmlns:a="http://schemas.openxmlformats.org/drawingml/2006/main">
            <a:r>
              <a:t>SUGGESTED TIME</a:t>
            </a:r>
          </a:p>
          <a:p xmlns:a="http://schemas.openxmlformats.org/drawingml/2006/main">
            <a:r>
              <a:t>39–50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 unit combines inputs with learned weights. A hidden layer sits between inputs and output. ReLU is an activation that keeps positive values and sets negative values to zero, allowing nonlinear patterns. Sigmoid converts the final signal into a probability between zero and one. This is a conceptual diagram, not an observed result.</a:t>
            </a:r>
          </a:p>
          <a:p xmlns:a="http://schemas.openxmlformats.org/drawingml/2006/main">
            <a:r>
              <a:t/>
            </a:r>
          </a:p>
          <a:p xmlns:a="http://schemas.openxmlformats.org/drawingml/2006/main">
            <a:r>
              <a:t>DEMONSTRATION / QUESTION</a:t>
            </a:r>
          </a:p>
          <a:p xmlns:a="http://schemas.openxmlformats.org/drawingml/2006/main">
            <a:r>
              <a:t>Read the layer_dense calls together. Use saved results today; full training needs a configured Python/Keras backend.</a:t>
            </a:r>
          </a:p>
          <a:p xmlns:a="http://schemas.openxmlformats.org/drawingml/2006/main">
            <a:r>
              <a:t/>
            </a:r>
          </a:p>
          <a:p xmlns:a="http://schemas.openxmlformats.org/drawingml/2006/main">
            <a:r>
              <a:t>TRANSITION</a:t>
            </a:r>
          </a:p>
          <a:p xmlns:a="http://schemas.openxmlformats.org/drawingml/2006/main">
            <a:r>
              <a:t>Count the inputs separately from the original variables.</a:t>
            </a:r>
          </a:p>
          <a:p xmlns:a="http://schemas.openxmlformats.org/drawingml/2006/main">
            <a:r>
              <a:t/>
            </a:r>
          </a:p>
          <a:p xmlns:a="http://schemas.openxmlformats.org/drawingml/2006/main">
            <a:r>
              <a:t>SOURCE</a:t>
            </a:r>
          </a:p>
          <a:p xmlns:a="http://schemas.openxmlformats.org/drawingml/2006/main">
            <a:r>
              <a:t>Notebook §3; R/03-neural-network.R.</a:t>
            </a:r>
          </a:p>
          <a:p xmlns:a="http://schemas.openxmlformats.org/drawingml/2006/main">
            <a:r>
              <a:t/>
            </a:r>
          </a:p>
          <a:p xmlns:a="http://schemas.openxmlformats.org/drawingml/2006/main">
            <a:r>
              <a:t>SUGGESTED TIME</a:t>
            </a:r>
          </a:p>
          <a:p xmlns:a="http://schemas.openxmlformats.org/drawingml/2006/main">
            <a:r>
              <a:t>50–55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Six numeric predictors remain numeric, three binary predictors become 0/1, and four other categorical predictors expand into 13 indicator columns. This gives 22 inputs from 13 original predictors. Both hidden layers use dropout 0.4 during training. Numeric scaling estimates its centre and spread from inner training rows only, excluding validation and test rows. Do not treat scaling or this encoding as a published detail.</a:t>
            </a:r>
          </a:p>
          <a:p xmlns:a="http://schemas.openxmlformats.org/drawingml/2006/main">
            <a:r>
              <a:t/>
            </a:r>
          </a:p>
          <a:p xmlns:a="http://schemas.openxmlformats.org/drawingml/2006/main">
            <a:r>
              <a:t>DEMONSTRATION / QUESTION</a:t>
            </a:r>
          </a:p>
          <a:p xmlns:a="http://schemas.openxmlformats.org/drawingml/2006/main">
            <a:r>
              <a:t>Inspect ncol(x), stopifnot(ncol(x) == 22L), and the network definition.</a:t>
            </a:r>
          </a:p>
          <a:p xmlns:a="http://schemas.openxmlformats.org/drawingml/2006/main">
            <a:r>
              <a:t/>
            </a:r>
          </a:p>
          <a:p xmlns:a="http://schemas.openxmlformats.org/drawingml/2006/main">
            <a:r>
              <a:t>TRANSITION</a:t>
            </a:r>
          </a:p>
          <a:p xmlns:a="http://schemas.openxmlformats.org/drawingml/2006/main">
            <a:r>
              <a:t>Training and validation losses show different aspects of learning.</a:t>
            </a:r>
          </a:p>
          <a:p xmlns:a="http://schemas.openxmlformats.org/drawingml/2006/main">
            <a:r>
              <a:t/>
            </a:r>
          </a:p>
          <a:p xmlns:a="http://schemas.openxmlformats.org/drawingml/2006/main">
            <a:r>
              <a:t>SOURCE</a:t>
            </a:r>
          </a:p>
          <a:p xmlns:a="http://schemas.openxmlformats.org/drawingml/2006/main">
            <a:r>
              <a:t>R/03-neural-network.R; data/README.md; replication-notes.md.</a:t>
            </a:r>
          </a:p>
          <a:p xmlns:a="http://schemas.openxmlformats.org/drawingml/2006/main">
            <a:r>
              <a:t/>
            </a:r>
          </a:p>
          <a:p xmlns:a="http://schemas.openxmlformats.org/drawingml/2006/main">
            <a:r>
              <a:t>SUGGESTED TIME</a:t>
            </a:r>
          </a:p>
          <a:p xmlns:a="http://schemas.openxmlformats.org/drawingml/2006/main">
            <a:r>
              <a:t>55–61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Loss here is binary cross-entropy: it penalises incorrect probabilities, especially confident errors. An epoch is one pass through training data. The supplied run allowed 50 epochs, batch size 32, Adam rate 0.002, validation_split 0.2 and patience 10. Of 180 training rows, 144 fit weights and 36 monitor validation. It stopped after 27 epochs; saved test accuracy is 77/90 = 0.8556. This is local replication, not the article result or a guarantee. Do not rank it against a forest from one score.</a:t>
            </a:r>
          </a:p>
          <a:p xmlns:a="http://schemas.openxmlformats.org/drawingml/2006/main">
            <a:r>
              <a:t/>
            </a:r>
          </a:p>
          <a:p xmlns:a="http://schemas.openxmlformats.org/drawingml/2006/main">
            <a:r>
              <a:t>DEMONSTRATION / QUESTION</a:t>
            </a:r>
          </a:p>
          <a:p xmlns:a="http://schemas.openxmlformats.org/drawingml/2006/main">
            <a:r>
              <a:t>Inspect the saved curve, then discuss overfitting and patience. Training remains optional.</a:t>
            </a:r>
          </a:p>
          <a:p xmlns:a="http://schemas.openxmlformats.org/drawingml/2006/main">
            <a:r>
              <a:t/>
            </a:r>
          </a:p>
          <a:p xmlns:a="http://schemas.openxmlformats.org/drawingml/2006/main">
            <a:r>
              <a:t>TRANSITION</a:t>
            </a:r>
          </a:p>
          <a:p xmlns:a="http://schemas.openxmlformats.org/drawingml/2006/main">
            <a:r>
              <a:t>Keep fitting and final evaluation separate.</a:t>
            </a:r>
          </a:p>
          <a:p xmlns:a="http://schemas.openxmlformats.org/drawingml/2006/main">
            <a:r>
              <a:t/>
            </a:r>
          </a:p>
          <a:p xmlns:a="http://schemas.openxmlformats.org/drawingml/2006/main">
            <a:r>
              <a:t>SOURCE</a:t>
            </a:r>
          </a:p>
          <a:p xmlns:a="http://schemas.openxmlformats.org/drawingml/2006/main">
            <a:r>
              <a:t>Notebook §3; R/03-neural-network.R; outputs/neural-loss.csv, neural-accuracy.csv, neural-predictions.csv.</a:t>
            </a:r>
          </a:p>
          <a:p xmlns:a="http://schemas.openxmlformats.org/drawingml/2006/main">
            <a:r>
              <a:t/>
            </a:r>
          </a:p>
          <a:p xmlns:a="http://schemas.openxmlformats.org/drawingml/2006/main">
            <a:r>
              <a:t>SUGGESTED TIME</a:t>
            </a:r>
          </a:p>
          <a:p xmlns:a="http://schemas.openxmlformats.org/drawingml/2006/main">
            <a:r>
              <a:t>61–70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supplied probability-producing forest trains on split$train and predicts split$test. A holdout is a reserved sample for evaluation. The seed is 20261023. The split is disjoint and covers all 270 rows. This main forest uses the learner default; later resampling uses 100 trees. Do not substitute the separate 100-tree AUC output for the main forest.</a:t>
            </a:r>
          </a:p>
          <a:p xmlns:a="http://schemas.openxmlformats.org/drawingml/2006/main">
            <a:r>
              <a:t/>
            </a:r>
          </a:p>
          <a:p xmlns:a="http://schemas.openxmlformats.org/drawingml/2006/main">
            <a:r>
              <a:t>DEMONSTRATION / QUESTION</a:t>
            </a:r>
          </a:p>
          <a:p xmlns:a="http://schemas.openxmlformats.org/drawingml/2006/main">
            <a:r>
              <a:t>Run the article-evaluation block up to forest_pred, then inspect the split lengths. Allow 7 minutes practice.</a:t>
            </a:r>
          </a:p>
          <a:p xmlns:a="http://schemas.openxmlformats.org/drawingml/2006/main">
            <a:r>
              <a:t/>
            </a:r>
          </a:p>
          <a:p xmlns:a="http://schemas.openxmlformats.org/drawingml/2006/main">
            <a:r>
              <a:t>TRANSITION</a:t>
            </a:r>
          </a:p>
          <a:p xmlns:a="http://schemas.openxmlformats.org/drawingml/2006/main">
            <a:r>
              <a:t>A confusion matrix records the kinds of error at a chosen threshold.</a:t>
            </a:r>
          </a:p>
          <a:p xmlns:a="http://schemas.openxmlformats.org/drawingml/2006/main">
            <a:r>
              <a:t/>
            </a:r>
          </a:p>
          <a:p xmlns:a="http://schemas.openxmlformats.org/drawingml/2006/main">
            <a:r>
              <a:t>SOURCE</a:t>
            </a:r>
          </a:p>
          <a:p xmlns:a="http://schemas.openxmlformats.org/drawingml/2006/main">
            <a:r>
              <a:t>Notebook §4; R/02-trees-and-evaluation.R, article-evaluation; outputs/split.csv.</a:t>
            </a:r>
          </a:p>
          <a:p xmlns:a="http://schemas.openxmlformats.org/drawingml/2006/main">
            <a:r>
              <a:t/>
            </a:r>
          </a:p>
          <a:p xmlns:a="http://schemas.openxmlformats.org/drawingml/2006/main">
            <a:r>
              <a:t>SUGGESTED TIME</a:t>
            </a:r>
          </a:p>
          <a:p xmlns:a="http://schemas.openxmlformats.org/drawingml/2006/main">
            <a:r>
              <a:t>70–79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Rows are observed outcomes, columns are predictions. The CSV stores response, truth and Freq, so explicitly orient the displayed table. A false negative predicts absent when the observed outcome is present. Clinical consequences depend on the intended pathway and need separate investigation. Counts total 90: 37 observed present and 53 absent, 38 predicted present and 52 absent. These are local holdout results.</a:t>
            </a:r>
          </a:p>
          <a:p xmlns:a="http://schemas.openxmlformats.org/drawingml/2006/main">
            <a:r>
              <a:t/>
            </a:r>
          </a:p>
          <a:p xmlns:a="http://schemas.openxmlformats.org/drawingml/2006/main">
            <a:r>
              <a:t>DEMONSTRATION / QUESTION</a:t>
            </a:r>
          </a:p>
          <a:p xmlns:a="http://schemas.openxmlformats.org/drawingml/2006/main">
            <a:r>
              <a:t>Ask participants to point to the seven missed positives and calculate the total correct.</a:t>
            </a:r>
          </a:p>
          <a:p xmlns:a="http://schemas.openxmlformats.org/drawingml/2006/main">
            <a:r>
              <a:t/>
            </a:r>
          </a:p>
          <a:p xmlns:a="http://schemas.openxmlformats.org/drawingml/2006/main">
            <a:r>
              <a:t>TRANSITION</a:t>
            </a:r>
          </a:p>
          <a:p xmlns:a="http://schemas.openxmlformats.org/drawingml/2006/main">
            <a:r>
              <a:t>Each metric answers a different question about these counts.</a:t>
            </a:r>
          </a:p>
          <a:p xmlns:a="http://schemas.openxmlformats.org/drawingml/2006/main">
            <a:r>
              <a:t/>
            </a:r>
          </a:p>
          <a:p xmlns:a="http://schemas.openxmlformats.org/drawingml/2006/main">
            <a:r>
              <a:t>SOURCE</a:t>
            </a:r>
          </a:p>
          <a:p xmlns:a="http://schemas.openxmlformats.org/drawingml/2006/main">
            <a:r>
              <a:t>Notebook §4; outputs/confusion.csv; R/02-trees-and-evaluation.R.</a:t>
            </a:r>
          </a:p>
          <a:p xmlns:a="http://schemas.openxmlformats.org/drawingml/2006/main">
            <a:r>
              <a:t/>
            </a:r>
          </a:p>
          <a:p xmlns:a="http://schemas.openxmlformats.org/drawingml/2006/main">
            <a:r>
              <a:t>SUGGESTED TIME</a:t>
            </a:r>
          </a:p>
          <a:p xmlns:a="http://schemas.openxmlformats.org/drawingml/2006/main">
            <a:r>
              <a:t>79–87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Sensitivity measures detection of present disease; specificity measures correct rejection of absent disease. PPV is also called precision. NPV asks how often a negative prediction is correct. Accuracy gives equal count to all correct classifications and can hide error types. Round the saved values to one decimal percent; these are the same holdout predictions and threshold as the confusion matrix.</a:t>
            </a:r>
          </a:p>
          <a:p xmlns:a="http://schemas.openxmlformats.org/drawingml/2006/main">
            <a:r>
              <a:t/>
            </a:r>
          </a:p>
          <a:p xmlns:a="http://schemas.openxmlformats.org/drawingml/2006/main">
            <a:r>
              <a:t>DEMONSTRATION / QUESTION</a:t>
            </a:r>
          </a:p>
          <a:p xmlns:a="http://schemas.openxmlformats.org/drawingml/2006/main">
            <a:r>
              <a:t>Calculate one fraction in R. Ask which denominator changes for PPV versus sensitivity.</a:t>
            </a:r>
          </a:p>
          <a:p xmlns:a="http://schemas.openxmlformats.org/drawingml/2006/main">
            <a:r>
              <a:t/>
            </a:r>
          </a:p>
          <a:p xmlns:a="http://schemas.openxmlformats.org/drawingml/2006/main">
            <a:r>
              <a:t>TRANSITION</a:t>
            </a:r>
          </a:p>
          <a:p xmlns:a="http://schemas.openxmlformats.org/drawingml/2006/main">
            <a:r>
              <a:t>Probability scores can also be evaluated across thresholds.</a:t>
            </a:r>
          </a:p>
          <a:p xmlns:a="http://schemas.openxmlformats.org/drawingml/2006/main">
            <a:r>
              <a:t/>
            </a:r>
          </a:p>
          <a:p xmlns:a="http://schemas.openxmlformats.org/drawingml/2006/main">
            <a:r>
              <a:t>SOURCE</a:t>
            </a:r>
          </a:p>
          <a:p xmlns:a="http://schemas.openxmlformats.org/drawingml/2006/main">
            <a:r>
              <a:t>outputs/holdout-measures.csv; outputs/confusion.csv; notebook §4.</a:t>
            </a:r>
          </a:p>
          <a:p xmlns:a="http://schemas.openxmlformats.org/drawingml/2006/main">
            <a:r>
              <a:t/>
            </a:r>
          </a:p>
          <a:p xmlns:a="http://schemas.openxmlformats.org/drawingml/2006/main">
            <a:r>
              <a:t>SUGGESTED TIME</a:t>
            </a:r>
          </a:p>
          <a:p xmlns:a="http://schemas.openxmlformats.org/drawingml/2006/main">
            <a:r>
              <a:t>87–95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At each threshold ROC shows true-positive rate against false-positive rate. AUC, area under this curve, summarises how well scores rank a positive above a negative, with ties counted half. We display the saved main-forest ROC without borrowing the AUC from the separate 100-tree experiment. Curves on only 90 patients have sampling uncertainty.</a:t>
            </a:r>
          </a:p>
          <a:p xmlns:a="http://schemas.openxmlformats.org/drawingml/2006/main">
            <a:r>
              <a:t/>
            </a:r>
          </a:p>
          <a:p xmlns:a="http://schemas.openxmlformats.org/drawingml/2006/main">
            <a:r>
              <a:t>DEMONSTRATION / QUESTION</a:t>
            </a:r>
          </a:p>
          <a:p xmlns:a="http://schemas.openxmlformats.org/drawingml/2006/main">
            <a:r>
              <a:t>Inspect autoplot(forest_pred, type = "roc"). Ask why a curve contains many operating points.</a:t>
            </a:r>
          </a:p>
          <a:p xmlns:a="http://schemas.openxmlformats.org/drawingml/2006/main">
            <a:r>
              <a:t/>
            </a:r>
          </a:p>
          <a:p xmlns:a="http://schemas.openxmlformats.org/drawingml/2006/main">
            <a:r>
              <a:t>TRANSITION</a:t>
            </a:r>
          </a:p>
          <a:p xmlns:a="http://schemas.openxmlformats.org/drawingml/2006/main">
            <a:r>
              <a:t>Precision–recall focuses attention on positive predictions.</a:t>
            </a:r>
          </a:p>
          <a:p xmlns:a="http://schemas.openxmlformats.org/drawingml/2006/main">
            <a:r>
              <a:t/>
            </a:r>
          </a:p>
          <a:p xmlns:a="http://schemas.openxmlformats.org/drawingml/2006/main">
            <a:r>
              <a:t>SOURCE</a:t>
            </a:r>
          </a:p>
          <a:p xmlns:a="http://schemas.openxmlformats.org/drawingml/2006/main">
            <a:r>
              <a:t>Notebook §4; figures/04-roc.png; R/02-trees-and-evaluation.R.</a:t>
            </a:r>
          </a:p>
          <a:p xmlns:a="http://schemas.openxmlformats.org/drawingml/2006/main">
            <a:r>
              <a:t/>
            </a:r>
          </a:p>
          <a:p xmlns:a="http://schemas.openxmlformats.org/drawingml/2006/main">
            <a:r>
              <a:t>SUGGESTED TIME</a:t>
            </a:r>
          </a:p>
          <a:p xmlns:a="http://schemas.openxmlformats.org/drawingml/2006/main">
            <a:r>
              <a:t>95–100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Recall asks what fraction of actual positives we detect. Precision asks what fraction of predicted positives really have present disease. Read several points as thresholds change. Neither curve measures causal effects, calibration or clinical benefit. Avoid comparing precision across datasets without considering prevalence.</a:t>
            </a:r>
          </a:p>
          <a:p xmlns:a="http://schemas.openxmlformats.org/drawingml/2006/main">
            <a:r>
              <a:t/>
            </a:r>
          </a:p>
          <a:p xmlns:a="http://schemas.openxmlformats.org/drawingml/2006/main">
            <a:r>
              <a:t>DEMONSTRATION / QUESTION</a:t>
            </a:r>
          </a:p>
          <a:p xmlns:a="http://schemas.openxmlformats.org/drawingml/2006/main">
            <a:r>
              <a:t>Ask participants to restate precision in patient terms.</a:t>
            </a:r>
          </a:p>
          <a:p xmlns:a="http://schemas.openxmlformats.org/drawingml/2006/main">
            <a:r>
              <a:t/>
            </a:r>
          </a:p>
          <a:p xmlns:a="http://schemas.openxmlformats.org/drawingml/2006/main">
            <a:r>
              <a:t>TRANSITION</a:t>
            </a:r>
          </a:p>
          <a:p xmlns:a="http://schemas.openxmlformats.org/drawingml/2006/main">
            <a:r>
              <a:t>Choose an operating threshold with explicit error consequences.</a:t>
            </a:r>
          </a:p>
          <a:p xmlns:a="http://schemas.openxmlformats.org/drawingml/2006/main">
            <a:r>
              <a:t/>
            </a:r>
          </a:p>
          <a:p xmlns:a="http://schemas.openxmlformats.org/drawingml/2006/main">
            <a:r>
              <a:t>SOURCE</a:t>
            </a:r>
          </a:p>
          <a:p xmlns:a="http://schemas.openxmlformats.org/drawingml/2006/main">
            <a:r>
              <a:t>Notebook §4; figures/04-prc.png; outputs/holdout-measures.csv.</a:t>
            </a:r>
          </a:p>
          <a:p xmlns:a="http://schemas.openxmlformats.org/drawingml/2006/main">
            <a:r>
              <a:t/>
            </a:r>
          </a:p>
          <a:p xmlns:a="http://schemas.openxmlformats.org/drawingml/2006/main">
            <a:r>
              <a:t>SUGGESTED TIME</a:t>
            </a:r>
          </a:p>
          <a:p xmlns:a="http://schemas.openxmlformats.org/drawingml/2006/main">
            <a:r>
              <a:t>100–104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saved plot shows classification error across thresholds, not separate sensitivity and specificity curves. Lowering the threshold labels more patients present, so sensitivity cannot decrease and specificity cannot increase on fixed scores. Error rate alone weighs the two mistakes equally. Use validation/training data and intended consequences to select a threshold, then assess it on untouched data. Exploring this test plot is educational; selecting from it would require new independent evaluation.</a:t>
            </a:r>
          </a:p>
          <a:p xmlns:a="http://schemas.openxmlformats.org/drawingml/2006/main">
            <a:r>
              <a:t/>
            </a:r>
          </a:p>
          <a:p xmlns:a="http://schemas.openxmlformats.org/drawingml/2006/main">
            <a:r>
              <a:t>DEMONSTRATION / QUESTION</a:t>
            </a:r>
          </a:p>
          <a:p xmlns:a="http://schemas.openxmlformats.org/drawingml/2006/main">
            <a:r>
              <a:t>Discuss a lower threshold without claiming an optimal value. Give participants time to explain the tradeoff.</a:t>
            </a:r>
          </a:p>
          <a:p xmlns:a="http://schemas.openxmlformats.org/drawingml/2006/main">
            <a:r>
              <a:t/>
            </a:r>
          </a:p>
          <a:p xmlns:a="http://schemas.openxmlformats.org/drawingml/2006/main">
            <a:r>
              <a:t>TRANSITION</a:t>
            </a:r>
          </a:p>
          <a:p xmlns:a="http://schemas.openxmlformats.org/drawingml/2006/main">
            <a:r>
              <a:t>Return to the complete workflow and its limits.</a:t>
            </a:r>
          </a:p>
          <a:p xmlns:a="http://schemas.openxmlformats.org/drawingml/2006/main">
            <a:r>
              <a:t/>
            </a:r>
          </a:p>
          <a:p xmlns:a="http://schemas.openxmlformats.org/drawingml/2006/main">
            <a:r>
              <a:t>SOURCE</a:t>
            </a:r>
          </a:p>
          <a:p xmlns:a="http://schemas.openxmlformats.org/drawingml/2006/main">
            <a:r>
              <a:t>Notebook §4; figures/04-threshold.png; R/02-trees-and-evaluation.R.</a:t>
            </a:r>
          </a:p>
          <a:p xmlns:a="http://schemas.openxmlformats.org/drawingml/2006/main">
            <a:r>
              <a:t/>
            </a:r>
          </a:p>
          <a:p xmlns:a="http://schemas.openxmlformats.org/drawingml/2006/main">
            <a:r>
              <a:t>SUGGESTED TIME</a:t>
            </a:r>
          </a:p>
          <a:p xmlns:a="http://schemas.openxmlformats.org/drawingml/2006/main">
            <a:r>
              <a:t>104–110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Summarise the distinction between the all-row tree fitting demonstration, network training/validation and forest holdout evaluation. Do not rank models using isolated scores with differing conditions. The dataset is small, external validity is untested and the clinical setting needs separate validation. Appendix topics are optional.</a:t>
            </a:r>
          </a:p>
          <a:p xmlns:a="http://schemas.openxmlformats.org/drawingml/2006/main">
            <a:r>
              <a:t/>
            </a:r>
          </a:p>
          <a:p xmlns:a="http://schemas.openxmlformats.org/drawingml/2006/main">
            <a:r>
              <a:t>DEMONSTRATION / QUESTION</a:t>
            </a:r>
          </a:p>
          <a:p xmlns:a="http://schemas.openxmlformats.org/drawingml/2006/main">
            <a:r>
              <a:t>Ask: what evidence would you need before using this model in a different population? Reserve 10 minutes discussion.</a:t>
            </a:r>
          </a:p>
          <a:p xmlns:a="http://schemas.openxmlformats.org/drawingml/2006/main">
            <a:r>
              <a:t/>
            </a:r>
          </a:p>
          <a:p xmlns:a="http://schemas.openxmlformats.org/drawingml/2006/main">
            <a:r>
              <a:t>TRANSITION</a:t>
            </a:r>
          </a:p>
          <a:p xmlns:a="http://schemas.openxmlformats.org/drawingml/2006/main">
            <a:r>
              <a:t>Invite final questions, then point to optional extensions.</a:t>
            </a:r>
          </a:p>
          <a:p xmlns:a="http://schemas.openxmlformats.org/drawingml/2006/main">
            <a:r>
              <a:t/>
            </a:r>
          </a:p>
          <a:p xmlns:a="http://schemas.openxmlformats.org/drawingml/2006/main">
            <a:r>
              <a:t>SOURCE</a:t>
            </a:r>
          </a:p>
          <a:p xmlns:a="http://schemas.openxmlformats.org/drawingml/2006/main">
            <a:r>
              <a:t>Notebook §§1–4 and Reproducibility; outputs/VALIDATION.md.</a:t>
            </a:r>
          </a:p>
          <a:p xmlns:a="http://schemas.openxmlformats.org/drawingml/2006/main">
            <a:r>
              <a:t/>
            </a:r>
          </a:p>
          <a:p xmlns:a="http://schemas.openxmlformats.org/drawingml/2006/main">
            <a:r>
              <a:t>SUGGESTED TIME</a:t>
            </a:r>
          </a:p>
          <a:p xmlns:a="http://schemas.openxmlformats.org/drawingml/2006/main">
            <a:r>
              <a:t>110–120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Resampling estimates variation across data partitions. The supplied extension uses a 100-tree forest. Bootstrap samples repeat some training patients; evaluation uses observations kept out according to the resampling design. Keep dependent patients, places or times together if the setting requires it.</a:t>
            </a:r>
          </a:p>
          <a:p xmlns:a="http://schemas.openxmlformats.org/drawingml/2006/main">
            <a:r>
              <a:t/>
            </a:r>
          </a:p>
          <a:p xmlns:a="http://schemas.openxmlformats.org/drawingml/2006/main">
            <a:r>
              <a:t>DEMONSTRATION / QUESTION</a:t>
            </a:r>
          </a:p>
          <a:p xmlns:a="http://schemas.openxmlformats.org/drawingml/2006/main">
            <a:r>
              <a:t>Optional: inspect the three resampling objects.</a:t>
            </a:r>
          </a:p>
          <a:p xmlns:a="http://schemas.openxmlformats.org/drawingml/2006/main">
            <a:r>
              <a:t/>
            </a:r>
          </a:p>
          <a:p xmlns:a="http://schemas.openxmlformats.org/drawingml/2006/main">
            <a:r>
              <a:t>TRANSITION</a:t>
            </a:r>
          </a:p>
          <a:p xmlns:a="http://schemas.openxmlformats.org/drawingml/2006/main">
            <a:r>
              <a:t>Tuning adds a selection step within training data.</a:t>
            </a:r>
          </a:p>
          <a:p xmlns:a="http://schemas.openxmlformats.org/drawingml/2006/main">
            <a:r>
              <a:t/>
            </a:r>
          </a:p>
          <a:p xmlns:a="http://schemas.openxmlformats.org/drawingml/2006/main">
            <a:r>
              <a:t>SOURCE</a:t>
            </a:r>
          </a:p>
          <a:p xmlns:a="http://schemas.openxmlformats.org/drawingml/2006/main">
            <a:r>
              <a:t>Notebook §5; R/02-trees-and-evaluation.R, article-resampling; outputs/resampling-summary.csv and cv3.csv.</a:t>
            </a:r>
          </a:p>
          <a:p xmlns:a="http://schemas.openxmlformats.org/drawingml/2006/main">
            <a:r>
              <a:t/>
            </a:r>
          </a:p>
          <a:p xmlns:a="http://schemas.openxmlformats.org/drawingml/2006/main">
            <a:r>
              <a:t>SUGGESTED TIME</a:t>
            </a:r>
          </a:p>
          <a:p xmlns:a="http://schemas.openxmlformats.org/drawingml/2006/main">
            <a:r>
              <a:t>Follow-up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Random search completed 500 configurations and Bayesian tuning 30, each with ten-fold inner CV. A smoke run is a small execution check, not the requested full analysis. The resolution-10 grid can reach 10,000 configurations. Full nested CV specifies 10 outer and 10 inner folds and 100 evaluations per inner search. The nested script uses outer folds for evaluation; in ordinary search modes the fixed test set remains outside selection.</a:t>
            </a:r>
          </a:p>
          <a:p xmlns:a="http://schemas.openxmlformats.org/drawingml/2006/main">
            <a:r>
              <a:t/>
            </a:r>
          </a:p>
          <a:p xmlns:a="http://schemas.openxmlformats.org/drawingml/2006/main">
            <a:r>
              <a:t>DEMONSTRATION / QUESTION</a:t>
            </a:r>
          </a:p>
          <a:p xmlns:a="http://schemas.openxmlformats.org/drawingml/2006/main">
            <a:r>
              <a:t>Optional: trace train_task and compare nested versus ordinary search branches.</a:t>
            </a:r>
          </a:p>
          <a:p xmlns:a="http://schemas.openxmlformats.org/drawingml/2006/main">
            <a:r>
              <a:t/>
            </a:r>
          </a:p>
          <a:p xmlns:a="http://schemas.openxmlformats.org/drawingml/2006/main">
            <a:r>
              <a:t>TRANSITION</a:t>
            </a:r>
          </a:p>
          <a:p xmlns:a="http://schemas.openxmlformats.org/drawingml/2006/main">
            <a:r>
              <a:t>Interpretation asks what a fitted model has learned.</a:t>
            </a:r>
          </a:p>
          <a:p xmlns:a="http://schemas.openxmlformats.org/drawingml/2006/main">
            <a:r>
              <a:t/>
            </a:r>
          </a:p>
          <a:p xmlns:a="http://schemas.openxmlformats.org/drawingml/2006/main">
            <a:r>
              <a:t>SOURCE</a:t>
            </a:r>
          </a:p>
          <a:p xmlns:a="http://schemas.openxmlformats.org/drawingml/2006/main">
            <a:r>
              <a:t>Notebook §6; R/04-tuning.R; outputs/VALIDATION.md.</a:t>
            </a:r>
          </a:p>
          <a:p xmlns:a="http://schemas.openxmlformats.org/drawingml/2006/main">
            <a:r>
              <a:t/>
            </a:r>
          </a:p>
          <a:p xmlns:a="http://schemas.openxmlformats.org/drawingml/2006/main">
            <a:r>
              <a:t>SUGGESTED TIME</a:t>
            </a:r>
          </a:p>
          <a:p xmlns:a="http://schemas.openxmlformats.org/drawingml/2006/main">
            <a:r>
              <a:t>Follow-up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Predictive associations do not establish intervention effects. Correlated features may share or mask importance. Effects can extrapolate into implausible combinations and local explanations depend on method and reference choice. No executable iml example appears in the supplied paper record, and this workshop section remains conceptual.</a:t>
            </a:r>
          </a:p>
          <a:p xmlns:a="http://schemas.openxmlformats.org/drawingml/2006/main">
            <a:r>
              <a:t/>
            </a:r>
          </a:p>
          <a:p xmlns:a="http://schemas.openxmlformats.org/drawingml/2006/main">
            <a:r>
              <a:t>DEMONSTRATION / QUESTION</a:t>
            </a:r>
          </a:p>
          <a:p xmlns:a="http://schemas.openxmlformats.org/drawingml/2006/main">
            <a:r>
              <a:t>Optional: ask what an explanation can and cannot tell us about causation.</a:t>
            </a:r>
          </a:p>
          <a:p xmlns:a="http://schemas.openxmlformats.org/drawingml/2006/main">
            <a:r>
              <a:t/>
            </a:r>
          </a:p>
          <a:p xmlns:a="http://schemas.openxmlformats.org/drawingml/2006/main">
            <a:r>
              <a:t>TRANSITION</a:t>
            </a:r>
          </a:p>
          <a:p xmlns:a="http://schemas.openxmlformats.org/drawingml/2006/main">
            <a:r>
              <a:t>Generated observations need their own interpretation.</a:t>
            </a:r>
          </a:p>
          <a:p xmlns:a="http://schemas.openxmlformats.org/drawingml/2006/main">
            <a:r>
              <a:t/>
            </a:r>
          </a:p>
          <a:p xmlns:a="http://schemas.openxmlformats.org/drawingml/2006/main">
            <a:r>
              <a:t>SOURCE</a:t>
            </a:r>
          </a:p>
          <a:p xmlns:a="http://schemas.openxmlformats.org/drawingml/2006/main">
            <a:r>
              <a:t>Notebook §7; replication-notes.md, article §5 status.</a:t>
            </a:r>
          </a:p>
          <a:p xmlns:a="http://schemas.openxmlformats.org/drawingml/2006/main">
            <a:r>
              <a:t/>
            </a:r>
          </a:p>
          <a:p xmlns:a="http://schemas.openxmlformats.org/drawingml/2006/main">
            <a:r>
              <a:t>SUGGESTED TIME</a:t>
            </a:r>
          </a:p>
          <a:p xmlns:a="http://schemas.openxmlformats.org/drawingml/2006/main">
            <a:r>
              <a:t>Follow-up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ARF means adversarial random forest. FORDE estimates a probability distribution from the fitted forest and FORGE samples from it. The saved output contains 270 synthetic rows. Synthetic generation does not increase the number of independent observed patients, guarantee privacy or establish clinical validity.</a:t>
            </a:r>
          </a:p>
          <a:p xmlns:a="http://schemas.openxmlformats.org/drawingml/2006/main">
            <a:r>
              <a:t/>
            </a:r>
          </a:p>
          <a:p xmlns:a="http://schemas.openxmlformats.org/drawingml/2006/main">
            <a:r>
              <a:t>DEMONSTRATION / QUESTION</a:t>
            </a:r>
          </a:p>
          <a:p xmlns:a="http://schemas.openxmlformats.org/drawingml/2006/main">
            <a:r>
              <a:t>Optional: inspect the synthetic file separately and retain its label.</a:t>
            </a:r>
          </a:p>
          <a:p xmlns:a="http://schemas.openxmlformats.org/drawingml/2006/main">
            <a:r>
              <a:t/>
            </a:r>
          </a:p>
          <a:p xmlns:a="http://schemas.openxmlformats.org/drawingml/2006/main">
            <a:r>
              <a:t>TRANSITION</a:t>
            </a:r>
          </a:p>
          <a:p xmlns:a="http://schemas.openxmlformats.org/drawingml/2006/main">
            <a:r>
              <a:t>Close with the sources and reproducible record.</a:t>
            </a:r>
          </a:p>
          <a:p xmlns:a="http://schemas.openxmlformats.org/drawingml/2006/main">
            <a:r>
              <a:t/>
            </a:r>
          </a:p>
          <a:p xmlns:a="http://schemas.openxmlformats.org/drawingml/2006/main">
            <a:r>
              <a:t>SOURCE</a:t>
            </a:r>
          </a:p>
          <a:p xmlns:a="http://schemas.openxmlformats.org/drawingml/2006/main">
            <a:r>
              <a:t>Notebook §8; R/05-synthetic-data.R; outputs/synthetic-heart.csv; outputs/VALIDATION.md.</a:t>
            </a:r>
          </a:p>
          <a:p xmlns:a="http://schemas.openxmlformats.org/drawingml/2006/main">
            <a:r>
              <a:t/>
            </a:r>
          </a:p>
          <a:p xmlns:a="http://schemas.openxmlformats.org/drawingml/2006/main">
            <a:r>
              <a:t>SUGGESTED TIME</a:t>
            </a:r>
          </a:p>
          <a:p xmlns:a="http://schemas.openxmlformats.org/drawingml/2006/main">
            <a:r>
              <a:t>Follow-up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Article settings and locally observed results are different evidence categories. Source links: https://arxiv.org/html/2602.16352v1 and https://www.openml.org/d/53. Reproducibility files save split membership, seeds and session information. The local encoding and scaling are explicit reconstructions. Main performance numbers are from supplied CSV files. No new full training, tuning or external validation was performed to make this deck.</a:t>
            </a:r>
          </a:p>
          <a:p xmlns:a="http://schemas.openxmlformats.org/drawingml/2006/main">
            <a:r>
              <a:t/>
            </a:r>
          </a:p>
          <a:p xmlns:a="http://schemas.openxmlformats.org/drawingml/2006/main">
            <a:r>
              <a:t>DEMONSTRATION / QUESTION</a:t>
            </a:r>
          </a:p>
          <a:p xmlns:a="http://schemas.openxmlformats.org/drawingml/2006/main">
            <a:r>
              <a:t>Point to SOURCE-AND-TEACHING-NOTES.md for exact file mapping and gaps.</a:t>
            </a:r>
          </a:p>
          <a:p xmlns:a="http://schemas.openxmlformats.org/drawingml/2006/main">
            <a:r>
              <a:t/>
            </a:r>
          </a:p>
          <a:p xmlns:a="http://schemas.openxmlformats.org/drawingml/2006/main">
            <a:r>
              <a:t>TRANSITION</a:t>
            </a:r>
          </a:p>
          <a:p xmlns:a="http://schemas.openxmlformats.org/drawingml/2006/main">
            <a:r>
              <a:t>End or return to participant questions.</a:t>
            </a:r>
          </a:p>
          <a:p xmlns:a="http://schemas.openxmlformats.org/drawingml/2006/main">
            <a:r>
              <a:t/>
            </a:r>
          </a:p>
          <a:p xmlns:a="http://schemas.openxmlformats.org/drawingml/2006/main">
            <a:r>
              <a:t>SOURCE</a:t>
            </a:r>
          </a:p>
          <a:p xmlns:a="http://schemas.openxmlformats.org/drawingml/2006/main">
            <a:r>
              <a:t>part2/ml-workflow-2.qmd; data/README.md; references/replication-notes.md; outputs/VALIDATION.md.</a:t>
            </a:r>
          </a:p>
          <a:p xmlns:a="http://schemas.openxmlformats.org/drawingml/2006/main">
            <a:r>
              <a:t/>
            </a:r>
          </a:p>
          <a:p xmlns:a="http://schemas.openxmlformats.org/drawingml/2006/main">
            <a:r>
              <a:t>SUGGESTED TIME</a:t>
            </a:r>
          </a:p>
          <a:p xmlns:a="http://schemas.openxmlformats.org/drawingml/2006/main">
            <a:r>
              <a:t>Follow-up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6f09afec0e4a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c6479adeb040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d990e0213b41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d4103411c547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6ce9737e6040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26c5244ebb43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F51708-FEB8-42EC-AA9B-28F2427BB22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ADDED4-CC8A-4295-A66F-AFA68CF2B71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3B4356-FFF0-45FD-9B9B-F2A6B296AC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ADC22F-9EF4-417D-8105-2CE7FAD7CD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A50CE0-8BD6-4186-B39F-323918CA91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E31DB3-5F5F-49A4-88FF-AEDCCBF7FC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03E3DD-8EEC-4C7E-B2A2-FB4AB7DAE5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28E68E-B8FD-44EC-9717-E73EF9DBB6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4811A8-8443-474F-9AAF-BBFD441672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1103B9-F68B-4C6D-93BF-BFD9F5587F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2a3c4f61954ed4" /><Relationship Type="http://schemas.openxmlformats.org/officeDocument/2006/relationships/slideLayout" Target="/ppt/slideLayouts/slideLayout1.xml" Id="Ra61cb29c8ccd44f2" /><Relationship Type="http://schemas.openxmlformats.org/officeDocument/2006/relationships/slideLayout" Target="/ppt/slideLayouts/slideLayout2.xml" Id="Rff4476f432be4561" /><Relationship Type="http://schemas.openxmlformats.org/officeDocument/2006/relationships/slideLayout" Target="/ppt/slideLayouts/slideLayout3.xml" Id="Raf1d7c55768140b2" /><Relationship Type="http://schemas.openxmlformats.org/officeDocument/2006/relationships/slideLayout" Target="/ppt/slideLayouts/slideLayout4.xml" Id="R26458f39c2814988" /><Relationship Type="http://schemas.openxmlformats.org/officeDocument/2006/relationships/slideLayout" Target="/ppt/slideLayouts/slideLayout5.xml" Id="R5d940a838ed5411b" /><Relationship Type="http://schemas.openxmlformats.org/officeDocument/2006/relationships/slideLayout" Target="/ppt/slideLayouts/slideLayout6.xml" Id="R12a746e2ddaf47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1cb29c8ccd44f2"/>
    <p:sldLayoutId xmlns:r="http://schemas.openxmlformats.org/officeDocument/2006/relationships" id="2147483650" r:id="Rff4476f432be4561"/>
    <p:sldLayoutId xmlns:r="http://schemas.openxmlformats.org/officeDocument/2006/relationships" id="2147483651" r:id="Raf1d7c55768140b2"/>
    <p:sldLayoutId xmlns:r="http://schemas.openxmlformats.org/officeDocument/2006/relationships" id="2147483652" r:id="R26458f39c2814988"/>
    <p:sldLayoutId xmlns:r="http://schemas.openxmlformats.org/officeDocument/2006/relationships" id="2147483653" r:id="R5d940a838ed5411b"/>
    <p:sldLayoutId xmlns:r="http://schemas.openxmlformats.org/officeDocument/2006/relationships" id="2147483654" r:id="R12a746e2ddaf47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9de53eb1c34612" /><Relationship Type="http://schemas.openxmlformats.org/officeDocument/2006/relationships/image" Target="/ppt/media/image.png" Id="R53075232f8934f4f" /><Relationship Type="http://schemas.openxmlformats.org/officeDocument/2006/relationships/notesSlide" Target="/ppt/notesSlides/notesSlide1.xml" Id="R9780f1fdb0bc49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f9cc011d0d4c97" /><Relationship Type="http://schemas.openxmlformats.org/officeDocument/2006/relationships/notesSlide" Target="/ppt/notesSlides/notesSlide2.xml" Id="R3cac361f1c184f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6b772a902a45ec" /><Relationship Type="http://schemas.openxmlformats.org/officeDocument/2006/relationships/notesSlide" Target="/ppt/notesSlides/notesSlide3.xml" Id="R998db62a7bf048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8875f612104e4f" /><Relationship Type="http://schemas.openxmlformats.org/officeDocument/2006/relationships/notesSlide" Target="/ppt/notesSlides/notesSlide4.xml" Id="Rc210c4ed647f4f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00ecb315c84a91" /><Relationship Type="http://schemas.openxmlformats.org/officeDocument/2006/relationships/notesSlide" Target="/ppt/notesSlides/notesSlide5.xml" Id="R839599b3aa1342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5010e2eb2e432e" /><Relationship Type="http://schemas.openxmlformats.org/officeDocument/2006/relationships/image" Target="/ppt/media/image2.png" Id="Rf23e226664104fdc" /><Relationship Type="http://schemas.openxmlformats.org/officeDocument/2006/relationships/notesSlide" Target="/ppt/notesSlides/notesSlide6.xml" Id="R50f83a1e25544e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445dc68544b4ce3" /><Relationship Type="http://schemas.openxmlformats.org/officeDocument/2006/relationships/image" Target="/ppt/media/image3.png" Id="R7ccb0f43fbc04348" /><Relationship Type="http://schemas.openxmlformats.org/officeDocument/2006/relationships/image" Target="/ppt/media/image4.png" Id="Rdadf4236132f4c3d" /><Relationship Type="http://schemas.openxmlformats.org/officeDocument/2006/relationships/notesSlide" Target="/ppt/notesSlides/notesSlide7.xml" Id="R82466fa50f324b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b8fb1f97d854c75" /><Relationship Type="http://schemas.openxmlformats.org/officeDocument/2006/relationships/image" Target="/ppt/media/image5.png" Id="R86c90772bf804efa" /><Relationship Type="http://schemas.openxmlformats.org/officeDocument/2006/relationships/notesSlide" Target="/ppt/notesSlides/notesSlide8.xml" Id="R33fa6f213eb643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44a7188bf74ff6" /><Relationship Type="http://schemas.openxmlformats.org/officeDocument/2006/relationships/notesSlide" Target="/ppt/notesSlides/notesSlide9.xml" Id="Re0631f5bc3de44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2c1c5afb646492d" /><Relationship Type="http://schemas.openxmlformats.org/officeDocument/2006/relationships/notesSlide" Target="/ppt/notesSlides/notesSlide10.xml" Id="Rb5e3dd0bffbe40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1b701ab2244b05" /><Relationship Type="http://schemas.openxmlformats.org/officeDocument/2006/relationships/image" Target="/ppt/media/image6.png" Id="Rd827f910c6cd463c" /><Relationship Type="http://schemas.openxmlformats.org/officeDocument/2006/relationships/notesSlide" Target="/ppt/notesSlides/notesSlide11.xml" Id="R1360b0492b9b49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9837d80080b4503" /><Relationship Type="http://schemas.openxmlformats.org/officeDocument/2006/relationships/notesSlide" Target="/ppt/notesSlides/notesSlide12.xml" Id="R62434d62c3864f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d3495fd18344648" /><Relationship Type="http://schemas.openxmlformats.org/officeDocument/2006/relationships/notesSlide" Target="/ppt/notesSlides/notesSlide13.xml" Id="Rea5766f6b03c44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62b67d3f0954190" /><Relationship Type="http://schemas.openxmlformats.org/officeDocument/2006/relationships/notesSlide" Target="/ppt/notesSlides/notesSlide14.xml" Id="R9354e171a2ad4d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1354b1bd1a745a6" /><Relationship Type="http://schemas.openxmlformats.org/officeDocument/2006/relationships/image" Target="/ppt/media/image7.png" Id="R4cac4b4c320145d8" /><Relationship Type="http://schemas.openxmlformats.org/officeDocument/2006/relationships/notesSlide" Target="/ppt/notesSlides/notesSlide15.xml" Id="Rc0d346b6badc42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b62692728a84ea0" /><Relationship Type="http://schemas.openxmlformats.org/officeDocument/2006/relationships/image" Target="/ppt/media/image8.png" Id="Rd76bca58a7b64a3b" /><Relationship Type="http://schemas.openxmlformats.org/officeDocument/2006/relationships/notesSlide" Target="/ppt/notesSlides/notesSlide16.xml" Id="Ra97b57b19b004b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0552bc17e78417f" /><Relationship Type="http://schemas.openxmlformats.org/officeDocument/2006/relationships/image" Target="/ppt/media/image9.png" Id="Rcdde30b792394ba1" /><Relationship Type="http://schemas.openxmlformats.org/officeDocument/2006/relationships/notesSlide" Target="/ppt/notesSlides/notesSlide17.xml" Id="R22ddcd3d402740f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8078e6049ad4137" /><Relationship Type="http://schemas.openxmlformats.org/officeDocument/2006/relationships/notesSlide" Target="/ppt/notesSlides/notesSlide18.xml" Id="Rf49133aa596e4b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e64866742864694" /><Relationship Type="http://schemas.openxmlformats.org/officeDocument/2006/relationships/notesSlide" Target="/ppt/notesSlides/notesSlide19.xml" Id="R168bdaf92b504dc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ef845537fbc4daa" /><Relationship Type="http://schemas.openxmlformats.org/officeDocument/2006/relationships/notesSlide" Target="/ppt/notesSlides/notesSlide20.xml" Id="R182eb526733845e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10ad363ad0c49cd" /><Relationship Type="http://schemas.openxmlformats.org/officeDocument/2006/relationships/notesSlide" Target="/ppt/notesSlides/notesSlide21.xml" Id="R572f410f53154b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510910fe4ad4266" /><Relationship Type="http://schemas.openxmlformats.org/officeDocument/2006/relationships/notesSlide" Target="/ppt/notesSlides/notesSlide22.xml" Id="Re5885d4a4e704b3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8ebabc299bd4fc5" /><Relationship Type="http://schemas.openxmlformats.org/officeDocument/2006/relationships/notesSlide" Target="/ppt/notesSlides/notesSlide23.xml" Id="R82c7ec78665c46b3" /></Relationships>
</file>

<file path=ppt/slides/slide1.xml><?xml version="1.0" encoding="utf-8"?>
<p:sld xmlns:p="http://schemas.openxmlformats.org/presentationml/2006/main">
  <p:cSld>
    <p:bg>
      <p:bgPr>
        <a:solidFill xmlns:a="http://schemas.openxmlformats.org/drawingml/2006/main">
          <a:srgbClr val="061C2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31C6A9A-6F8F-4D6A-9824-C9B90669D824}"/>
              </a:ext>
            </a:extLst>
          </p:cNvPr>
          <p:cNvPicPr>
            <a:picLocks xmlns:a="http://schemas.openxmlformats.org/drawingml/2006/main" noChangeAspect="1"/>
          </p:cNvPicPr>
          <p:nvPr/>
        </p:nvPicPr>
        <p:blipFill>
          <a:blip xmlns:r="http://schemas.openxmlformats.org/officeDocument/2006/relationships" xmlns:a="http://schemas.openxmlformats.org/drawingml/2006/main" r:embed="R53075232f8934f4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4683F1C-5FA3-4AFF-BAF7-B374516EB8F8}"/>
              </a:ext>
            </a:extLst>
          </p:cNvPr>
          <p:cNvSpPr>
            <a:spLocks xmlns:a="http://schemas.openxmlformats.org/drawingml/2006/main" noGrp="1"/>
          </p:cNvSpPr>
          <p:nvPr/>
        </p:nvSpPr>
        <p:spPr>
          <a:xfrm xmlns:a="http://schemas.openxmlformats.org/drawingml/2006/main">
            <a:off x="723900" y="1381125"/>
            <a:ext cx="63341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FFFF"/>
                </a:solidFill>
                <a:latin typeface="Avenir Next"/>
                <a:ea typeface="Avenir Next"/>
                <a:cs typeface="Avenir Next"/>
              </a:defRPr>
            </a:defPPr>
            <a:lvl1pPr>
              <a:defRPr sz="3900" b="1">
                <a:solidFill>
                  <a:srgbClr val="FFFFFF"/>
                </a:solidFill>
                <a:latin typeface="Avenir Next"/>
                <a:ea typeface="Avenir Next"/>
                <a:cs typeface="Avenir Next"/>
              </a:defRPr>
            </a:lvl1pPr>
            <a:lvl2pPr>
              <a:defRPr sz="3900" b="1">
                <a:solidFill>
                  <a:srgbClr val="FFFFFF"/>
                </a:solidFill>
                <a:latin typeface="Avenir Next"/>
                <a:ea typeface="Avenir Next"/>
                <a:cs typeface="Avenir Next"/>
              </a:defRPr>
            </a:lvl2pPr>
            <a:lvl3pPr>
              <a:defRPr sz="3900" b="1">
                <a:solidFill>
                  <a:srgbClr val="FFFFFF"/>
                </a:solidFill>
                <a:latin typeface="Avenir Next"/>
                <a:ea typeface="Avenir Next"/>
                <a:cs typeface="Avenir Next"/>
              </a:defRPr>
            </a:lvl3pPr>
            <a:lvl4pPr>
              <a:defRPr sz="3900" b="1">
                <a:solidFill>
                  <a:srgbClr val="FFFFFF"/>
                </a:solidFill>
                <a:latin typeface="Avenir Next"/>
                <a:ea typeface="Avenir Next"/>
                <a:cs typeface="Avenir Next"/>
              </a:defRPr>
            </a:lvl4pPr>
            <a:lvl5pPr>
              <a:defRPr sz="3900" b="1">
                <a:solidFill>
                  <a:srgbClr val="FFFFFF"/>
                </a:solidFill>
                <a:latin typeface="Avenir Next"/>
                <a:ea typeface="Avenir Next"/>
                <a:cs typeface="Avenir Next"/>
              </a:defRPr>
            </a:lvl5pPr>
            <a:lvl6pPr>
              <a:defRPr sz="3900" b="1">
                <a:solidFill>
                  <a:srgbClr val="FFFFFF"/>
                </a:solidFill>
                <a:latin typeface="Avenir Next"/>
                <a:ea typeface="Avenir Next"/>
                <a:cs typeface="Avenir Next"/>
              </a:defRPr>
            </a:lvl6pPr>
            <a:lvl7pPr>
              <a:defRPr sz="3900" b="1">
                <a:solidFill>
                  <a:srgbClr val="FFFFFF"/>
                </a:solidFill>
                <a:latin typeface="Avenir Next"/>
                <a:ea typeface="Avenir Next"/>
                <a:cs typeface="Avenir Next"/>
              </a:defRPr>
            </a:lvl7pPr>
            <a:lvl8pPr>
              <a:defRPr sz="3900" b="1">
                <a:solidFill>
                  <a:srgbClr val="FFFFFF"/>
                </a:solidFill>
                <a:latin typeface="Avenir Next"/>
                <a:ea typeface="Avenir Next"/>
                <a:cs typeface="Avenir Next"/>
              </a:defRPr>
            </a:lvl8pPr>
            <a:lvl9pPr>
              <a:defRPr sz="3900" b="1">
                <a:solidFill>
                  <a:srgbClr val="FFFFFF"/>
                </a:solidFill>
                <a:latin typeface="Avenir Next"/>
                <a:ea typeface="Avenir Next"/>
                <a:cs typeface="Avenir Next"/>
              </a:defRPr>
            </a:lvl9pPr>
          </a:lstStyle>
          <a:p xmlns:a="http://schemas.openxmlformats.org/drawingml/2006/main">
            <a:pPr>
              <a:defRPr sz="3900" b="1">
                <a:solidFill>
                  <a:srgbClr val="FFFFFF"/>
                </a:solidFill>
                <a:latin typeface="Avenir Next"/>
                <a:ea typeface="Avenir Next"/>
                <a:cs typeface="Avenir Next"/>
              </a:defRPr>
            </a:pPr>
            <a:r>
              <a:rPr sz="3900" b="1">
                <a:solidFill>
                  <a:srgbClr val="FFFFFF"/>
                </a:solidFill>
                <a:latin typeface="Avenir Next"/>
                <a:ea typeface="Avenir Next"/>
                <a:cs typeface="Avenir Next"/>
              </a:rPr>
              <a:t>Machine Learning</a:t>
            </a:r>
          </a:p>
          <a:p xmlns:a="http://schemas.openxmlformats.org/drawingml/2006/main">
            <a:pPr>
              <a:defRPr sz="3900" b="1">
                <a:solidFill>
                  <a:srgbClr val="FFFFFF"/>
                </a:solidFill>
                <a:latin typeface="Avenir Next"/>
                <a:ea typeface="Avenir Next"/>
                <a:cs typeface="Avenir Next"/>
              </a:defRPr>
            </a:pPr>
            <a:r>
              <a:rPr sz="3900" b="1">
                <a:solidFill>
                  <a:srgbClr val="FFFFFF"/>
                </a:solidFill>
                <a:latin typeface="Avenir Next"/>
                <a:ea typeface="Avenir Next"/>
                <a:cs typeface="Avenir Next"/>
              </a:rPr>
              <a:t>in Epidemiology</a:t>
            </a:r>
          </a:p>
          <a:p xmlns:a="http://schemas.openxmlformats.org/drawingml/2006/main">
            <a:pPr>
              <a:defRPr sz="3900" b="1">
                <a:solidFill>
                  <a:srgbClr val="FFFFFF"/>
                </a:solidFill>
                <a:latin typeface="Avenir Next"/>
                <a:ea typeface="Avenir Next"/>
                <a:cs typeface="Avenir Next"/>
              </a:defRPr>
            </a:pPr>
            <a:r>
              <a:rPr sz="3900" b="1">
                <a:solidFill>
                  <a:srgbClr val="FFFFFF"/>
                </a:solidFill>
                <a:latin typeface="Avenir Next"/>
                <a:ea typeface="Avenir Next"/>
                <a:cs typeface="Avenir Next"/>
              </a:rPr>
              <a:t>with R — Part 2</a:t>
            </a:r>
          </a:p>
        </p:txBody>
      </p:sp>
      <p:sp>
        <p:nvSpPr>
          <p:cNvPr id="3" name="">
            <a:extLst xmlns:a="http://schemas.openxmlformats.org/drawingml/2006/main">
              <a:ext uri="{FF2B5EF4-FFF2-40B4-BE49-F238E27FC236}">
                <a16:creationId xmlns:a16="http://schemas.microsoft.com/office/drawing/2014/main" id="{F54CA718-7770-4BB5-A96A-386986A8E4AF}"/>
              </a:ext>
            </a:extLst>
          </p:cNvPr>
          <p:cNvSpPr>
            <a:spLocks xmlns:a="http://schemas.openxmlformats.org/drawingml/2006/main" noGrp="1"/>
          </p:cNvSpPr>
          <p:nvPr/>
        </p:nvSpPr>
        <p:spPr>
          <a:xfrm xmlns:a="http://schemas.openxmlformats.org/drawingml/2006/main">
            <a:off x="762000" y="4095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63D6CE"/>
                </a:solidFill>
                <a:latin typeface="Avenir Next"/>
                <a:ea typeface="Avenir Next"/>
                <a:cs typeface="Avenir Next"/>
              </a:defRPr>
            </a:defPPr>
            <a:lvl1pPr>
              <a:defRPr sz="2325" b="0">
                <a:solidFill>
                  <a:srgbClr val="63D6CE"/>
                </a:solidFill>
                <a:latin typeface="Avenir Next"/>
                <a:ea typeface="Avenir Next"/>
                <a:cs typeface="Avenir Next"/>
              </a:defRPr>
            </a:lvl1pPr>
            <a:lvl2pPr>
              <a:defRPr sz="2325" b="0">
                <a:solidFill>
                  <a:srgbClr val="63D6CE"/>
                </a:solidFill>
                <a:latin typeface="Avenir Next"/>
                <a:ea typeface="Avenir Next"/>
                <a:cs typeface="Avenir Next"/>
              </a:defRPr>
            </a:lvl2pPr>
            <a:lvl3pPr>
              <a:defRPr sz="2325" b="0">
                <a:solidFill>
                  <a:srgbClr val="63D6CE"/>
                </a:solidFill>
                <a:latin typeface="Avenir Next"/>
                <a:ea typeface="Avenir Next"/>
                <a:cs typeface="Avenir Next"/>
              </a:defRPr>
            </a:lvl3pPr>
            <a:lvl4pPr>
              <a:defRPr sz="2325" b="0">
                <a:solidFill>
                  <a:srgbClr val="63D6CE"/>
                </a:solidFill>
                <a:latin typeface="Avenir Next"/>
                <a:ea typeface="Avenir Next"/>
                <a:cs typeface="Avenir Next"/>
              </a:defRPr>
            </a:lvl4pPr>
            <a:lvl5pPr>
              <a:defRPr sz="2325" b="0">
                <a:solidFill>
                  <a:srgbClr val="63D6CE"/>
                </a:solidFill>
                <a:latin typeface="Avenir Next"/>
                <a:ea typeface="Avenir Next"/>
                <a:cs typeface="Avenir Next"/>
              </a:defRPr>
            </a:lvl5pPr>
            <a:lvl6pPr>
              <a:defRPr sz="2325" b="0">
                <a:solidFill>
                  <a:srgbClr val="63D6CE"/>
                </a:solidFill>
                <a:latin typeface="Avenir Next"/>
                <a:ea typeface="Avenir Next"/>
                <a:cs typeface="Avenir Next"/>
              </a:defRPr>
            </a:lvl6pPr>
            <a:lvl7pPr>
              <a:defRPr sz="2325" b="0">
                <a:solidFill>
                  <a:srgbClr val="63D6CE"/>
                </a:solidFill>
                <a:latin typeface="Avenir Next"/>
                <a:ea typeface="Avenir Next"/>
                <a:cs typeface="Avenir Next"/>
              </a:defRPr>
            </a:lvl7pPr>
            <a:lvl8pPr>
              <a:defRPr sz="2325" b="0">
                <a:solidFill>
                  <a:srgbClr val="63D6CE"/>
                </a:solidFill>
                <a:latin typeface="Avenir Next"/>
                <a:ea typeface="Avenir Next"/>
                <a:cs typeface="Avenir Next"/>
              </a:defRPr>
            </a:lvl8pPr>
            <a:lvl9pPr>
              <a:defRPr sz="2325" b="0">
                <a:solidFill>
                  <a:srgbClr val="63D6CE"/>
                </a:solidFill>
                <a:latin typeface="Avenir Next"/>
                <a:ea typeface="Avenir Next"/>
                <a:cs typeface="Avenir Next"/>
              </a:defRPr>
            </a:lvl9pPr>
          </a:lstStyle>
          <a:p xmlns:a="http://schemas.openxmlformats.org/drawingml/2006/main">
            <a:pPr>
              <a:defRPr sz="2325" b="0">
                <a:solidFill>
                  <a:srgbClr val="63D6CE"/>
                </a:solidFill>
                <a:latin typeface="Avenir Next"/>
                <a:ea typeface="Avenir Next"/>
                <a:cs typeface="Avenir Next"/>
              </a:defRPr>
            </a:pPr>
            <a:r>
              <a:rPr sz="2325" b="0">
                <a:solidFill>
                  <a:srgbClr val="63D6CE"/>
                </a:solidFill>
                <a:latin typeface="Avenir Next"/>
                <a:ea typeface="Avenir Next"/>
                <a:cs typeface="Avenir Next"/>
              </a:rPr>
              <a:t>From Trees to Neural Networks</a:t>
            </a:r>
          </a:p>
        </p:txBody>
      </p:sp>
      <p:sp>
        <p:nvSpPr>
          <p:cNvPr id="4" name="">
            <a:extLst xmlns:a="http://schemas.openxmlformats.org/drawingml/2006/main">
              <a:ext uri="{FF2B5EF4-FFF2-40B4-BE49-F238E27FC236}">
                <a16:creationId xmlns:a16="http://schemas.microsoft.com/office/drawing/2014/main" id="{96300991-FE8C-4E05-BCFE-7F505CF3BBE2}"/>
              </a:ext>
            </a:extLst>
          </p:cNvPr>
          <p:cNvSpPr>
            <a:spLocks xmlns:a="http://schemas.openxmlformats.org/drawingml/2006/main" noGrp="1"/>
          </p:cNvSpPr>
          <p:nvPr/>
        </p:nvSpPr>
        <p:spPr>
          <a:xfrm xmlns:a="http://schemas.openxmlformats.org/drawingml/2006/main">
            <a:off x="762000" y="538162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venir Next"/>
                <a:ea typeface="Avenir Next"/>
                <a:cs typeface="Avenir Next"/>
              </a:defRPr>
            </a:defPPr>
            <a:lvl1pPr>
              <a:defRPr sz="1875" b="0">
                <a:solidFill>
                  <a:srgbClr val="FFFFFF"/>
                </a:solidFill>
                <a:latin typeface="Avenir Next"/>
                <a:ea typeface="Avenir Next"/>
                <a:cs typeface="Avenir Next"/>
              </a:defRPr>
            </a:lvl1pPr>
            <a:lvl2pPr>
              <a:defRPr sz="1875" b="0">
                <a:solidFill>
                  <a:srgbClr val="FFFFFF"/>
                </a:solidFill>
                <a:latin typeface="Avenir Next"/>
                <a:ea typeface="Avenir Next"/>
                <a:cs typeface="Avenir Next"/>
              </a:defRPr>
            </a:lvl2pPr>
            <a:lvl3pPr>
              <a:defRPr sz="1875" b="0">
                <a:solidFill>
                  <a:srgbClr val="FFFFFF"/>
                </a:solidFill>
                <a:latin typeface="Avenir Next"/>
                <a:ea typeface="Avenir Next"/>
                <a:cs typeface="Avenir Next"/>
              </a:defRPr>
            </a:lvl3pPr>
            <a:lvl4pPr>
              <a:defRPr sz="1875" b="0">
                <a:solidFill>
                  <a:srgbClr val="FFFFFF"/>
                </a:solidFill>
                <a:latin typeface="Avenir Next"/>
                <a:ea typeface="Avenir Next"/>
                <a:cs typeface="Avenir Next"/>
              </a:defRPr>
            </a:lvl4pPr>
            <a:lvl5pPr>
              <a:defRPr sz="1875" b="0">
                <a:solidFill>
                  <a:srgbClr val="FFFFFF"/>
                </a:solidFill>
                <a:latin typeface="Avenir Next"/>
                <a:ea typeface="Avenir Next"/>
                <a:cs typeface="Avenir Next"/>
              </a:defRPr>
            </a:lvl5pPr>
            <a:lvl6pPr>
              <a:defRPr sz="1875" b="0">
                <a:solidFill>
                  <a:srgbClr val="FFFFFF"/>
                </a:solidFill>
                <a:latin typeface="Avenir Next"/>
                <a:ea typeface="Avenir Next"/>
                <a:cs typeface="Avenir Next"/>
              </a:defRPr>
            </a:lvl6pPr>
            <a:lvl7pPr>
              <a:defRPr sz="1875" b="0">
                <a:solidFill>
                  <a:srgbClr val="FFFFFF"/>
                </a:solidFill>
                <a:latin typeface="Avenir Next"/>
                <a:ea typeface="Avenir Next"/>
                <a:cs typeface="Avenir Next"/>
              </a:defRPr>
            </a:lvl7pPr>
            <a:lvl8pPr>
              <a:defRPr sz="1875" b="0">
                <a:solidFill>
                  <a:srgbClr val="FFFFFF"/>
                </a:solidFill>
                <a:latin typeface="Avenir Next"/>
                <a:ea typeface="Avenir Next"/>
                <a:cs typeface="Avenir Next"/>
              </a:defRPr>
            </a:lvl8pPr>
            <a:lvl9pPr>
              <a:defRPr sz="1875" b="0">
                <a:solidFill>
                  <a:srgbClr val="FFFFFF"/>
                </a:solidFill>
                <a:latin typeface="Avenir Next"/>
                <a:ea typeface="Avenir Next"/>
                <a:cs typeface="Avenir Next"/>
              </a:defRPr>
            </a:lvl9pPr>
          </a:lstStyle>
          <a:p xmlns:a="http://schemas.openxmlformats.org/drawingml/2006/main">
            <a:pPr>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Federica Gazzelloni</a:t>
            </a:r>
          </a:p>
        </p:txBody>
      </p:sp>
      <p:sp>
        <p:nvSpPr>
          <p:cNvPr id="5" name="">
            <a:extLst xmlns:a="http://schemas.openxmlformats.org/drawingml/2006/main">
              <a:ext uri="{FF2B5EF4-FFF2-40B4-BE49-F238E27FC236}">
                <a16:creationId xmlns:a16="http://schemas.microsoft.com/office/drawing/2014/main" id="{B14E6C98-243F-43AD-AD68-53F9A350FC3D}"/>
              </a:ext>
            </a:extLst>
          </p:cNvPr>
          <p:cNvSpPr>
            <a:spLocks xmlns:a="http://schemas.openxmlformats.org/drawingml/2006/main" noGrp="1"/>
          </p:cNvSpPr>
          <p:nvPr/>
        </p:nvSpPr>
        <p:spPr>
          <a:xfrm xmlns:a="http://schemas.openxmlformats.org/drawingml/2006/main">
            <a:off x="762000" y="58293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FFFFF"/>
                </a:solidFill>
                <a:latin typeface="Avenir Next"/>
                <a:ea typeface="Avenir Next"/>
                <a:cs typeface="Avenir Next"/>
              </a:defRPr>
            </a:defPPr>
            <a:lvl1pPr>
              <a:defRPr sz="1575" b="0">
                <a:solidFill>
                  <a:srgbClr val="FFFFFF"/>
                </a:solidFill>
                <a:latin typeface="Avenir Next"/>
                <a:ea typeface="Avenir Next"/>
                <a:cs typeface="Avenir Next"/>
              </a:defRPr>
            </a:lvl1pPr>
            <a:lvl2pPr>
              <a:defRPr sz="1575" b="0">
                <a:solidFill>
                  <a:srgbClr val="FFFFFF"/>
                </a:solidFill>
                <a:latin typeface="Avenir Next"/>
                <a:ea typeface="Avenir Next"/>
                <a:cs typeface="Avenir Next"/>
              </a:defRPr>
            </a:lvl2pPr>
            <a:lvl3pPr>
              <a:defRPr sz="1575" b="0">
                <a:solidFill>
                  <a:srgbClr val="FFFFFF"/>
                </a:solidFill>
                <a:latin typeface="Avenir Next"/>
                <a:ea typeface="Avenir Next"/>
                <a:cs typeface="Avenir Next"/>
              </a:defRPr>
            </a:lvl3pPr>
            <a:lvl4pPr>
              <a:defRPr sz="1575" b="0">
                <a:solidFill>
                  <a:srgbClr val="FFFFFF"/>
                </a:solidFill>
                <a:latin typeface="Avenir Next"/>
                <a:ea typeface="Avenir Next"/>
                <a:cs typeface="Avenir Next"/>
              </a:defRPr>
            </a:lvl4pPr>
            <a:lvl5pPr>
              <a:defRPr sz="1575" b="0">
                <a:solidFill>
                  <a:srgbClr val="FFFFFF"/>
                </a:solidFill>
                <a:latin typeface="Avenir Next"/>
                <a:ea typeface="Avenir Next"/>
                <a:cs typeface="Avenir Next"/>
              </a:defRPr>
            </a:lvl5pPr>
            <a:lvl6pPr>
              <a:defRPr sz="1575" b="0">
                <a:solidFill>
                  <a:srgbClr val="FFFFFF"/>
                </a:solidFill>
                <a:latin typeface="Avenir Next"/>
                <a:ea typeface="Avenir Next"/>
                <a:cs typeface="Avenir Next"/>
              </a:defRPr>
            </a:lvl6pPr>
            <a:lvl7pPr>
              <a:defRPr sz="1575" b="0">
                <a:solidFill>
                  <a:srgbClr val="FFFFFF"/>
                </a:solidFill>
                <a:latin typeface="Avenir Next"/>
                <a:ea typeface="Avenir Next"/>
                <a:cs typeface="Avenir Next"/>
              </a:defRPr>
            </a:lvl7pPr>
            <a:lvl8pPr>
              <a:defRPr sz="1575" b="0">
                <a:solidFill>
                  <a:srgbClr val="FFFFFF"/>
                </a:solidFill>
                <a:latin typeface="Avenir Next"/>
                <a:ea typeface="Avenir Next"/>
                <a:cs typeface="Avenir Next"/>
              </a:defRPr>
            </a:lvl8pPr>
            <a:lvl9pPr>
              <a:defRPr sz="1575" b="0">
                <a:solidFill>
                  <a:srgbClr val="FFFFFF"/>
                </a:solidFill>
                <a:latin typeface="Avenir Next"/>
                <a:ea typeface="Avenir Next"/>
                <a:cs typeface="Avenir Next"/>
              </a:defRPr>
            </a:lvl9pPr>
          </a:lstStyle>
          <a:p xmlns:a="http://schemas.openxmlformats.org/drawingml/2006/main">
            <a:pPr>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23 October 2026</a:t>
            </a:r>
          </a:p>
          <a:p xmlns:a="http://schemas.openxmlformats.org/drawingml/2006/main">
            <a:pPr>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Two-hour online, hands-on R workshop</a:t>
            </a:r>
          </a:p>
        </p:txBody>
      </p:sp>
    </p:spTree>
    <p:extLst>
      <p:ext uri="{BB962C8B-B14F-4D97-AF65-F5344CB8AC3E}">
        <p14:creationId xmlns:p14="http://schemas.microsoft.com/office/powerpoint/2010/main" val="13724244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8783FA-8B54-4A12-BC35-C7EDD8D7185C}"/>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01</a:t>
            </a:r>
          </a:p>
        </p:txBody>
      </p:sp>
      <p:sp>
        <p:nvSpPr>
          <p:cNvPr id="2" name="">
            <a:extLst xmlns:a="http://schemas.openxmlformats.org/drawingml/2006/main">
              <a:ext uri="{FF2B5EF4-FFF2-40B4-BE49-F238E27FC236}">
                <a16:creationId xmlns:a16="http://schemas.microsoft.com/office/drawing/2014/main" id="{40E223DA-112E-41D6-A435-88F8B6D4F495}"/>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Learning objectives and session route</a:t>
            </a:r>
          </a:p>
        </p:txBody>
      </p:sp>
      <p:sp>
        <p:nvSpPr>
          <p:cNvPr id="3" name="">
            <a:extLst xmlns:a="http://schemas.openxmlformats.org/drawingml/2006/main">
              <a:ext uri="{FF2B5EF4-FFF2-40B4-BE49-F238E27FC236}">
                <a16:creationId xmlns:a16="http://schemas.microsoft.com/office/drawing/2014/main" id="{6ACB65FB-C179-4AF9-910E-B881232CF70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F1BD909-F8AB-49AA-9197-481194AEC4EC}"/>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0390220F-1BE6-418F-BFEF-6ECDC5012F41}"/>
              </a:ext>
            </a:extLst>
          </p:cNvPr>
          <p:cNvSpPr>
            <a:spLocks xmlns:a="http://schemas.openxmlformats.org/drawingml/2006/main" noGrp="1"/>
          </p:cNvSpPr>
          <p:nvPr/>
        </p:nvSpPr>
        <p:spPr>
          <a:xfrm xmlns:a="http://schemas.openxmlformats.org/drawingml/2006/main">
            <a:off x="619125" y="12858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Understand the data and define the task</a:t>
            </a:r>
          </a:p>
        </p:txBody>
      </p:sp>
      <p:sp>
        <p:nvSpPr>
          <p:cNvPr id="6" name="">
            <a:extLst xmlns:a="http://schemas.openxmlformats.org/drawingml/2006/main">
              <a:ext uri="{FF2B5EF4-FFF2-40B4-BE49-F238E27FC236}">
                <a16:creationId xmlns:a16="http://schemas.microsoft.com/office/drawing/2014/main" id="{2C9FF84F-9213-40CF-8C7E-E0911A2A7A15}"/>
              </a:ext>
            </a:extLst>
          </p:cNvPr>
          <p:cNvSpPr>
            <a:spLocks xmlns:a="http://schemas.openxmlformats.org/drawingml/2006/main" noGrp="1"/>
          </p:cNvSpPr>
          <p:nvPr/>
        </p:nvSpPr>
        <p:spPr>
          <a:xfrm xmlns:a="http://schemas.openxmlformats.org/drawingml/2006/main">
            <a:off x="619125" y="20669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Fit a tree and examine pruning</a:t>
            </a:r>
          </a:p>
        </p:txBody>
      </p:sp>
      <p:sp>
        <p:nvSpPr>
          <p:cNvPr id="7" name="">
            <a:extLst xmlns:a="http://schemas.openxmlformats.org/drawingml/2006/main">
              <a:ext uri="{FF2B5EF4-FFF2-40B4-BE49-F238E27FC236}">
                <a16:creationId xmlns:a16="http://schemas.microsoft.com/office/drawing/2014/main" id="{96F1BB4A-4236-4FFE-9BA5-E2E28910C29D}"/>
              </a:ext>
            </a:extLst>
          </p:cNvPr>
          <p:cNvSpPr>
            <a:spLocks xmlns:a="http://schemas.openxmlformats.org/drawingml/2006/main" noGrp="1"/>
          </p:cNvSpPr>
          <p:nvPr/>
        </p:nvSpPr>
        <p:spPr>
          <a:xfrm xmlns:a="http://schemas.openxmlformats.org/drawingml/2006/main">
            <a:off x="619125" y="28479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Explore a network through saved results</a:t>
            </a:r>
          </a:p>
        </p:txBody>
      </p:sp>
      <p:sp>
        <p:nvSpPr>
          <p:cNvPr id="8" name="">
            <a:extLst xmlns:a="http://schemas.openxmlformats.org/drawingml/2006/main">
              <a:ext uri="{FF2B5EF4-FFF2-40B4-BE49-F238E27FC236}">
                <a16:creationId xmlns:a16="http://schemas.microsoft.com/office/drawing/2014/main" id="{4E8C40B7-61FF-4953-A284-C9461920D259}"/>
              </a:ext>
            </a:extLst>
          </p:cNvPr>
          <p:cNvSpPr>
            <a:spLocks xmlns:a="http://schemas.openxmlformats.org/drawingml/2006/main" noGrp="1"/>
          </p:cNvSpPr>
          <p:nvPr/>
        </p:nvSpPr>
        <p:spPr>
          <a:xfrm xmlns:a="http://schemas.openxmlformats.org/drawingml/2006/main">
            <a:off x="619125" y="36290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Evaluate predictions and thresholds</a:t>
            </a:r>
          </a:p>
        </p:txBody>
      </p:sp>
      <p:sp>
        <p:nvSpPr>
          <p:cNvPr id="9" name="">
            <a:extLst xmlns:a="http://schemas.openxmlformats.org/drawingml/2006/main">
              <a:ext uri="{FF2B5EF4-FFF2-40B4-BE49-F238E27FC236}">
                <a16:creationId xmlns:a16="http://schemas.microsoft.com/office/drawing/2014/main" id="{24E56E54-9B77-4404-8E11-87CA88E540D8}"/>
              </a:ext>
            </a:extLst>
          </p:cNvPr>
          <p:cNvSpPr>
            <a:spLocks xmlns:a="http://schemas.openxmlformats.org/drawingml/2006/main" noGrp="1"/>
          </p:cNvSpPr>
          <p:nvPr/>
        </p:nvSpPr>
        <p:spPr>
          <a:xfrm xmlns:a="http://schemas.openxmlformats.org/drawingml/2006/main">
            <a:off x="619125" y="44100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Discuss limitations and next steps</a:t>
            </a:r>
          </a:p>
        </p:txBody>
      </p:sp>
      <p:sp>
        <p:nvSpPr>
          <p:cNvPr id="10" name="">
            <a:extLst xmlns:a="http://schemas.openxmlformats.org/drawingml/2006/main">
              <a:ext uri="{FF2B5EF4-FFF2-40B4-BE49-F238E27FC236}">
                <a16:creationId xmlns:a16="http://schemas.microsoft.com/office/drawing/2014/main" id="{42E2B03C-A264-4707-95F1-33033F4D8FE6}"/>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By the end: explain the fit, read the errors and justify an evaluation choice.</a:t>
            </a:r>
          </a:p>
        </p:txBody>
      </p:sp>
    </p:spTree>
    <p:extLst>
      <p:ext uri="{BB962C8B-B14F-4D97-AF65-F5344CB8AC3E}">
        <p14:creationId xmlns:p14="http://schemas.microsoft.com/office/powerpoint/2010/main" val="12773386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6667E3-3A3F-4E20-BB9C-4E5CFB655BB1}"/>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02</a:t>
            </a:r>
          </a:p>
        </p:txBody>
      </p:sp>
      <p:sp>
        <p:nvSpPr>
          <p:cNvPr id="2" name="">
            <a:extLst xmlns:a="http://schemas.openxmlformats.org/drawingml/2006/main">
              <a:ext uri="{FF2B5EF4-FFF2-40B4-BE49-F238E27FC236}">
                <a16:creationId xmlns:a16="http://schemas.microsoft.com/office/drawing/2014/main" id="{82DA36AC-25E5-41A7-999A-DA5513E46701}"/>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West Nile surveillance and heart disease</a:t>
            </a:r>
          </a:p>
        </p:txBody>
      </p:sp>
      <p:sp>
        <p:nvSpPr>
          <p:cNvPr id="3" name="">
            <a:extLst xmlns:a="http://schemas.openxmlformats.org/drawingml/2006/main">
              <a:ext uri="{FF2B5EF4-FFF2-40B4-BE49-F238E27FC236}">
                <a16:creationId xmlns:a16="http://schemas.microsoft.com/office/drawing/2014/main" id="{E4EEE53B-49C9-4B2A-ACE4-A00A0389A830}"/>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6593FF7-41F7-4B32-88C0-45BE363FB762}"/>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4491F146-F358-4046-9BAF-FFC774575435}"/>
              </a:ext>
            </a:extLst>
          </p:cNvPr>
          <p:cNvGraphicFramePr/>
          <p:nvPr/>
        </p:nvGraphicFramePr>
        <p:xfrm>
          <a:off xmlns:a="http://schemas.openxmlformats.org/drawingml/2006/main" x="619125" y="1476375"/>
          <a:ext xmlns:a="http://schemas.openxmlformats.org/drawingml/2006/main" cx="10953750" cy="3095625"/>
        </p:xfrm>
        <a:graphic xmlns:a="http://schemas.openxmlformats.org/drawingml/2006/main">
          <a:graphicData uri="http://schemas.openxmlformats.org/drawingml/2006/table">
            <a:tbl>
              <a:tblPr/>
              <a:tblGrid>
                <a:gridCol w="5476875"/>
                <a:gridCol w="5476875"/>
              </a:tblGrid>
              <a:tr h="773906">
                <a:tc>
                  <a:txBody>
                    <a:bodyPr/>
                    <a:lstStyle/>
                    <a:p>
                      <a:r>
                        <a:rPr sz="1800" b="1">
                          <a:solidFill>
                            <a:srgbClr val="FFFFFF"/>
                          </a:solidFill>
                          <a:latin typeface="Avenir Next"/>
                          <a:ea typeface="Avenir Next"/>
                          <a:cs typeface="Avenir Next"/>
                        </a:rPr>
                        <a:t>Part 1</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Part 2</a:t>
                      </a:r>
                    </a:p>
                  </a:txBody>
                  <a:tcPr marL="91440" marR="91440" marT="45720" marB="45720">
                    <a:solidFill>
                      <a:srgbClr val="09253A"/>
                    </a:solidFill>
                  </a:tcPr>
                </a:tc>
              </a:tr>
              <a:tr h="773906">
                <a:tc>
                  <a:txBody>
                    <a:bodyPr/>
                    <a:lstStyle/>
                    <a:p>
                      <a:r>
                        <a:rPr sz="1800" b="0">
                          <a:solidFill>
                            <a:srgbClr val="09253A"/>
                          </a:solidFill>
                          <a:latin typeface="Avenir Next"/>
                          <a:ea typeface="Avenir Next"/>
                          <a:cs typeface="Avenir Next"/>
                        </a:rPr>
                        <a:t>West Nile surveillance</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Clinical measurements</a:t>
                      </a:r>
                    </a:p>
                  </a:txBody>
                  <a:tcPr marL="91440" marR="91440" marT="45720" marB="45720">
                    <a:solidFill>
                      <a:srgbClr val="F7F2E8"/>
                    </a:solidFill>
                  </a:tcPr>
                </a:tc>
              </a:tr>
              <a:tr h="773906">
                <a:tc>
                  <a:txBody>
                    <a:bodyPr/>
                    <a:lstStyle/>
                    <a:p>
                      <a:r>
                        <a:rPr sz="1800" b="0">
                          <a:solidFill>
                            <a:srgbClr val="09253A"/>
                          </a:solidFill>
                          <a:latin typeface="Avenir Next"/>
                          <a:ea typeface="Avenir Next"/>
                          <a:cs typeface="Avenir Next"/>
                        </a:rPr>
                        <a:t>Define a prediction unit and outcome</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One patient and existing disease</a:t>
                      </a:r>
                    </a:p>
                  </a:txBody>
                  <a:tcPr marL="91440" marR="91440" marT="45720" marB="45720">
                    <a:solidFill>
                      <a:srgbClr val="FFFFFF"/>
                    </a:solidFill>
                  </a:tcPr>
                </a:tc>
              </a:tr>
              <a:tr h="773906">
                <a:tc>
                  <a:txBody>
                    <a:bodyPr/>
                    <a:lstStyle/>
                    <a:p>
                      <a:r>
                        <a:rPr sz="1800" b="0">
                          <a:solidFill>
                            <a:srgbClr val="09253A"/>
                          </a:solidFill>
                          <a:latin typeface="Avenir Next"/>
                          <a:ea typeface="Avenir Next"/>
                          <a:cs typeface="Avenir Next"/>
                        </a:rPr>
                        <a:t>Preparation and evaluation</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The same workflow, new learners</a:t>
                      </a:r>
                    </a:p>
                  </a:txBody>
                  <a:tcPr marL="91440" marR="91440" marT="45720" marB="45720">
                    <a:solidFill>
                      <a:srgbClr val="F7F2E8"/>
                    </a:solidFill>
                  </a:tcPr>
                </a:tc>
              </a:tr>
            </a:tbl>
          </a:graphicData>
        </a:graphic>
      </p:graphicFrame>
      <p:sp>
        <p:nvSpPr>
          <p:cNvPr id="6" name="">
            <a:extLst xmlns:a="http://schemas.openxmlformats.org/drawingml/2006/main">
              <a:ext uri="{FF2B5EF4-FFF2-40B4-BE49-F238E27FC236}">
                <a16:creationId xmlns:a16="http://schemas.microsoft.com/office/drawing/2014/main" id="{D96925AD-CA12-43DA-B37B-8C7944F0FFDB}"/>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The setting changes. The need to define the task and protect evaluation remains.</a:t>
            </a:r>
          </a:p>
        </p:txBody>
      </p:sp>
    </p:spTree>
    <p:extLst>
      <p:ext uri="{BB962C8B-B14F-4D97-AF65-F5344CB8AC3E}">
        <p14:creationId xmlns:p14="http://schemas.microsoft.com/office/powerpoint/2010/main" val="9940939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62D0FA-2E6A-4875-B46D-BBD7A6791936}"/>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03</a:t>
            </a:r>
          </a:p>
        </p:txBody>
      </p:sp>
      <p:sp>
        <p:nvSpPr>
          <p:cNvPr id="2" name="">
            <a:extLst xmlns:a="http://schemas.openxmlformats.org/drawingml/2006/main">
              <a:ext uri="{FF2B5EF4-FFF2-40B4-BE49-F238E27FC236}">
                <a16:creationId xmlns:a16="http://schemas.microsoft.com/office/drawing/2014/main" id="{0C2C247A-1E5A-4D17-B449-75AE0174EBA3}"/>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Meet the heart-disease data</a:t>
            </a:r>
          </a:p>
        </p:txBody>
      </p:sp>
      <p:sp>
        <p:nvSpPr>
          <p:cNvPr id="3" name="">
            <a:extLst xmlns:a="http://schemas.openxmlformats.org/drawingml/2006/main">
              <a:ext uri="{FF2B5EF4-FFF2-40B4-BE49-F238E27FC236}">
                <a16:creationId xmlns:a16="http://schemas.microsoft.com/office/drawing/2014/main" id="{02779400-4E2D-4DF8-BC2C-EB034A1C9A2D}"/>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7C681BF-AE98-4B3D-B93D-853624BE6B99}"/>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6E0E12B-F920-40D2-BBF8-A46F485B7CB2}"/>
              </a:ext>
            </a:extLst>
          </p:cNvPr>
          <p:cNvSpPr>
            <a:spLocks xmlns:a="http://schemas.openxmlformats.org/drawingml/2006/main" noGrp="1"/>
          </p:cNvSpPr>
          <p:nvPr/>
        </p:nvSpPr>
        <p:spPr>
          <a:xfrm xmlns:a="http://schemas.openxmlformats.org/drawingml/2006/main">
            <a:off x="619125" y="13811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0D8B8B"/>
                </a:solidFill>
                <a:latin typeface="Avenir Next"/>
                <a:ea typeface="Avenir Next"/>
                <a:cs typeface="Avenir Next"/>
              </a:defRPr>
            </a:defPPr>
            <a:lvl1pPr>
              <a:defRPr sz="5850" b="1">
                <a:solidFill>
                  <a:srgbClr val="0D8B8B"/>
                </a:solidFill>
                <a:latin typeface="Avenir Next"/>
                <a:ea typeface="Avenir Next"/>
                <a:cs typeface="Avenir Next"/>
              </a:defRPr>
            </a:lvl1pPr>
            <a:lvl2pPr>
              <a:defRPr sz="5850" b="1">
                <a:solidFill>
                  <a:srgbClr val="0D8B8B"/>
                </a:solidFill>
                <a:latin typeface="Avenir Next"/>
                <a:ea typeface="Avenir Next"/>
                <a:cs typeface="Avenir Next"/>
              </a:defRPr>
            </a:lvl2pPr>
            <a:lvl3pPr>
              <a:defRPr sz="5850" b="1">
                <a:solidFill>
                  <a:srgbClr val="0D8B8B"/>
                </a:solidFill>
                <a:latin typeface="Avenir Next"/>
                <a:ea typeface="Avenir Next"/>
                <a:cs typeface="Avenir Next"/>
              </a:defRPr>
            </a:lvl3pPr>
            <a:lvl4pPr>
              <a:defRPr sz="5850" b="1">
                <a:solidFill>
                  <a:srgbClr val="0D8B8B"/>
                </a:solidFill>
                <a:latin typeface="Avenir Next"/>
                <a:ea typeface="Avenir Next"/>
                <a:cs typeface="Avenir Next"/>
              </a:defRPr>
            </a:lvl4pPr>
            <a:lvl5pPr>
              <a:defRPr sz="5850" b="1">
                <a:solidFill>
                  <a:srgbClr val="0D8B8B"/>
                </a:solidFill>
                <a:latin typeface="Avenir Next"/>
                <a:ea typeface="Avenir Next"/>
                <a:cs typeface="Avenir Next"/>
              </a:defRPr>
            </a:lvl5pPr>
            <a:lvl6pPr>
              <a:defRPr sz="5850" b="1">
                <a:solidFill>
                  <a:srgbClr val="0D8B8B"/>
                </a:solidFill>
                <a:latin typeface="Avenir Next"/>
                <a:ea typeface="Avenir Next"/>
                <a:cs typeface="Avenir Next"/>
              </a:defRPr>
            </a:lvl6pPr>
            <a:lvl7pPr>
              <a:defRPr sz="5850" b="1">
                <a:solidFill>
                  <a:srgbClr val="0D8B8B"/>
                </a:solidFill>
                <a:latin typeface="Avenir Next"/>
                <a:ea typeface="Avenir Next"/>
                <a:cs typeface="Avenir Next"/>
              </a:defRPr>
            </a:lvl7pPr>
            <a:lvl8pPr>
              <a:defRPr sz="5850" b="1">
                <a:solidFill>
                  <a:srgbClr val="0D8B8B"/>
                </a:solidFill>
                <a:latin typeface="Avenir Next"/>
                <a:ea typeface="Avenir Next"/>
                <a:cs typeface="Avenir Next"/>
              </a:defRPr>
            </a:lvl8pPr>
            <a:lvl9pPr>
              <a:defRPr sz="5850" b="1">
                <a:solidFill>
                  <a:srgbClr val="0D8B8B"/>
                </a:solidFill>
                <a:latin typeface="Avenir Next"/>
                <a:ea typeface="Avenir Next"/>
                <a:cs typeface="Avenir Next"/>
              </a:defRPr>
            </a:lvl9pPr>
          </a:lstStyle>
          <a:p xmlns:a="http://schemas.openxmlformats.org/drawingml/2006/main">
            <a:pPr>
              <a:defRPr sz="5850" b="1">
                <a:solidFill>
                  <a:srgbClr val="0D8B8B"/>
                </a:solidFill>
                <a:latin typeface="Avenir Next"/>
                <a:ea typeface="Avenir Next"/>
                <a:cs typeface="Avenir Next"/>
              </a:defRPr>
            </a:pPr>
            <a:r>
              <a:rPr sz="5850" b="1">
                <a:solidFill>
                  <a:srgbClr val="0D8B8B"/>
                </a:solidFill>
                <a:latin typeface="Avenir Next"/>
                <a:ea typeface="Avenir Next"/>
                <a:cs typeface="Avenir Next"/>
              </a:rPr>
              <a:t>270</a:t>
            </a:r>
          </a:p>
        </p:txBody>
      </p:sp>
      <p:sp>
        <p:nvSpPr>
          <p:cNvPr id="6" name="">
            <a:extLst xmlns:a="http://schemas.openxmlformats.org/drawingml/2006/main">
              <a:ext uri="{FF2B5EF4-FFF2-40B4-BE49-F238E27FC236}">
                <a16:creationId xmlns:a16="http://schemas.microsoft.com/office/drawing/2014/main" id="{C1C93782-BF58-4215-A1D0-26B12253F119}"/>
              </a:ext>
            </a:extLst>
          </p:cNvPr>
          <p:cNvSpPr>
            <a:spLocks xmlns:a="http://schemas.openxmlformats.org/drawingml/2006/main" noGrp="1"/>
          </p:cNvSpPr>
          <p:nvPr/>
        </p:nvSpPr>
        <p:spPr>
          <a:xfrm xmlns:a="http://schemas.openxmlformats.org/drawingml/2006/main">
            <a:off x="619125" y="23336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9253A"/>
                </a:solidFill>
                <a:latin typeface="Avenir Next"/>
                <a:ea typeface="Avenir Next"/>
                <a:cs typeface="Avenir Next"/>
              </a:defRPr>
            </a:defPPr>
            <a:lvl1pPr>
              <a:defRPr sz="2325" b="0">
                <a:solidFill>
                  <a:srgbClr val="09253A"/>
                </a:solidFill>
                <a:latin typeface="Avenir Next"/>
                <a:ea typeface="Avenir Next"/>
                <a:cs typeface="Avenir Next"/>
              </a:defRPr>
            </a:lvl1pPr>
            <a:lvl2pPr>
              <a:defRPr sz="2325" b="0">
                <a:solidFill>
                  <a:srgbClr val="09253A"/>
                </a:solidFill>
                <a:latin typeface="Avenir Next"/>
                <a:ea typeface="Avenir Next"/>
                <a:cs typeface="Avenir Next"/>
              </a:defRPr>
            </a:lvl2pPr>
            <a:lvl3pPr>
              <a:defRPr sz="2325" b="0">
                <a:solidFill>
                  <a:srgbClr val="09253A"/>
                </a:solidFill>
                <a:latin typeface="Avenir Next"/>
                <a:ea typeface="Avenir Next"/>
                <a:cs typeface="Avenir Next"/>
              </a:defRPr>
            </a:lvl3pPr>
            <a:lvl4pPr>
              <a:defRPr sz="2325" b="0">
                <a:solidFill>
                  <a:srgbClr val="09253A"/>
                </a:solidFill>
                <a:latin typeface="Avenir Next"/>
                <a:ea typeface="Avenir Next"/>
                <a:cs typeface="Avenir Next"/>
              </a:defRPr>
            </a:lvl4pPr>
            <a:lvl5pPr>
              <a:defRPr sz="2325" b="0">
                <a:solidFill>
                  <a:srgbClr val="09253A"/>
                </a:solidFill>
                <a:latin typeface="Avenir Next"/>
                <a:ea typeface="Avenir Next"/>
                <a:cs typeface="Avenir Next"/>
              </a:defRPr>
            </a:lvl5pPr>
            <a:lvl6pPr>
              <a:defRPr sz="2325" b="0">
                <a:solidFill>
                  <a:srgbClr val="09253A"/>
                </a:solidFill>
                <a:latin typeface="Avenir Next"/>
                <a:ea typeface="Avenir Next"/>
                <a:cs typeface="Avenir Next"/>
              </a:defRPr>
            </a:lvl6pPr>
            <a:lvl7pPr>
              <a:defRPr sz="2325" b="0">
                <a:solidFill>
                  <a:srgbClr val="09253A"/>
                </a:solidFill>
                <a:latin typeface="Avenir Next"/>
                <a:ea typeface="Avenir Next"/>
                <a:cs typeface="Avenir Next"/>
              </a:defRPr>
            </a:lvl7pPr>
            <a:lvl8pPr>
              <a:defRPr sz="2325" b="0">
                <a:solidFill>
                  <a:srgbClr val="09253A"/>
                </a:solidFill>
                <a:latin typeface="Avenir Next"/>
                <a:ea typeface="Avenir Next"/>
                <a:cs typeface="Avenir Next"/>
              </a:defRPr>
            </a:lvl8pPr>
            <a:lvl9pPr>
              <a:defRPr sz="2325" b="0">
                <a:solidFill>
                  <a:srgbClr val="09253A"/>
                </a:solidFill>
                <a:latin typeface="Avenir Next"/>
                <a:ea typeface="Avenir Next"/>
                <a:cs typeface="Avenir Next"/>
              </a:defRPr>
            </a:lvl9pPr>
          </a:lstStyle>
          <a:p xmlns:a="http://schemas.openxmlformats.org/drawingml/2006/main">
            <a:pPr>
              <a:defRPr sz="2325" b="0">
                <a:solidFill>
                  <a:srgbClr val="09253A"/>
                </a:solidFill>
                <a:latin typeface="Avenir Next"/>
                <a:ea typeface="Avenir Next"/>
                <a:cs typeface="Avenir Next"/>
              </a:defRPr>
            </a:pPr>
            <a:r>
              <a:rPr sz="2325" b="0">
                <a:solidFill>
                  <a:srgbClr val="09253A"/>
                </a:solidFill>
                <a:latin typeface="Avenir Next"/>
                <a:ea typeface="Avenir Next"/>
                <a:cs typeface="Avenir Next"/>
              </a:rPr>
              <a:t>patients</a:t>
            </a:r>
          </a:p>
        </p:txBody>
      </p:sp>
      <p:sp>
        <p:nvSpPr>
          <p:cNvPr id="7" name="">
            <a:extLst xmlns:a="http://schemas.openxmlformats.org/drawingml/2006/main">
              <a:ext uri="{FF2B5EF4-FFF2-40B4-BE49-F238E27FC236}">
                <a16:creationId xmlns:a16="http://schemas.microsoft.com/office/drawing/2014/main" id="{52EB94ED-926E-4489-B782-AB7F4E131737}"/>
              </a:ext>
            </a:extLst>
          </p:cNvPr>
          <p:cNvSpPr>
            <a:spLocks xmlns:a="http://schemas.openxmlformats.org/drawingml/2006/main" noGrp="1"/>
          </p:cNvSpPr>
          <p:nvPr/>
        </p:nvSpPr>
        <p:spPr>
          <a:xfrm xmlns:a="http://schemas.openxmlformats.org/drawingml/2006/main">
            <a:off x="4476750" y="13811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0D8B8B"/>
                </a:solidFill>
                <a:latin typeface="Avenir Next"/>
                <a:ea typeface="Avenir Next"/>
                <a:cs typeface="Avenir Next"/>
              </a:defRPr>
            </a:defPPr>
            <a:lvl1pPr>
              <a:defRPr sz="5850" b="1">
                <a:solidFill>
                  <a:srgbClr val="0D8B8B"/>
                </a:solidFill>
                <a:latin typeface="Avenir Next"/>
                <a:ea typeface="Avenir Next"/>
                <a:cs typeface="Avenir Next"/>
              </a:defRPr>
            </a:lvl1pPr>
            <a:lvl2pPr>
              <a:defRPr sz="5850" b="1">
                <a:solidFill>
                  <a:srgbClr val="0D8B8B"/>
                </a:solidFill>
                <a:latin typeface="Avenir Next"/>
                <a:ea typeface="Avenir Next"/>
                <a:cs typeface="Avenir Next"/>
              </a:defRPr>
            </a:lvl2pPr>
            <a:lvl3pPr>
              <a:defRPr sz="5850" b="1">
                <a:solidFill>
                  <a:srgbClr val="0D8B8B"/>
                </a:solidFill>
                <a:latin typeface="Avenir Next"/>
                <a:ea typeface="Avenir Next"/>
                <a:cs typeface="Avenir Next"/>
              </a:defRPr>
            </a:lvl3pPr>
            <a:lvl4pPr>
              <a:defRPr sz="5850" b="1">
                <a:solidFill>
                  <a:srgbClr val="0D8B8B"/>
                </a:solidFill>
                <a:latin typeface="Avenir Next"/>
                <a:ea typeface="Avenir Next"/>
                <a:cs typeface="Avenir Next"/>
              </a:defRPr>
            </a:lvl4pPr>
            <a:lvl5pPr>
              <a:defRPr sz="5850" b="1">
                <a:solidFill>
                  <a:srgbClr val="0D8B8B"/>
                </a:solidFill>
                <a:latin typeface="Avenir Next"/>
                <a:ea typeface="Avenir Next"/>
                <a:cs typeface="Avenir Next"/>
              </a:defRPr>
            </a:lvl5pPr>
            <a:lvl6pPr>
              <a:defRPr sz="5850" b="1">
                <a:solidFill>
                  <a:srgbClr val="0D8B8B"/>
                </a:solidFill>
                <a:latin typeface="Avenir Next"/>
                <a:ea typeface="Avenir Next"/>
                <a:cs typeface="Avenir Next"/>
              </a:defRPr>
            </a:lvl6pPr>
            <a:lvl7pPr>
              <a:defRPr sz="5850" b="1">
                <a:solidFill>
                  <a:srgbClr val="0D8B8B"/>
                </a:solidFill>
                <a:latin typeface="Avenir Next"/>
                <a:ea typeface="Avenir Next"/>
                <a:cs typeface="Avenir Next"/>
              </a:defRPr>
            </a:lvl7pPr>
            <a:lvl8pPr>
              <a:defRPr sz="5850" b="1">
                <a:solidFill>
                  <a:srgbClr val="0D8B8B"/>
                </a:solidFill>
                <a:latin typeface="Avenir Next"/>
                <a:ea typeface="Avenir Next"/>
                <a:cs typeface="Avenir Next"/>
              </a:defRPr>
            </a:lvl8pPr>
            <a:lvl9pPr>
              <a:defRPr sz="5850" b="1">
                <a:solidFill>
                  <a:srgbClr val="0D8B8B"/>
                </a:solidFill>
                <a:latin typeface="Avenir Next"/>
                <a:ea typeface="Avenir Next"/>
                <a:cs typeface="Avenir Next"/>
              </a:defRPr>
            </a:lvl9pPr>
          </a:lstStyle>
          <a:p xmlns:a="http://schemas.openxmlformats.org/drawingml/2006/main">
            <a:pPr>
              <a:defRPr sz="5850" b="1">
                <a:solidFill>
                  <a:srgbClr val="0D8B8B"/>
                </a:solidFill>
                <a:latin typeface="Avenir Next"/>
                <a:ea typeface="Avenir Next"/>
                <a:cs typeface="Avenir Next"/>
              </a:defRPr>
            </a:pPr>
            <a:r>
              <a:rPr sz="5850" b="1">
                <a:solidFill>
                  <a:srgbClr val="0D8B8B"/>
                </a:solidFill>
                <a:latin typeface="Avenir Next"/>
                <a:ea typeface="Avenir Next"/>
                <a:cs typeface="Avenir Next"/>
              </a:rPr>
              <a:t>13</a:t>
            </a:r>
          </a:p>
        </p:txBody>
      </p:sp>
      <p:sp>
        <p:nvSpPr>
          <p:cNvPr id="8" name="">
            <a:extLst xmlns:a="http://schemas.openxmlformats.org/drawingml/2006/main">
              <a:ext uri="{FF2B5EF4-FFF2-40B4-BE49-F238E27FC236}">
                <a16:creationId xmlns:a16="http://schemas.microsoft.com/office/drawing/2014/main" id="{BD92B60D-7D9A-4C99-A531-D92A31D29FCF}"/>
              </a:ext>
            </a:extLst>
          </p:cNvPr>
          <p:cNvSpPr>
            <a:spLocks xmlns:a="http://schemas.openxmlformats.org/drawingml/2006/main" noGrp="1"/>
          </p:cNvSpPr>
          <p:nvPr/>
        </p:nvSpPr>
        <p:spPr>
          <a:xfrm xmlns:a="http://schemas.openxmlformats.org/drawingml/2006/main">
            <a:off x="4476750" y="233362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9253A"/>
                </a:solidFill>
                <a:latin typeface="Avenir Next"/>
                <a:ea typeface="Avenir Next"/>
                <a:cs typeface="Avenir Next"/>
              </a:defRPr>
            </a:defPPr>
            <a:lvl1pPr>
              <a:defRPr sz="2325" b="0">
                <a:solidFill>
                  <a:srgbClr val="09253A"/>
                </a:solidFill>
                <a:latin typeface="Avenir Next"/>
                <a:ea typeface="Avenir Next"/>
                <a:cs typeface="Avenir Next"/>
              </a:defRPr>
            </a:lvl1pPr>
            <a:lvl2pPr>
              <a:defRPr sz="2325" b="0">
                <a:solidFill>
                  <a:srgbClr val="09253A"/>
                </a:solidFill>
                <a:latin typeface="Avenir Next"/>
                <a:ea typeface="Avenir Next"/>
                <a:cs typeface="Avenir Next"/>
              </a:defRPr>
            </a:lvl2pPr>
            <a:lvl3pPr>
              <a:defRPr sz="2325" b="0">
                <a:solidFill>
                  <a:srgbClr val="09253A"/>
                </a:solidFill>
                <a:latin typeface="Avenir Next"/>
                <a:ea typeface="Avenir Next"/>
                <a:cs typeface="Avenir Next"/>
              </a:defRPr>
            </a:lvl3pPr>
            <a:lvl4pPr>
              <a:defRPr sz="2325" b="0">
                <a:solidFill>
                  <a:srgbClr val="09253A"/>
                </a:solidFill>
                <a:latin typeface="Avenir Next"/>
                <a:ea typeface="Avenir Next"/>
                <a:cs typeface="Avenir Next"/>
              </a:defRPr>
            </a:lvl4pPr>
            <a:lvl5pPr>
              <a:defRPr sz="2325" b="0">
                <a:solidFill>
                  <a:srgbClr val="09253A"/>
                </a:solidFill>
                <a:latin typeface="Avenir Next"/>
                <a:ea typeface="Avenir Next"/>
                <a:cs typeface="Avenir Next"/>
              </a:defRPr>
            </a:lvl5pPr>
            <a:lvl6pPr>
              <a:defRPr sz="2325" b="0">
                <a:solidFill>
                  <a:srgbClr val="09253A"/>
                </a:solidFill>
                <a:latin typeface="Avenir Next"/>
                <a:ea typeface="Avenir Next"/>
                <a:cs typeface="Avenir Next"/>
              </a:defRPr>
            </a:lvl6pPr>
            <a:lvl7pPr>
              <a:defRPr sz="2325" b="0">
                <a:solidFill>
                  <a:srgbClr val="09253A"/>
                </a:solidFill>
                <a:latin typeface="Avenir Next"/>
                <a:ea typeface="Avenir Next"/>
                <a:cs typeface="Avenir Next"/>
              </a:defRPr>
            </a:lvl7pPr>
            <a:lvl8pPr>
              <a:defRPr sz="2325" b="0">
                <a:solidFill>
                  <a:srgbClr val="09253A"/>
                </a:solidFill>
                <a:latin typeface="Avenir Next"/>
                <a:ea typeface="Avenir Next"/>
                <a:cs typeface="Avenir Next"/>
              </a:defRPr>
            </a:lvl8pPr>
            <a:lvl9pPr>
              <a:defRPr sz="2325" b="0">
                <a:solidFill>
                  <a:srgbClr val="09253A"/>
                </a:solidFill>
                <a:latin typeface="Avenir Next"/>
                <a:ea typeface="Avenir Next"/>
                <a:cs typeface="Avenir Next"/>
              </a:defRPr>
            </a:lvl9pPr>
          </a:lstStyle>
          <a:p xmlns:a="http://schemas.openxmlformats.org/drawingml/2006/main">
            <a:pPr>
              <a:defRPr sz="2325" b="0">
                <a:solidFill>
                  <a:srgbClr val="09253A"/>
                </a:solidFill>
                <a:latin typeface="Avenir Next"/>
                <a:ea typeface="Avenir Next"/>
                <a:cs typeface="Avenir Next"/>
              </a:defRPr>
            </a:pPr>
            <a:r>
              <a:rPr sz="2325" b="0">
                <a:solidFill>
                  <a:srgbClr val="09253A"/>
                </a:solidFill>
                <a:latin typeface="Avenir Next"/>
                <a:ea typeface="Avenir Next"/>
                <a:cs typeface="Avenir Next"/>
              </a:rPr>
              <a:t>original predictors</a:t>
            </a:r>
          </a:p>
        </p:txBody>
      </p:sp>
      <p:sp>
        <p:nvSpPr>
          <p:cNvPr id="9" name="">
            <a:extLst xmlns:a="http://schemas.openxmlformats.org/drawingml/2006/main">
              <a:ext uri="{FF2B5EF4-FFF2-40B4-BE49-F238E27FC236}">
                <a16:creationId xmlns:a16="http://schemas.microsoft.com/office/drawing/2014/main" id="{B4069402-0C52-42C1-93BF-0D41206027D2}"/>
              </a:ext>
            </a:extLst>
          </p:cNvPr>
          <p:cNvSpPr>
            <a:spLocks xmlns:a="http://schemas.openxmlformats.org/drawingml/2006/main" noGrp="1"/>
          </p:cNvSpPr>
          <p:nvPr/>
        </p:nvSpPr>
        <p:spPr>
          <a:xfrm xmlns:a="http://schemas.openxmlformats.org/drawingml/2006/main">
            <a:off x="8763000" y="138112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0D8B8B"/>
                </a:solidFill>
                <a:latin typeface="Avenir Next"/>
                <a:ea typeface="Avenir Next"/>
                <a:cs typeface="Avenir Next"/>
              </a:defRPr>
            </a:defPPr>
            <a:lvl1pPr>
              <a:defRPr sz="5850" b="1">
                <a:solidFill>
                  <a:srgbClr val="0D8B8B"/>
                </a:solidFill>
                <a:latin typeface="Avenir Next"/>
                <a:ea typeface="Avenir Next"/>
                <a:cs typeface="Avenir Next"/>
              </a:defRPr>
            </a:lvl1pPr>
            <a:lvl2pPr>
              <a:defRPr sz="5850" b="1">
                <a:solidFill>
                  <a:srgbClr val="0D8B8B"/>
                </a:solidFill>
                <a:latin typeface="Avenir Next"/>
                <a:ea typeface="Avenir Next"/>
                <a:cs typeface="Avenir Next"/>
              </a:defRPr>
            </a:lvl2pPr>
            <a:lvl3pPr>
              <a:defRPr sz="5850" b="1">
                <a:solidFill>
                  <a:srgbClr val="0D8B8B"/>
                </a:solidFill>
                <a:latin typeface="Avenir Next"/>
                <a:ea typeface="Avenir Next"/>
                <a:cs typeface="Avenir Next"/>
              </a:defRPr>
            </a:lvl3pPr>
            <a:lvl4pPr>
              <a:defRPr sz="5850" b="1">
                <a:solidFill>
                  <a:srgbClr val="0D8B8B"/>
                </a:solidFill>
                <a:latin typeface="Avenir Next"/>
                <a:ea typeface="Avenir Next"/>
                <a:cs typeface="Avenir Next"/>
              </a:defRPr>
            </a:lvl4pPr>
            <a:lvl5pPr>
              <a:defRPr sz="5850" b="1">
                <a:solidFill>
                  <a:srgbClr val="0D8B8B"/>
                </a:solidFill>
                <a:latin typeface="Avenir Next"/>
                <a:ea typeface="Avenir Next"/>
                <a:cs typeface="Avenir Next"/>
              </a:defRPr>
            </a:lvl5pPr>
            <a:lvl6pPr>
              <a:defRPr sz="5850" b="1">
                <a:solidFill>
                  <a:srgbClr val="0D8B8B"/>
                </a:solidFill>
                <a:latin typeface="Avenir Next"/>
                <a:ea typeface="Avenir Next"/>
                <a:cs typeface="Avenir Next"/>
              </a:defRPr>
            </a:lvl6pPr>
            <a:lvl7pPr>
              <a:defRPr sz="5850" b="1">
                <a:solidFill>
                  <a:srgbClr val="0D8B8B"/>
                </a:solidFill>
                <a:latin typeface="Avenir Next"/>
                <a:ea typeface="Avenir Next"/>
                <a:cs typeface="Avenir Next"/>
              </a:defRPr>
            </a:lvl7pPr>
            <a:lvl8pPr>
              <a:defRPr sz="5850" b="1">
                <a:solidFill>
                  <a:srgbClr val="0D8B8B"/>
                </a:solidFill>
                <a:latin typeface="Avenir Next"/>
                <a:ea typeface="Avenir Next"/>
                <a:cs typeface="Avenir Next"/>
              </a:defRPr>
            </a:lvl8pPr>
            <a:lvl9pPr>
              <a:defRPr sz="5850" b="1">
                <a:solidFill>
                  <a:srgbClr val="0D8B8B"/>
                </a:solidFill>
                <a:latin typeface="Avenir Next"/>
                <a:ea typeface="Avenir Next"/>
                <a:cs typeface="Avenir Next"/>
              </a:defRPr>
            </a:lvl9pPr>
          </a:lstStyle>
          <a:p xmlns:a="http://schemas.openxmlformats.org/drawingml/2006/main">
            <a:pPr>
              <a:defRPr sz="5850" b="1">
                <a:solidFill>
                  <a:srgbClr val="0D8B8B"/>
                </a:solidFill>
                <a:latin typeface="Avenir Next"/>
                <a:ea typeface="Avenir Next"/>
                <a:cs typeface="Avenir Next"/>
              </a:defRPr>
            </a:pPr>
            <a:r>
              <a:rPr sz="5850" b="1">
                <a:solidFill>
                  <a:srgbClr val="0D8B8B"/>
                </a:solidFill>
                <a:latin typeface="Avenir Next"/>
                <a:ea typeface="Avenir Next"/>
                <a:cs typeface="Avenir Next"/>
              </a:rPr>
              <a:t>2</a:t>
            </a:r>
          </a:p>
        </p:txBody>
      </p:sp>
      <p:sp>
        <p:nvSpPr>
          <p:cNvPr id="10" name="">
            <a:extLst xmlns:a="http://schemas.openxmlformats.org/drawingml/2006/main">
              <a:ext uri="{FF2B5EF4-FFF2-40B4-BE49-F238E27FC236}">
                <a16:creationId xmlns:a16="http://schemas.microsoft.com/office/drawing/2014/main" id="{0965028A-DDC9-4688-BFFA-832931C1B51C}"/>
              </a:ext>
            </a:extLst>
          </p:cNvPr>
          <p:cNvSpPr>
            <a:spLocks xmlns:a="http://schemas.openxmlformats.org/drawingml/2006/main" noGrp="1"/>
          </p:cNvSpPr>
          <p:nvPr/>
        </p:nvSpPr>
        <p:spPr>
          <a:xfrm xmlns:a="http://schemas.openxmlformats.org/drawingml/2006/main">
            <a:off x="8763000" y="23336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9253A"/>
                </a:solidFill>
                <a:latin typeface="Avenir Next"/>
                <a:ea typeface="Avenir Next"/>
                <a:cs typeface="Avenir Next"/>
              </a:defRPr>
            </a:defPPr>
            <a:lvl1pPr>
              <a:defRPr sz="2325" b="0">
                <a:solidFill>
                  <a:srgbClr val="09253A"/>
                </a:solidFill>
                <a:latin typeface="Avenir Next"/>
                <a:ea typeface="Avenir Next"/>
                <a:cs typeface="Avenir Next"/>
              </a:defRPr>
            </a:lvl1pPr>
            <a:lvl2pPr>
              <a:defRPr sz="2325" b="0">
                <a:solidFill>
                  <a:srgbClr val="09253A"/>
                </a:solidFill>
                <a:latin typeface="Avenir Next"/>
                <a:ea typeface="Avenir Next"/>
                <a:cs typeface="Avenir Next"/>
              </a:defRPr>
            </a:lvl2pPr>
            <a:lvl3pPr>
              <a:defRPr sz="2325" b="0">
                <a:solidFill>
                  <a:srgbClr val="09253A"/>
                </a:solidFill>
                <a:latin typeface="Avenir Next"/>
                <a:ea typeface="Avenir Next"/>
                <a:cs typeface="Avenir Next"/>
              </a:defRPr>
            </a:lvl3pPr>
            <a:lvl4pPr>
              <a:defRPr sz="2325" b="0">
                <a:solidFill>
                  <a:srgbClr val="09253A"/>
                </a:solidFill>
                <a:latin typeface="Avenir Next"/>
                <a:ea typeface="Avenir Next"/>
                <a:cs typeface="Avenir Next"/>
              </a:defRPr>
            </a:lvl4pPr>
            <a:lvl5pPr>
              <a:defRPr sz="2325" b="0">
                <a:solidFill>
                  <a:srgbClr val="09253A"/>
                </a:solidFill>
                <a:latin typeface="Avenir Next"/>
                <a:ea typeface="Avenir Next"/>
                <a:cs typeface="Avenir Next"/>
              </a:defRPr>
            </a:lvl5pPr>
            <a:lvl6pPr>
              <a:defRPr sz="2325" b="0">
                <a:solidFill>
                  <a:srgbClr val="09253A"/>
                </a:solidFill>
                <a:latin typeface="Avenir Next"/>
                <a:ea typeface="Avenir Next"/>
                <a:cs typeface="Avenir Next"/>
              </a:defRPr>
            </a:lvl6pPr>
            <a:lvl7pPr>
              <a:defRPr sz="2325" b="0">
                <a:solidFill>
                  <a:srgbClr val="09253A"/>
                </a:solidFill>
                <a:latin typeface="Avenir Next"/>
                <a:ea typeface="Avenir Next"/>
                <a:cs typeface="Avenir Next"/>
              </a:defRPr>
            </a:lvl7pPr>
            <a:lvl8pPr>
              <a:defRPr sz="2325" b="0">
                <a:solidFill>
                  <a:srgbClr val="09253A"/>
                </a:solidFill>
                <a:latin typeface="Avenir Next"/>
                <a:ea typeface="Avenir Next"/>
                <a:cs typeface="Avenir Next"/>
              </a:defRPr>
            </a:lvl8pPr>
            <a:lvl9pPr>
              <a:defRPr sz="2325" b="0">
                <a:solidFill>
                  <a:srgbClr val="09253A"/>
                </a:solidFill>
                <a:latin typeface="Avenir Next"/>
                <a:ea typeface="Avenir Next"/>
                <a:cs typeface="Avenir Next"/>
              </a:defRPr>
            </a:lvl9pPr>
          </a:lstStyle>
          <a:p xmlns:a="http://schemas.openxmlformats.org/drawingml/2006/main">
            <a:pPr>
              <a:defRPr sz="2325" b="0">
                <a:solidFill>
                  <a:srgbClr val="09253A"/>
                </a:solidFill>
                <a:latin typeface="Avenir Next"/>
                <a:ea typeface="Avenir Next"/>
                <a:cs typeface="Avenir Next"/>
              </a:defRPr>
            </a:pPr>
            <a:r>
              <a:rPr sz="2325" b="0">
                <a:solidFill>
                  <a:srgbClr val="09253A"/>
                </a:solidFill>
                <a:latin typeface="Avenir Next"/>
                <a:ea typeface="Avenir Next"/>
                <a:cs typeface="Avenir Next"/>
              </a:rPr>
              <a:t>outcome classes</a:t>
            </a:r>
          </a:p>
        </p:txBody>
      </p:sp>
      <p:sp>
        <p:nvSpPr>
          <p:cNvPr id="11" name="">
            <a:extLst xmlns:a="http://schemas.openxmlformats.org/drawingml/2006/main">
              <a:ext uri="{FF2B5EF4-FFF2-40B4-BE49-F238E27FC236}">
                <a16:creationId xmlns:a16="http://schemas.microsoft.com/office/drawing/2014/main" id="{08D97AAA-BC35-4DC9-99F1-08272F557005}"/>
              </a:ext>
            </a:extLst>
          </p:cNvPr>
          <p:cNvSpPr>
            <a:spLocks xmlns:a="http://schemas.openxmlformats.org/drawingml/2006/main" noGrp="1"/>
          </p:cNvSpPr>
          <p:nvPr/>
        </p:nvSpPr>
        <p:spPr>
          <a:xfrm xmlns:a="http://schemas.openxmlformats.org/drawingml/2006/main">
            <a:off x="619125" y="3476625"/>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defRPr sz="2100" b="0">
                <a:solidFill>
                  <a:srgbClr val="5D6D76"/>
                </a:solidFill>
                <a:latin typeface="Avenir Next"/>
                <a:ea typeface="Avenir Next"/>
                <a:cs typeface="Avenir Next"/>
              </a:defRPr>
            </a:lvl1pPr>
            <a:lvl2pPr>
              <a:defRPr sz="2100" b="0">
                <a:solidFill>
                  <a:srgbClr val="5D6D76"/>
                </a:solidFill>
                <a:latin typeface="Avenir Next"/>
                <a:ea typeface="Avenir Next"/>
                <a:cs typeface="Avenir Next"/>
              </a:defRPr>
            </a:lvl2pPr>
            <a:lvl3pPr>
              <a:defRPr sz="2100" b="0">
                <a:solidFill>
                  <a:srgbClr val="5D6D76"/>
                </a:solidFill>
                <a:latin typeface="Avenir Next"/>
                <a:ea typeface="Avenir Next"/>
                <a:cs typeface="Avenir Next"/>
              </a:defRPr>
            </a:lvl3pPr>
            <a:lvl4pPr>
              <a:defRPr sz="2100" b="0">
                <a:solidFill>
                  <a:srgbClr val="5D6D76"/>
                </a:solidFill>
                <a:latin typeface="Avenir Next"/>
                <a:ea typeface="Avenir Next"/>
                <a:cs typeface="Avenir Next"/>
              </a:defRPr>
            </a:lvl4pPr>
            <a:lvl5pPr>
              <a:defRPr sz="2100" b="0">
                <a:solidFill>
                  <a:srgbClr val="5D6D76"/>
                </a:solidFill>
                <a:latin typeface="Avenir Next"/>
                <a:ea typeface="Avenir Next"/>
                <a:cs typeface="Avenir Next"/>
              </a:defRPr>
            </a:lvl5pPr>
            <a:lvl6pPr>
              <a:defRPr sz="2100" b="0">
                <a:solidFill>
                  <a:srgbClr val="5D6D76"/>
                </a:solidFill>
                <a:latin typeface="Avenir Next"/>
                <a:ea typeface="Avenir Next"/>
                <a:cs typeface="Avenir Next"/>
              </a:defRPr>
            </a:lvl6pPr>
            <a:lvl7pPr>
              <a:defRPr sz="2100" b="0">
                <a:solidFill>
                  <a:srgbClr val="5D6D76"/>
                </a:solidFill>
                <a:latin typeface="Avenir Next"/>
                <a:ea typeface="Avenir Next"/>
                <a:cs typeface="Avenir Next"/>
              </a:defRPr>
            </a:lvl7pPr>
            <a:lvl8pPr>
              <a:defRPr sz="2100" b="0">
                <a:solidFill>
                  <a:srgbClr val="5D6D76"/>
                </a:solidFill>
                <a:latin typeface="Avenir Next"/>
                <a:ea typeface="Avenir Next"/>
                <a:cs typeface="Avenir Next"/>
              </a:defRPr>
            </a:lvl8pPr>
            <a:lvl9pPr>
              <a:defRPr sz="2100" b="0">
                <a:solidFill>
                  <a:srgbClr val="5D6D76"/>
                </a:solidFill>
                <a:latin typeface="Avenir Next"/>
                <a:ea typeface="Avenir Next"/>
                <a:cs typeface="Avenir Next"/>
              </a:defRPr>
            </a:lvl9pPr>
          </a:lstStyle>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heart_disease: 150 absent, 120 present</a:t>
            </a:r>
          </a:p>
        </p:txBody>
      </p:sp>
      <p:sp>
        <p:nvSpPr>
          <p:cNvPr id="12" name="">
            <a:extLst xmlns:a="http://schemas.openxmlformats.org/drawingml/2006/main">
              <a:ext uri="{FF2B5EF4-FFF2-40B4-BE49-F238E27FC236}">
                <a16:creationId xmlns:a16="http://schemas.microsoft.com/office/drawing/2014/main" id="{69513EA1-0EFD-41AF-8733-C025997AAB62}"/>
              </a:ext>
            </a:extLst>
          </p:cNvPr>
          <p:cNvSpPr>
            <a:spLocks xmlns:a="http://schemas.openxmlformats.org/drawingml/2006/main" noGrp="1"/>
          </p:cNvSpPr>
          <p:nvPr/>
        </p:nvSpPr>
        <p:spPr>
          <a:xfrm xmlns:a="http://schemas.openxmlformats.org/drawingml/2006/main">
            <a:off x="619125" y="4286250"/>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defRPr sz="2100" b="0">
                <a:solidFill>
                  <a:srgbClr val="5D6D76"/>
                </a:solidFill>
                <a:latin typeface="Avenir Next"/>
                <a:ea typeface="Avenir Next"/>
                <a:cs typeface="Avenir Next"/>
              </a:defRPr>
            </a:lvl1pPr>
            <a:lvl2pPr>
              <a:defRPr sz="2100" b="0">
                <a:solidFill>
                  <a:srgbClr val="5D6D76"/>
                </a:solidFill>
                <a:latin typeface="Avenir Next"/>
                <a:ea typeface="Avenir Next"/>
                <a:cs typeface="Avenir Next"/>
              </a:defRPr>
            </a:lvl2pPr>
            <a:lvl3pPr>
              <a:defRPr sz="2100" b="0">
                <a:solidFill>
                  <a:srgbClr val="5D6D76"/>
                </a:solidFill>
                <a:latin typeface="Avenir Next"/>
                <a:ea typeface="Avenir Next"/>
                <a:cs typeface="Avenir Next"/>
              </a:defRPr>
            </a:lvl3pPr>
            <a:lvl4pPr>
              <a:defRPr sz="2100" b="0">
                <a:solidFill>
                  <a:srgbClr val="5D6D76"/>
                </a:solidFill>
                <a:latin typeface="Avenir Next"/>
                <a:ea typeface="Avenir Next"/>
                <a:cs typeface="Avenir Next"/>
              </a:defRPr>
            </a:lvl4pPr>
            <a:lvl5pPr>
              <a:defRPr sz="2100" b="0">
                <a:solidFill>
                  <a:srgbClr val="5D6D76"/>
                </a:solidFill>
                <a:latin typeface="Avenir Next"/>
                <a:ea typeface="Avenir Next"/>
                <a:cs typeface="Avenir Next"/>
              </a:defRPr>
            </a:lvl5pPr>
            <a:lvl6pPr>
              <a:defRPr sz="2100" b="0">
                <a:solidFill>
                  <a:srgbClr val="5D6D76"/>
                </a:solidFill>
                <a:latin typeface="Avenir Next"/>
                <a:ea typeface="Avenir Next"/>
                <a:cs typeface="Avenir Next"/>
              </a:defRPr>
            </a:lvl6pPr>
            <a:lvl7pPr>
              <a:defRPr sz="2100" b="0">
                <a:solidFill>
                  <a:srgbClr val="5D6D76"/>
                </a:solidFill>
                <a:latin typeface="Avenir Next"/>
                <a:ea typeface="Avenir Next"/>
                <a:cs typeface="Avenir Next"/>
              </a:defRPr>
            </a:lvl7pPr>
            <a:lvl8pPr>
              <a:defRPr sz="2100" b="0">
                <a:solidFill>
                  <a:srgbClr val="5D6D76"/>
                </a:solidFill>
                <a:latin typeface="Avenir Next"/>
                <a:ea typeface="Avenir Next"/>
                <a:cs typeface="Avenir Next"/>
              </a:defRPr>
            </a:lvl8pPr>
            <a:lvl9pPr>
              <a:defRPr sz="2100" b="0">
                <a:solidFill>
                  <a:srgbClr val="5D6D76"/>
                </a:solidFill>
                <a:latin typeface="Avenir Next"/>
                <a:ea typeface="Avenir Next"/>
                <a:cs typeface="Avenir Next"/>
              </a:defRPr>
            </a:lvl9pPr>
          </a:lstStyle>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Examples: age, chest pain, cholesterol, exercise measurements</a:t>
            </a:r>
          </a:p>
        </p:txBody>
      </p:sp>
      <p:sp>
        <p:nvSpPr>
          <p:cNvPr id="13" name="">
            <a:extLst xmlns:a="http://schemas.openxmlformats.org/drawingml/2006/main">
              <a:ext uri="{FF2B5EF4-FFF2-40B4-BE49-F238E27FC236}">
                <a16:creationId xmlns:a16="http://schemas.microsoft.com/office/drawing/2014/main" id="{D7D4107F-688C-44E9-938C-5E0CE221EE5B}"/>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Checkpoint: What does one row represent? Which column is the outcome?</a:t>
            </a:r>
          </a:p>
        </p:txBody>
      </p:sp>
    </p:spTree>
    <p:extLst>
      <p:ext uri="{BB962C8B-B14F-4D97-AF65-F5344CB8AC3E}">
        <p14:creationId xmlns:p14="http://schemas.microsoft.com/office/powerpoint/2010/main" val="6125917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2CA711-5FA1-4DC8-9D01-49E4E76E2E9B}"/>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04</a:t>
            </a:r>
          </a:p>
        </p:txBody>
      </p:sp>
      <p:sp>
        <p:nvSpPr>
          <p:cNvPr id="2" name="">
            <a:extLst xmlns:a="http://schemas.openxmlformats.org/drawingml/2006/main">
              <a:ext uri="{FF2B5EF4-FFF2-40B4-BE49-F238E27FC236}">
                <a16:creationId xmlns:a16="http://schemas.microsoft.com/office/drawing/2014/main" id="{41DE3D78-E3F0-4995-9462-6DA320808E49}"/>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The classification task</a:t>
            </a:r>
          </a:p>
        </p:txBody>
      </p:sp>
      <p:sp>
        <p:nvSpPr>
          <p:cNvPr id="3" name="">
            <a:extLst xmlns:a="http://schemas.openxmlformats.org/drawingml/2006/main">
              <a:ext uri="{FF2B5EF4-FFF2-40B4-BE49-F238E27FC236}">
                <a16:creationId xmlns:a16="http://schemas.microsoft.com/office/drawing/2014/main" id="{ACC40A69-2600-4240-A340-D597D3373212}"/>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0A3AB65-081E-4255-8AD9-64335F116A6E}"/>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45480659-87BB-4170-AE9E-B062FC1BBECD}"/>
              </a:ext>
            </a:extLst>
          </p:cNvPr>
          <p:cNvSpPr>
            <a:spLocks xmlns:a="http://schemas.openxmlformats.org/drawingml/2006/main" noGrp="1"/>
          </p:cNvSpPr>
          <p:nvPr/>
        </p:nvSpPr>
        <p:spPr>
          <a:xfrm xmlns:a="http://schemas.openxmlformats.org/drawingml/2006/main">
            <a:off x="619125" y="142875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5D6D76"/>
                </a:solidFill>
                <a:latin typeface="Avenir Next"/>
                <a:ea typeface="Avenir Next"/>
                <a:cs typeface="Avenir Next"/>
              </a:defRPr>
            </a:defPPr>
            <a:lvl1pPr>
              <a:defRPr sz="2550" b="0">
                <a:solidFill>
                  <a:srgbClr val="5D6D76"/>
                </a:solidFill>
                <a:latin typeface="Avenir Next"/>
                <a:ea typeface="Avenir Next"/>
                <a:cs typeface="Avenir Next"/>
              </a:defRPr>
            </a:lvl1pPr>
            <a:lvl2pPr>
              <a:defRPr sz="2550" b="0">
                <a:solidFill>
                  <a:srgbClr val="5D6D76"/>
                </a:solidFill>
                <a:latin typeface="Avenir Next"/>
                <a:ea typeface="Avenir Next"/>
                <a:cs typeface="Avenir Next"/>
              </a:defRPr>
            </a:lvl2pPr>
            <a:lvl3pPr>
              <a:defRPr sz="2550" b="0">
                <a:solidFill>
                  <a:srgbClr val="5D6D76"/>
                </a:solidFill>
                <a:latin typeface="Avenir Next"/>
                <a:ea typeface="Avenir Next"/>
                <a:cs typeface="Avenir Next"/>
              </a:defRPr>
            </a:lvl3pPr>
            <a:lvl4pPr>
              <a:defRPr sz="2550" b="0">
                <a:solidFill>
                  <a:srgbClr val="5D6D76"/>
                </a:solidFill>
                <a:latin typeface="Avenir Next"/>
                <a:ea typeface="Avenir Next"/>
                <a:cs typeface="Avenir Next"/>
              </a:defRPr>
            </a:lvl4pPr>
            <a:lvl5pPr>
              <a:defRPr sz="2550" b="0">
                <a:solidFill>
                  <a:srgbClr val="5D6D76"/>
                </a:solidFill>
                <a:latin typeface="Avenir Next"/>
                <a:ea typeface="Avenir Next"/>
                <a:cs typeface="Avenir Next"/>
              </a:defRPr>
            </a:lvl5pPr>
            <a:lvl6pPr>
              <a:defRPr sz="2550" b="0">
                <a:solidFill>
                  <a:srgbClr val="5D6D76"/>
                </a:solidFill>
                <a:latin typeface="Avenir Next"/>
                <a:ea typeface="Avenir Next"/>
                <a:cs typeface="Avenir Next"/>
              </a:defRPr>
            </a:lvl6pPr>
            <a:lvl7pPr>
              <a:defRPr sz="2550" b="0">
                <a:solidFill>
                  <a:srgbClr val="5D6D76"/>
                </a:solidFill>
                <a:latin typeface="Avenir Next"/>
                <a:ea typeface="Avenir Next"/>
                <a:cs typeface="Avenir Next"/>
              </a:defRPr>
            </a:lvl7pPr>
            <a:lvl8pPr>
              <a:defRPr sz="2550" b="0">
                <a:solidFill>
                  <a:srgbClr val="5D6D76"/>
                </a:solidFill>
                <a:latin typeface="Avenir Next"/>
                <a:ea typeface="Avenir Next"/>
                <a:cs typeface="Avenir Next"/>
              </a:defRPr>
            </a:lvl8pPr>
            <a:lvl9pPr>
              <a:defRPr sz="2550" b="0">
                <a:solidFill>
                  <a:srgbClr val="5D6D76"/>
                </a:solidFill>
                <a:latin typeface="Avenir Next"/>
                <a:ea typeface="Avenir Next"/>
                <a:cs typeface="Avenir Next"/>
              </a:defRPr>
            </a:lvl9pPr>
          </a:lstStyle>
          <a:p xmlns:a="http://schemas.openxmlformats.org/drawingml/2006/main">
            <a:pPr>
              <a:defRPr sz="2550" b="0">
                <a:solidFill>
                  <a:srgbClr val="5D6D76"/>
                </a:solidFill>
                <a:latin typeface="Avenir Next"/>
                <a:ea typeface="Avenir Next"/>
                <a:cs typeface="Avenir Next"/>
              </a:defRPr>
            </a:pPr>
            <a:r>
              <a:rPr sz="2550" b="0">
                <a:solidFill>
                  <a:srgbClr val="5D6D76"/>
                </a:solidFill>
                <a:latin typeface="Avenir Next"/>
                <a:ea typeface="Avenir Next"/>
                <a:cs typeface="Avenir Next"/>
              </a:rPr>
              <a:t>Clinical measurements are the predictors.</a:t>
            </a:r>
          </a:p>
        </p:txBody>
      </p:sp>
      <p:sp>
        <p:nvSpPr>
          <p:cNvPr id="6" name="">
            <a:extLst xmlns:a="http://schemas.openxmlformats.org/drawingml/2006/main">
              <a:ext uri="{FF2B5EF4-FFF2-40B4-BE49-F238E27FC236}">
                <a16:creationId xmlns:a16="http://schemas.microsoft.com/office/drawing/2014/main" id="{6BE4178F-F7E0-49F5-A579-4AA617FD3202}"/>
              </a:ext>
            </a:extLst>
          </p:cNvPr>
          <p:cNvSpPr>
            <a:spLocks xmlns:a="http://schemas.openxmlformats.org/drawingml/2006/main" noGrp="1"/>
          </p:cNvSpPr>
          <p:nvPr/>
        </p:nvSpPr>
        <p:spPr>
          <a:xfrm xmlns:a="http://schemas.openxmlformats.org/drawingml/2006/main">
            <a:off x="619125" y="24765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5D6D76"/>
                </a:solidFill>
                <a:latin typeface="Avenir Next"/>
                <a:ea typeface="Avenir Next"/>
                <a:cs typeface="Avenir Next"/>
              </a:defRPr>
            </a:defPPr>
            <a:lvl1pPr>
              <a:defRPr sz="2550" b="0">
                <a:solidFill>
                  <a:srgbClr val="5D6D76"/>
                </a:solidFill>
                <a:latin typeface="Avenir Next"/>
                <a:ea typeface="Avenir Next"/>
                <a:cs typeface="Avenir Next"/>
              </a:defRPr>
            </a:lvl1pPr>
            <a:lvl2pPr>
              <a:defRPr sz="2550" b="0">
                <a:solidFill>
                  <a:srgbClr val="5D6D76"/>
                </a:solidFill>
                <a:latin typeface="Avenir Next"/>
                <a:ea typeface="Avenir Next"/>
                <a:cs typeface="Avenir Next"/>
              </a:defRPr>
            </a:lvl2pPr>
            <a:lvl3pPr>
              <a:defRPr sz="2550" b="0">
                <a:solidFill>
                  <a:srgbClr val="5D6D76"/>
                </a:solidFill>
                <a:latin typeface="Avenir Next"/>
                <a:ea typeface="Avenir Next"/>
                <a:cs typeface="Avenir Next"/>
              </a:defRPr>
            </a:lvl3pPr>
            <a:lvl4pPr>
              <a:defRPr sz="2550" b="0">
                <a:solidFill>
                  <a:srgbClr val="5D6D76"/>
                </a:solidFill>
                <a:latin typeface="Avenir Next"/>
                <a:ea typeface="Avenir Next"/>
                <a:cs typeface="Avenir Next"/>
              </a:defRPr>
            </a:lvl4pPr>
            <a:lvl5pPr>
              <a:defRPr sz="2550" b="0">
                <a:solidFill>
                  <a:srgbClr val="5D6D76"/>
                </a:solidFill>
                <a:latin typeface="Avenir Next"/>
                <a:ea typeface="Avenir Next"/>
                <a:cs typeface="Avenir Next"/>
              </a:defRPr>
            </a:lvl5pPr>
            <a:lvl6pPr>
              <a:defRPr sz="2550" b="0">
                <a:solidFill>
                  <a:srgbClr val="5D6D76"/>
                </a:solidFill>
                <a:latin typeface="Avenir Next"/>
                <a:ea typeface="Avenir Next"/>
                <a:cs typeface="Avenir Next"/>
              </a:defRPr>
            </a:lvl6pPr>
            <a:lvl7pPr>
              <a:defRPr sz="2550" b="0">
                <a:solidFill>
                  <a:srgbClr val="5D6D76"/>
                </a:solidFill>
                <a:latin typeface="Avenir Next"/>
                <a:ea typeface="Avenir Next"/>
                <a:cs typeface="Avenir Next"/>
              </a:defRPr>
            </a:lvl7pPr>
            <a:lvl8pPr>
              <a:defRPr sz="2550" b="0">
                <a:solidFill>
                  <a:srgbClr val="5D6D76"/>
                </a:solidFill>
                <a:latin typeface="Avenir Next"/>
                <a:ea typeface="Avenir Next"/>
                <a:cs typeface="Avenir Next"/>
              </a:defRPr>
            </a:lvl8pPr>
            <a:lvl9pPr>
              <a:defRPr sz="2550" b="0">
                <a:solidFill>
                  <a:srgbClr val="5D6D76"/>
                </a:solidFill>
                <a:latin typeface="Avenir Next"/>
                <a:ea typeface="Avenir Next"/>
                <a:cs typeface="Avenir Next"/>
              </a:defRPr>
            </a:lvl9pPr>
          </a:lstStyle>
          <a:p xmlns:a="http://schemas.openxmlformats.org/drawingml/2006/main">
            <a:pPr>
              <a:defRPr sz="2550" b="0">
                <a:solidFill>
                  <a:srgbClr val="5D6D76"/>
                </a:solidFill>
                <a:latin typeface="Avenir Next"/>
                <a:ea typeface="Avenir Next"/>
                <a:cs typeface="Avenir Next"/>
              </a:defRPr>
            </a:pPr>
            <a:r>
              <a:rPr sz="2550" b="0">
                <a:solidFill>
                  <a:srgbClr val="5D6D76"/>
                </a:solidFill>
                <a:latin typeface="Avenir Next"/>
                <a:ea typeface="Avenir Next"/>
                <a:cs typeface="Avenir Next"/>
              </a:rPr>
              <a:t>heart_disease is the outcome.</a:t>
            </a:r>
          </a:p>
        </p:txBody>
      </p:sp>
      <p:sp>
        <p:nvSpPr>
          <p:cNvPr id="7" name="">
            <a:extLst xmlns:a="http://schemas.openxmlformats.org/drawingml/2006/main">
              <a:ext uri="{FF2B5EF4-FFF2-40B4-BE49-F238E27FC236}">
                <a16:creationId xmlns:a16="http://schemas.microsoft.com/office/drawing/2014/main" id="{0E34998B-5C60-40AE-B838-D37B7F44BD17}"/>
              </a:ext>
            </a:extLst>
          </p:cNvPr>
          <p:cNvSpPr>
            <a:spLocks xmlns:a="http://schemas.openxmlformats.org/drawingml/2006/main" noGrp="1"/>
          </p:cNvSpPr>
          <p:nvPr/>
        </p:nvSpPr>
        <p:spPr>
          <a:xfrm xmlns:a="http://schemas.openxmlformats.org/drawingml/2006/main">
            <a:off x="619125" y="352425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5D6D76"/>
                </a:solidFill>
                <a:latin typeface="Avenir Next"/>
                <a:ea typeface="Avenir Next"/>
                <a:cs typeface="Avenir Next"/>
              </a:defRPr>
            </a:defPPr>
            <a:lvl1pPr>
              <a:defRPr sz="2550" b="0">
                <a:solidFill>
                  <a:srgbClr val="5D6D76"/>
                </a:solidFill>
                <a:latin typeface="Avenir Next"/>
                <a:ea typeface="Avenir Next"/>
                <a:cs typeface="Avenir Next"/>
              </a:defRPr>
            </a:lvl1pPr>
            <a:lvl2pPr>
              <a:defRPr sz="2550" b="0">
                <a:solidFill>
                  <a:srgbClr val="5D6D76"/>
                </a:solidFill>
                <a:latin typeface="Avenir Next"/>
                <a:ea typeface="Avenir Next"/>
                <a:cs typeface="Avenir Next"/>
              </a:defRPr>
            </a:lvl2pPr>
            <a:lvl3pPr>
              <a:defRPr sz="2550" b="0">
                <a:solidFill>
                  <a:srgbClr val="5D6D76"/>
                </a:solidFill>
                <a:latin typeface="Avenir Next"/>
                <a:ea typeface="Avenir Next"/>
                <a:cs typeface="Avenir Next"/>
              </a:defRPr>
            </a:lvl3pPr>
            <a:lvl4pPr>
              <a:defRPr sz="2550" b="0">
                <a:solidFill>
                  <a:srgbClr val="5D6D76"/>
                </a:solidFill>
                <a:latin typeface="Avenir Next"/>
                <a:ea typeface="Avenir Next"/>
                <a:cs typeface="Avenir Next"/>
              </a:defRPr>
            </a:lvl4pPr>
            <a:lvl5pPr>
              <a:defRPr sz="2550" b="0">
                <a:solidFill>
                  <a:srgbClr val="5D6D76"/>
                </a:solidFill>
                <a:latin typeface="Avenir Next"/>
                <a:ea typeface="Avenir Next"/>
                <a:cs typeface="Avenir Next"/>
              </a:defRPr>
            </a:lvl5pPr>
            <a:lvl6pPr>
              <a:defRPr sz="2550" b="0">
                <a:solidFill>
                  <a:srgbClr val="5D6D76"/>
                </a:solidFill>
                <a:latin typeface="Avenir Next"/>
                <a:ea typeface="Avenir Next"/>
                <a:cs typeface="Avenir Next"/>
              </a:defRPr>
            </a:lvl6pPr>
            <a:lvl7pPr>
              <a:defRPr sz="2550" b="0">
                <a:solidFill>
                  <a:srgbClr val="5D6D76"/>
                </a:solidFill>
                <a:latin typeface="Avenir Next"/>
                <a:ea typeface="Avenir Next"/>
                <a:cs typeface="Avenir Next"/>
              </a:defRPr>
            </a:lvl7pPr>
            <a:lvl8pPr>
              <a:defRPr sz="2550" b="0">
                <a:solidFill>
                  <a:srgbClr val="5D6D76"/>
                </a:solidFill>
                <a:latin typeface="Avenir Next"/>
                <a:ea typeface="Avenir Next"/>
                <a:cs typeface="Avenir Next"/>
              </a:defRPr>
            </a:lvl8pPr>
            <a:lvl9pPr>
              <a:defRPr sz="2550" b="0">
                <a:solidFill>
                  <a:srgbClr val="5D6D76"/>
                </a:solidFill>
                <a:latin typeface="Avenir Next"/>
                <a:ea typeface="Avenir Next"/>
                <a:cs typeface="Avenir Next"/>
              </a:defRPr>
            </a:lvl9pPr>
          </a:lstStyle>
          <a:p xmlns:a="http://schemas.openxmlformats.org/drawingml/2006/main">
            <a:pPr>
              <a:defRPr sz="2550" b="0">
                <a:solidFill>
                  <a:srgbClr val="5D6D76"/>
                </a:solidFill>
                <a:latin typeface="Avenir Next"/>
                <a:ea typeface="Avenir Next"/>
                <a:cs typeface="Avenir Next"/>
              </a:defRPr>
            </a:pPr>
            <a:r>
              <a:rPr sz="2550" b="0">
                <a:solidFill>
                  <a:srgbClr val="5D6D76"/>
                </a:solidFill>
                <a:latin typeface="Avenir Next"/>
                <a:ea typeface="Avenir Next"/>
                <a:cs typeface="Avenir Next"/>
              </a:rPr>
              <a:t>“present” is the positive class.</a:t>
            </a:r>
          </a:p>
        </p:txBody>
      </p:sp>
      <p:sp>
        <p:nvSpPr>
          <p:cNvPr id="8" name="">
            <a:extLst xmlns:a="http://schemas.openxmlformats.org/drawingml/2006/main">
              <a:ext uri="{FF2B5EF4-FFF2-40B4-BE49-F238E27FC236}">
                <a16:creationId xmlns:a16="http://schemas.microsoft.com/office/drawing/2014/main" id="{1A7C86C7-D4C2-41A3-BF8E-33E2F899256B}"/>
              </a:ext>
            </a:extLst>
          </p:cNvPr>
          <p:cNvSpPr>
            <a:spLocks xmlns:a="http://schemas.openxmlformats.org/drawingml/2006/main" noGrp="1"/>
          </p:cNvSpPr>
          <p:nvPr/>
        </p:nvSpPr>
        <p:spPr>
          <a:xfrm xmlns:a="http://schemas.openxmlformats.org/drawingml/2006/main">
            <a:off x="619125" y="46672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D8B8B"/>
                </a:solidFill>
                <a:latin typeface="Menlo"/>
                <a:ea typeface="Menlo"/>
                <a:cs typeface="Menlo"/>
              </a:defRPr>
            </a:defPPr>
            <a:lvl1pPr>
              <a:defRPr sz="1725" b="0">
                <a:solidFill>
                  <a:srgbClr val="0D8B8B"/>
                </a:solidFill>
                <a:latin typeface="Menlo"/>
                <a:ea typeface="Menlo"/>
                <a:cs typeface="Menlo"/>
              </a:defRPr>
            </a:lvl1pPr>
            <a:lvl2pPr>
              <a:defRPr sz="1725" b="0">
                <a:solidFill>
                  <a:srgbClr val="0D8B8B"/>
                </a:solidFill>
                <a:latin typeface="Menlo"/>
                <a:ea typeface="Menlo"/>
                <a:cs typeface="Menlo"/>
              </a:defRPr>
            </a:lvl2pPr>
            <a:lvl3pPr>
              <a:defRPr sz="1725" b="0">
                <a:solidFill>
                  <a:srgbClr val="0D8B8B"/>
                </a:solidFill>
                <a:latin typeface="Menlo"/>
                <a:ea typeface="Menlo"/>
                <a:cs typeface="Menlo"/>
              </a:defRPr>
            </a:lvl3pPr>
            <a:lvl4pPr>
              <a:defRPr sz="1725" b="0">
                <a:solidFill>
                  <a:srgbClr val="0D8B8B"/>
                </a:solidFill>
                <a:latin typeface="Menlo"/>
                <a:ea typeface="Menlo"/>
                <a:cs typeface="Menlo"/>
              </a:defRPr>
            </a:lvl4pPr>
            <a:lvl5pPr>
              <a:defRPr sz="1725" b="0">
                <a:solidFill>
                  <a:srgbClr val="0D8B8B"/>
                </a:solidFill>
                <a:latin typeface="Menlo"/>
                <a:ea typeface="Menlo"/>
                <a:cs typeface="Menlo"/>
              </a:defRPr>
            </a:lvl5pPr>
            <a:lvl6pPr>
              <a:defRPr sz="1725" b="0">
                <a:solidFill>
                  <a:srgbClr val="0D8B8B"/>
                </a:solidFill>
                <a:latin typeface="Menlo"/>
                <a:ea typeface="Menlo"/>
                <a:cs typeface="Menlo"/>
              </a:defRPr>
            </a:lvl6pPr>
            <a:lvl7pPr>
              <a:defRPr sz="1725" b="0">
                <a:solidFill>
                  <a:srgbClr val="0D8B8B"/>
                </a:solidFill>
                <a:latin typeface="Menlo"/>
                <a:ea typeface="Menlo"/>
                <a:cs typeface="Menlo"/>
              </a:defRPr>
            </a:lvl7pPr>
            <a:lvl8pPr>
              <a:defRPr sz="1725" b="0">
                <a:solidFill>
                  <a:srgbClr val="0D8B8B"/>
                </a:solidFill>
                <a:latin typeface="Menlo"/>
                <a:ea typeface="Menlo"/>
                <a:cs typeface="Menlo"/>
              </a:defRPr>
            </a:lvl8pPr>
            <a:lvl9pPr>
              <a:defRPr sz="1725" b="0">
                <a:solidFill>
                  <a:srgbClr val="0D8B8B"/>
                </a:solidFill>
                <a:latin typeface="Menlo"/>
                <a:ea typeface="Menlo"/>
                <a:cs typeface="Menlo"/>
              </a:defRPr>
            </a:lvl9pPr>
          </a:lstStyle>
          <a:p xmlns:a="http://schemas.openxmlformats.org/drawingml/2006/main">
            <a:pPr>
              <a:defRPr sz="1725" b="0">
                <a:solidFill>
                  <a:srgbClr val="0D8B8B"/>
                </a:solidFill>
                <a:latin typeface="Menlo"/>
                <a:ea typeface="Menlo"/>
                <a:cs typeface="Menlo"/>
              </a:defRPr>
            </a:pPr>
            <a:r>
              <a:rPr sz="1725" b="0">
                <a:solidFill>
                  <a:srgbClr val="0D8B8B"/>
                </a:solidFill>
                <a:latin typeface="Menlo"/>
                <a:ea typeface="Menlo"/>
                <a:cs typeface="Menlo"/>
              </a:rPr>
              <a:t>target = "heart_disease", positive = "present"</a:t>
            </a:r>
          </a:p>
        </p:txBody>
      </p:sp>
      <p:sp>
        <p:nvSpPr>
          <p:cNvPr id="9" name="">
            <a:extLst xmlns:a="http://schemas.openxmlformats.org/drawingml/2006/main">
              <a:ext uri="{FF2B5EF4-FFF2-40B4-BE49-F238E27FC236}">
                <a16:creationId xmlns:a16="http://schemas.microsoft.com/office/drawing/2014/main" id="{A367C38B-816D-4FB4-AA1C-75F3FCC75008}"/>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We classify existing disease. This example does not predict future cardiovascular risk.</a:t>
            </a:r>
          </a:p>
        </p:txBody>
      </p:sp>
    </p:spTree>
    <p:extLst>
      <p:ext uri="{BB962C8B-B14F-4D97-AF65-F5344CB8AC3E}">
        <p14:creationId xmlns:p14="http://schemas.microsoft.com/office/powerpoint/2010/main" val="12909989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5EC9DD-3C6F-436B-B532-B72850E8E8A7}"/>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05</a:t>
            </a:r>
          </a:p>
        </p:txBody>
      </p:sp>
      <p:sp>
        <p:nvSpPr>
          <p:cNvPr id="2" name="">
            <a:extLst xmlns:a="http://schemas.openxmlformats.org/drawingml/2006/main">
              <a:ext uri="{FF2B5EF4-FFF2-40B4-BE49-F238E27FC236}">
                <a16:creationId xmlns:a16="http://schemas.microsoft.com/office/drawing/2014/main" id="{9D9F7405-269A-44B6-8376-6B5EEA1759EF}"/>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How a classification tree splits patients</a:t>
            </a:r>
          </a:p>
        </p:txBody>
      </p:sp>
      <p:sp>
        <p:nvSpPr>
          <p:cNvPr id="3" name="">
            <a:extLst xmlns:a="http://schemas.openxmlformats.org/drawingml/2006/main">
              <a:ext uri="{FF2B5EF4-FFF2-40B4-BE49-F238E27FC236}">
                <a16:creationId xmlns:a16="http://schemas.microsoft.com/office/drawing/2014/main" id="{E671E798-26B0-486C-9044-27F3DE6B0D36}"/>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CB038C7-8A3E-42D6-B98C-018F490A3DAD}"/>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7D8C067C-D5E7-4715-8B0E-CEEC6D005F5C}"/>
              </a:ext>
            </a:extLst>
          </p:cNvPr>
          <p:cNvPicPr>
            <a:picLocks xmlns:a="http://schemas.openxmlformats.org/drawingml/2006/main" noChangeAspect="1"/>
          </p:cNvPicPr>
          <p:nvPr/>
        </p:nvPicPr>
        <p:blipFill>
          <a:blip xmlns:r="http://schemas.openxmlformats.org/officeDocument/2006/relationships" xmlns:a="http://schemas.openxmlformats.org/drawingml/2006/main" r:embed="Rf23e226664104fdc"/>
          <a:stretch xmlns:a="http://schemas.openxmlformats.org/drawingml/2006/main"/>
        </p:blipFill>
        <p:spPr>
          <a:xfrm xmlns:a="http://schemas.openxmlformats.org/drawingml/2006/main">
            <a:off x="1357313" y="1143000"/>
            <a:ext cx="64293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4649337-C346-462E-B0DD-3E214AEF1992}"/>
              </a:ext>
            </a:extLst>
          </p:cNvPr>
          <p:cNvSpPr>
            <a:spLocks xmlns:a="http://schemas.openxmlformats.org/drawingml/2006/main" noGrp="1"/>
          </p:cNvSpPr>
          <p:nvPr/>
        </p:nvSpPr>
        <p:spPr>
          <a:xfrm xmlns:a="http://schemas.openxmlformats.org/drawingml/2006/main">
            <a:off x="8763000" y="1524000"/>
            <a:ext cx="285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D6D76"/>
                </a:solidFill>
                <a:latin typeface="Avenir Next"/>
                <a:ea typeface="Avenir Next"/>
                <a:cs typeface="Avenir Next"/>
              </a:defRPr>
            </a:defPPr>
            <a:lvl1pPr>
              <a:defRPr sz="1800" b="0">
                <a:solidFill>
                  <a:srgbClr val="5D6D76"/>
                </a:solidFill>
                <a:latin typeface="Avenir Next"/>
                <a:ea typeface="Avenir Next"/>
                <a:cs typeface="Avenir Next"/>
              </a:defRPr>
            </a:lvl1pPr>
            <a:lvl2pPr>
              <a:defRPr sz="1800" b="0">
                <a:solidFill>
                  <a:srgbClr val="5D6D76"/>
                </a:solidFill>
                <a:latin typeface="Avenir Next"/>
                <a:ea typeface="Avenir Next"/>
                <a:cs typeface="Avenir Next"/>
              </a:defRPr>
            </a:lvl2pPr>
            <a:lvl3pPr>
              <a:defRPr sz="1800" b="0">
                <a:solidFill>
                  <a:srgbClr val="5D6D76"/>
                </a:solidFill>
                <a:latin typeface="Avenir Next"/>
                <a:ea typeface="Avenir Next"/>
                <a:cs typeface="Avenir Next"/>
              </a:defRPr>
            </a:lvl3pPr>
            <a:lvl4pPr>
              <a:defRPr sz="1800" b="0">
                <a:solidFill>
                  <a:srgbClr val="5D6D76"/>
                </a:solidFill>
                <a:latin typeface="Avenir Next"/>
                <a:ea typeface="Avenir Next"/>
                <a:cs typeface="Avenir Next"/>
              </a:defRPr>
            </a:lvl4pPr>
            <a:lvl5pPr>
              <a:defRPr sz="1800" b="0">
                <a:solidFill>
                  <a:srgbClr val="5D6D76"/>
                </a:solidFill>
                <a:latin typeface="Avenir Next"/>
                <a:ea typeface="Avenir Next"/>
                <a:cs typeface="Avenir Next"/>
              </a:defRPr>
            </a:lvl5pPr>
            <a:lvl6pPr>
              <a:defRPr sz="1800" b="0">
                <a:solidFill>
                  <a:srgbClr val="5D6D76"/>
                </a:solidFill>
                <a:latin typeface="Avenir Next"/>
                <a:ea typeface="Avenir Next"/>
                <a:cs typeface="Avenir Next"/>
              </a:defRPr>
            </a:lvl6pPr>
            <a:lvl7pPr>
              <a:defRPr sz="1800" b="0">
                <a:solidFill>
                  <a:srgbClr val="5D6D76"/>
                </a:solidFill>
                <a:latin typeface="Avenir Next"/>
                <a:ea typeface="Avenir Next"/>
                <a:cs typeface="Avenir Next"/>
              </a:defRPr>
            </a:lvl7pPr>
            <a:lvl8pPr>
              <a:defRPr sz="1800" b="0">
                <a:solidFill>
                  <a:srgbClr val="5D6D76"/>
                </a:solidFill>
                <a:latin typeface="Avenir Next"/>
                <a:ea typeface="Avenir Next"/>
                <a:cs typeface="Avenir Next"/>
              </a:defRPr>
            </a:lvl8pPr>
            <a:lvl9pPr>
              <a:defRPr sz="1800" b="0">
                <a:solidFill>
                  <a:srgbClr val="5D6D76"/>
                </a:solidFill>
                <a:latin typeface="Avenir Next"/>
                <a:ea typeface="Avenir Next"/>
                <a:cs typeface="Avenir Next"/>
              </a:defRPr>
            </a:lvl9pPr>
          </a:lstStyle>
          <a:p xmlns:a="http://schemas.openxmlformats.org/drawingml/2006/main">
            <a:pPr>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A split asks a question</a:t>
            </a:r>
          </a:p>
          <a:p xmlns:a="http://schemas.openxmlformats.org/drawingml/2006/main">
            <a:pPr>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about one predictor.</a:t>
            </a:r>
          </a:p>
        </p:txBody>
      </p:sp>
      <p:sp>
        <p:nvSpPr>
          <p:cNvPr id="7" name="">
            <a:extLst xmlns:a="http://schemas.openxmlformats.org/drawingml/2006/main">
              <a:ext uri="{FF2B5EF4-FFF2-40B4-BE49-F238E27FC236}">
                <a16:creationId xmlns:a16="http://schemas.microsoft.com/office/drawing/2014/main" id="{DBBE1D61-BF31-415D-9AF6-A381A330E14E}"/>
              </a:ext>
            </a:extLst>
          </p:cNvPr>
          <p:cNvSpPr>
            <a:spLocks xmlns:a="http://schemas.openxmlformats.org/drawingml/2006/main" noGrp="1"/>
          </p:cNvSpPr>
          <p:nvPr/>
        </p:nvSpPr>
        <p:spPr>
          <a:xfrm xmlns:a="http://schemas.openxmlformats.org/drawingml/2006/main">
            <a:off x="8763000" y="2714625"/>
            <a:ext cx="285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D6D76"/>
                </a:solidFill>
                <a:latin typeface="Avenir Next"/>
                <a:ea typeface="Avenir Next"/>
                <a:cs typeface="Avenir Next"/>
              </a:defRPr>
            </a:defPPr>
            <a:lvl1pPr>
              <a:defRPr sz="1800" b="0">
                <a:solidFill>
                  <a:srgbClr val="5D6D76"/>
                </a:solidFill>
                <a:latin typeface="Avenir Next"/>
                <a:ea typeface="Avenir Next"/>
                <a:cs typeface="Avenir Next"/>
              </a:defRPr>
            </a:lvl1pPr>
            <a:lvl2pPr>
              <a:defRPr sz="1800" b="0">
                <a:solidFill>
                  <a:srgbClr val="5D6D76"/>
                </a:solidFill>
                <a:latin typeface="Avenir Next"/>
                <a:ea typeface="Avenir Next"/>
                <a:cs typeface="Avenir Next"/>
              </a:defRPr>
            </a:lvl2pPr>
            <a:lvl3pPr>
              <a:defRPr sz="1800" b="0">
                <a:solidFill>
                  <a:srgbClr val="5D6D76"/>
                </a:solidFill>
                <a:latin typeface="Avenir Next"/>
                <a:ea typeface="Avenir Next"/>
                <a:cs typeface="Avenir Next"/>
              </a:defRPr>
            </a:lvl3pPr>
            <a:lvl4pPr>
              <a:defRPr sz="1800" b="0">
                <a:solidFill>
                  <a:srgbClr val="5D6D76"/>
                </a:solidFill>
                <a:latin typeface="Avenir Next"/>
                <a:ea typeface="Avenir Next"/>
                <a:cs typeface="Avenir Next"/>
              </a:defRPr>
            </a:lvl4pPr>
            <a:lvl5pPr>
              <a:defRPr sz="1800" b="0">
                <a:solidFill>
                  <a:srgbClr val="5D6D76"/>
                </a:solidFill>
                <a:latin typeface="Avenir Next"/>
                <a:ea typeface="Avenir Next"/>
                <a:cs typeface="Avenir Next"/>
              </a:defRPr>
            </a:lvl5pPr>
            <a:lvl6pPr>
              <a:defRPr sz="1800" b="0">
                <a:solidFill>
                  <a:srgbClr val="5D6D76"/>
                </a:solidFill>
                <a:latin typeface="Avenir Next"/>
                <a:ea typeface="Avenir Next"/>
                <a:cs typeface="Avenir Next"/>
              </a:defRPr>
            </a:lvl6pPr>
            <a:lvl7pPr>
              <a:defRPr sz="1800" b="0">
                <a:solidFill>
                  <a:srgbClr val="5D6D76"/>
                </a:solidFill>
                <a:latin typeface="Avenir Next"/>
                <a:ea typeface="Avenir Next"/>
                <a:cs typeface="Avenir Next"/>
              </a:defRPr>
            </a:lvl7pPr>
            <a:lvl8pPr>
              <a:defRPr sz="1800" b="0">
                <a:solidFill>
                  <a:srgbClr val="5D6D76"/>
                </a:solidFill>
                <a:latin typeface="Avenir Next"/>
                <a:ea typeface="Avenir Next"/>
                <a:cs typeface="Avenir Next"/>
              </a:defRPr>
            </a:lvl8pPr>
            <a:lvl9pPr>
              <a:defRPr sz="1800" b="0">
                <a:solidFill>
                  <a:srgbClr val="5D6D76"/>
                </a:solidFill>
                <a:latin typeface="Avenir Next"/>
                <a:ea typeface="Avenir Next"/>
                <a:cs typeface="Avenir Next"/>
              </a:defRPr>
            </a:lvl9pPr>
          </a:lstStyle>
          <a:p xmlns:a="http://schemas.openxmlformats.org/drawingml/2006/main">
            <a:pPr>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Follow a branch until</a:t>
            </a:r>
          </a:p>
          <a:p xmlns:a="http://schemas.openxmlformats.org/drawingml/2006/main">
            <a:pPr>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you reach a leaf.</a:t>
            </a:r>
          </a:p>
        </p:txBody>
      </p:sp>
      <p:sp>
        <p:nvSpPr>
          <p:cNvPr id="8" name="">
            <a:extLst xmlns:a="http://schemas.openxmlformats.org/drawingml/2006/main">
              <a:ext uri="{FF2B5EF4-FFF2-40B4-BE49-F238E27FC236}">
                <a16:creationId xmlns:a16="http://schemas.microsoft.com/office/drawing/2014/main" id="{3BE59795-4345-4E13-A06E-2C62C26AF736}"/>
              </a:ext>
            </a:extLst>
          </p:cNvPr>
          <p:cNvSpPr>
            <a:spLocks xmlns:a="http://schemas.openxmlformats.org/drawingml/2006/main" noGrp="1"/>
          </p:cNvSpPr>
          <p:nvPr/>
        </p:nvSpPr>
        <p:spPr>
          <a:xfrm xmlns:a="http://schemas.openxmlformats.org/drawingml/2006/main">
            <a:off x="8763000" y="3905250"/>
            <a:ext cx="285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D6D76"/>
                </a:solidFill>
                <a:latin typeface="Avenir Next"/>
                <a:ea typeface="Avenir Next"/>
                <a:cs typeface="Avenir Next"/>
              </a:defRPr>
            </a:defPPr>
            <a:lvl1pPr>
              <a:defRPr sz="1800" b="0">
                <a:solidFill>
                  <a:srgbClr val="5D6D76"/>
                </a:solidFill>
                <a:latin typeface="Avenir Next"/>
                <a:ea typeface="Avenir Next"/>
                <a:cs typeface="Avenir Next"/>
              </a:defRPr>
            </a:lvl1pPr>
            <a:lvl2pPr>
              <a:defRPr sz="1800" b="0">
                <a:solidFill>
                  <a:srgbClr val="5D6D76"/>
                </a:solidFill>
                <a:latin typeface="Avenir Next"/>
                <a:ea typeface="Avenir Next"/>
                <a:cs typeface="Avenir Next"/>
              </a:defRPr>
            </a:lvl2pPr>
            <a:lvl3pPr>
              <a:defRPr sz="1800" b="0">
                <a:solidFill>
                  <a:srgbClr val="5D6D76"/>
                </a:solidFill>
                <a:latin typeface="Avenir Next"/>
                <a:ea typeface="Avenir Next"/>
                <a:cs typeface="Avenir Next"/>
              </a:defRPr>
            </a:lvl3pPr>
            <a:lvl4pPr>
              <a:defRPr sz="1800" b="0">
                <a:solidFill>
                  <a:srgbClr val="5D6D76"/>
                </a:solidFill>
                <a:latin typeface="Avenir Next"/>
                <a:ea typeface="Avenir Next"/>
                <a:cs typeface="Avenir Next"/>
              </a:defRPr>
            </a:lvl4pPr>
            <a:lvl5pPr>
              <a:defRPr sz="1800" b="0">
                <a:solidFill>
                  <a:srgbClr val="5D6D76"/>
                </a:solidFill>
                <a:latin typeface="Avenir Next"/>
                <a:ea typeface="Avenir Next"/>
                <a:cs typeface="Avenir Next"/>
              </a:defRPr>
            </a:lvl5pPr>
            <a:lvl6pPr>
              <a:defRPr sz="1800" b="0">
                <a:solidFill>
                  <a:srgbClr val="5D6D76"/>
                </a:solidFill>
                <a:latin typeface="Avenir Next"/>
                <a:ea typeface="Avenir Next"/>
                <a:cs typeface="Avenir Next"/>
              </a:defRPr>
            </a:lvl6pPr>
            <a:lvl7pPr>
              <a:defRPr sz="1800" b="0">
                <a:solidFill>
                  <a:srgbClr val="5D6D76"/>
                </a:solidFill>
                <a:latin typeface="Avenir Next"/>
                <a:ea typeface="Avenir Next"/>
                <a:cs typeface="Avenir Next"/>
              </a:defRPr>
            </a:lvl7pPr>
            <a:lvl8pPr>
              <a:defRPr sz="1800" b="0">
                <a:solidFill>
                  <a:srgbClr val="5D6D76"/>
                </a:solidFill>
                <a:latin typeface="Avenir Next"/>
                <a:ea typeface="Avenir Next"/>
                <a:cs typeface="Avenir Next"/>
              </a:defRPr>
            </a:lvl8pPr>
            <a:lvl9pPr>
              <a:defRPr sz="1800" b="0">
                <a:solidFill>
                  <a:srgbClr val="5D6D76"/>
                </a:solidFill>
                <a:latin typeface="Avenir Next"/>
                <a:ea typeface="Avenir Next"/>
                <a:cs typeface="Avenir Next"/>
              </a:defRPr>
            </a:lvl9pPr>
          </a:lstStyle>
          <a:p xmlns:a="http://schemas.openxmlformats.org/drawingml/2006/main">
            <a:pPr>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A leaf gives a class</a:t>
            </a:r>
          </a:p>
          <a:p xmlns:a="http://schemas.openxmlformats.org/drawingml/2006/main">
            <a:pPr>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and fitted proportions.</a:t>
            </a:r>
          </a:p>
        </p:txBody>
      </p:sp>
      <p:sp>
        <p:nvSpPr>
          <p:cNvPr id="9" name="">
            <a:extLst xmlns:a="http://schemas.openxmlformats.org/drawingml/2006/main">
              <a:ext uri="{FF2B5EF4-FFF2-40B4-BE49-F238E27FC236}">
                <a16:creationId xmlns:a16="http://schemas.microsoft.com/office/drawing/2014/main" id="{5AE3C723-0A2A-4394-BEBC-C66ED3AAD2D0}"/>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Default tree: fitted on all 270 patients to illustrate learning.</a:t>
            </a:r>
          </a:p>
        </p:txBody>
      </p:sp>
    </p:spTree>
    <p:extLst>
      <p:ext uri="{BB962C8B-B14F-4D97-AF65-F5344CB8AC3E}">
        <p14:creationId xmlns:p14="http://schemas.microsoft.com/office/powerpoint/2010/main" val="1871392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234B61-D690-4303-828D-5D161DFC26C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06</a:t>
            </a:r>
          </a:p>
        </p:txBody>
      </p:sp>
      <p:sp>
        <p:nvSpPr>
          <p:cNvPr id="2" name="">
            <a:extLst xmlns:a="http://schemas.openxmlformats.org/drawingml/2006/main">
              <a:ext uri="{FF2B5EF4-FFF2-40B4-BE49-F238E27FC236}">
                <a16:creationId xmlns:a16="http://schemas.microsoft.com/office/drawing/2014/main" id="{3D004A99-496C-4B87-AF44-E4D1E4CBF6B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Deep and pruned trees</a:t>
            </a:r>
          </a:p>
        </p:txBody>
      </p:sp>
      <p:sp>
        <p:nvSpPr>
          <p:cNvPr id="3" name="">
            <a:extLst xmlns:a="http://schemas.openxmlformats.org/drawingml/2006/main">
              <a:ext uri="{FF2B5EF4-FFF2-40B4-BE49-F238E27FC236}">
                <a16:creationId xmlns:a16="http://schemas.microsoft.com/office/drawing/2014/main" id="{BA71C13E-74B8-4539-8E9D-B5EE749B604A}"/>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B2C69F9-D0B8-4873-AAED-763008FB0BB2}"/>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F7FF54CE-FC16-4C22-9219-39DDC423F8E7}"/>
              </a:ext>
            </a:extLst>
          </p:cNvPr>
          <p:cNvPicPr>
            <a:picLocks xmlns:a="http://schemas.openxmlformats.org/drawingml/2006/main" noChangeAspect="1"/>
          </p:cNvPicPr>
          <p:nvPr/>
        </p:nvPicPr>
        <p:blipFill>
          <a:blip xmlns:r="http://schemas.openxmlformats.org/officeDocument/2006/relationships" xmlns:a="http://schemas.openxmlformats.org/drawingml/2006/main" r:embed="R7ccb0f43fbc04348"/>
          <a:stretch xmlns:a="http://schemas.openxmlformats.org/drawingml/2006/main"/>
        </p:blipFill>
        <p:spPr>
          <a:xfrm xmlns:a="http://schemas.openxmlformats.org/drawingml/2006/main">
            <a:off x="476250" y="1579563"/>
            <a:ext cx="5429250" cy="33178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26BD94F-6C23-4E4E-A54B-85AC5F4EA400}"/>
              </a:ext>
            </a:extLst>
          </p:cNvPr>
          <p:cNvPicPr>
            <a:picLocks xmlns:a="http://schemas.openxmlformats.org/drawingml/2006/main" noChangeAspect="1"/>
          </p:cNvPicPr>
          <p:nvPr/>
        </p:nvPicPr>
        <p:blipFill>
          <a:blip xmlns:r="http://schemas.openxmlformats.org/officeDocument/2006/relationships" xmlns:a="http://schemas.openxmlformats.org/drawingml/2006/main" r:embed="Rdadf4236132f4c3d"/>
          <a:stretch xmlns:a="http://schemas.openxmlformats.org/drawingml/2006/main"/>
        </p:blipFill>
        <p:spPr>
          <a:xfrm xmlns:a="http://schemas.openxmlformats.org/drawingml/2006/main">
            <a:off x="6286500" y="1428750"/>
            <a:ext cx="5429250" cy="3619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A73994E-7FD3-4D80-8380-21D17944A069}"/>
              </a:ext>
            </a:extLst>
          </p:cNvPr>
          <p:cNvSpPr>
            <a:spLocks xmlns:a="http://schemas.openxmlformats.org/drawingml/2006/main" noGrp="1"/>
          </p:cNvSpPr>
          <p:nvPr/>
        </p:nvSpPr>
        <p:spPr>
          <a:xfrm xmlns:a="http://schemas.openxmlformats.org/drawingml/2006/main">
            <a:off x="619125" y="10477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D8B8B"/>
                </a:solidFill>
                <a:latin typeface="Avenir Next"/>
                <a:ea typeface="Avenir Next"/>
                <a:cs typeface="Avenir Next"/>
              </a:defRPr>
            </a:defPPr>
            <a:lvl1pPr>
              <a:defRPr sz="1875" b="1">
                <a:solidFill>
                  <a:srgbClr val="0D8B8B"/>
                </a:solidFill>
                <a:latin typeface="Avenir Next"/>
                <a:ea typeface="Avenir Next"/>
                <a:cs typeface="Avenir Next"/>
              </a:defRPr>
            </a:lvl1pPr>
            <a:lvl2pPr>
              <a:defRPr sz="1875" b="1">
                <a:solidFill>
                  <a:srgbClr val="0D8B8B"/>
                </a:solidFill>
                <a:latin typeface="Avenir Next"/>
                <a:ea typeface="Avenir Next"/>
                <a:cs typeface="Avenir Next"/>
              </a:defRPr>
            </a:lvl2pPr>
            <a:lvl3pPr>
              <a:defRPr sz="1875" b="1">
                <a:solidFill>
                  <a:srgbClr val="0D8B8B"/>
                </a:solidFill>
                <a:latin typeface="Avenir Next"/>
                <a:ea typeface="Avenir Next"/>
                <a:cs typeface="Avenir Next"/>
              </a:defRPr>
            </a:lvl3pPr>
            <a:lvl4pPr>
              <a:defRPr sz="1875" b="1">
                <a:solidFill>
                  <a:srgbClr val="0D8B8B"/>
                </a:solidFill>
                <a:latin typeface="Avenir Next"/>
                <a:ea typeface="Avenir Next"/>
                <a:cs typeface="Avenir Next"/>
              </a:defRPr>
            </a:lvl4pPr>
            <a:lvl5pPr>
              <a:defRPr sz="1875" b="1">
                <a:solidFill>
                  <a:srgbClr val="0D8B8B"/>
                </a:solidFill>
                <a:latin typeface="Avenir Next"/>
                <a:ea typeface="Avenir Next"/>
                <a:cs typeface="Avenir Next"/>
              </a:defRPr>
            </a:lvl5pPr>
            <a:lvl6pPr>
              <a:defRPr sz="1875" b="1">
                <a:solidFill>
                  <a:srgbClr val="0D8B8B"/>
                </a:solidFill>
                <a:latin typeface="Avenir Next"/>
                <a:ea typeface="Avenir Next"/>
                <a:cs typeface="Avenir Next"/>
              </a:defRPr>
            </a:lvl6pPr>
            <a:lvl7pPr>
              <a:defRPr sz="1875" b="1">
                <a:solidFill>
                  <a:srgbClr val="0D8B8B"/>
                </a:solidFill>
                <a:latin typeface="Avenir Next"/>
                <a:ea typeface="Avenir Next"/>
                <a:cs typeface="Avenir Next"/>
              </a:defRPr>
            </a:lvl7pPr>
            <a:lvl8pPr>
              <a:defRPr sz="1875" b="1">
                <a:solidFill>
                  <a:srgbClr val="0D8B8B"/>
                </a:solidFill>
                <a:latin typeface="Avenir Next"/>
                <a:ea typeface="Avenir Next"/>
                <a:cs typeface="Avenir Next"/>
              </a:defRPr>
            </a:lvl8pPr>
            <a:lvl9pPr>
              <a:defRPr sz="1875" b="1">
                <a:solidFill>
                  <a:srgbClr val="0D8B8B"/>
                </a:solidFill>
                <a:latin typeface="Avenir Next"/>
                <a:ea typeface="Avenir Next"/>
                <a:cs typeface="Avenir Next"/>
              </a:defRPr>
            </a:lvl9pPr>
          </a:lstStyle>
          <a:p xmlns:a="http://schemas.openxmlformats.org/drawingml/2006/main">
            <a:pPr>
              <a:defRPr sz="1875" b="1">
                <a:solidFill>
                  <a:srgbClr val="0D8B8B"/>
                </a:solidFill>
                <a:latin typeface="Avenir Next"/>
                <a:ea typeface="Avenir Next"/>
                <a:cs typeface="Avenir Next"/>
              </a:defRPr>
            </a:pPr>
            <a:r>
              <a:rPr sz="1875" b="1">
                <a:solidFill>
                  <a:srgbClr val="0D8B8B"/>
                </a:solidFill>
                <a:latin typeface="Avenir Next"/>
                <a:ea typeface="Avenir Next"/>
                <a:cs typeface="Avenir Next"/>
              </a:rPr>
              <a:t>Deep tree: minsplit = 2</a:t>
            </a:r>
          </a:p>
        </p:txBody>
      </p:sp>
      <p:sp>
        <p:nvSpPr>
          <p:cNvPr id="8" name="">
            <a:extLst xmlns:a="http://schemas.openxmlformats.org/drawingml/2006/main">
              <a:ext uri="{FF2B5EF4-FFF2-40B4-BE49-F238E27FC236}">
                <a16:creationId xmlns:a16="http://schemas.microsoft.com/office/drawing/2014/main" id="{BC029C62-D993-402A-BB6C-7E4EE2CC119E}"/>
              </a:ext>
            </a:extLst>
          </p:cNvPr>
          <p:cNvSpPr>
            <a:spLocks xmlns:a="http://schemas.openxmlformats.org/drawingml/2006/main" noGrp="1"/>
          </p:cNvSpPr>
          <p:nvPr/>
        </p:nvSpPr>
        <p:spPr>
          <a:xfrm xmlns:a="http://schemas.openxmlformats.org/drawingml/2006/main">
            <a:off x="6429375" y="10477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D8B8B"/>
                </a:solidFill>
                <a:latin typeface="Avenir Next"/>
                <a:ea typeface="Avenir Next"/>
                <a:cs typeface="Avenir Next"/>
              </a:defRPr>
            </a:defPPr>
            <a:lvl1pPr>
              <a:defRPr sz="1875" b="1">
                <a:solidFill>
                  <a:srgbClr val="0D8B8B"/>
                </a:solidFill>
                <a:latin typeface="Avenir Next"/>
                <a:ea typeface="Avenir Next"/>
                <a:cs typeface="Avenir Next"/>
              </a:defRPr>
            </a:lvl1pPr>
            <a:lvl2pPr>
              <a:defRPr sz="1875" b="1">
                <a:solidFill>
                  <a:srgbClr val="0D8B8B"/>
                </a:solidFill>
                <a:latin typeface="Avenir Next"/>
                <a:ea typeface="Avenir Next"/>
                <a:cs typeface="Avenir Next"/>
              </a:defRPr>
            </a:lvl2pPr>
            <a:lvl3pPr>
              <a:defRPr sz="1875" b="1">
                <a:solidFill>
                  <a:srgbClr val="0D8B8B"/>
                </a:solidFill>
                <a:latin typeface="Avenir Next"/>
                <a:ea typeface="Avenir Next"/>
                <a:cs typeface="Avenir Next"/>
              </a:defRPr>
            </a:lvl3pPr>
            <a:lvl4pPr>
              <a:defRPr sz="1875" b="1">
                <a:solidFill>
                  <a:srgbClr val="0D8B8B"/>
                </a:solidFill>
                <a:latin typeface="Avenir Next"/>
                <a:ea typeface="Avenir Next"/>
                <a:cs typeface="Avenir Next"/>
              </a:defRPr>
            </a:lvl4pPr>
            <a:lvl5pPr>
              <a:defRPr sz="1875" b="1">
                <a:solidFill>
                  <a:srgbClr val="0D8B8B"/>
                </a:solidFill>
                <a:latin typeface="Avenir Next"/>
                <a:ea typeface="Avenir Next"/>
                <a:cs typeface="Avenir Next"/>
              </a:defRPr>
            </a:lvl5pPr>
            <a:lvl6pPr>
              <a:defRPr sz="1875" b="1">
                <a:solidFill>
                  <a:srgbClr val="0D8B8B"/>
                </a:solidFill>
                <a:latin typeface="Avenir Next"/>
                <a:ea typeface="Avenir Next"/>
                <a:cs typeface="Avenir Next"/>
              </a:defRPr>
            </a:lvl6pPr>
            <a:lvl7pPr>
              <a:defRPr sz="1875" b="1">
                <a:solidFill>
                  <a:srgbClr val="0D8B8B"/>
                </a:solidFill>
                <a:latin typeface="Avenir Next"/>
                <a:ea typeface="Avenir Next"/>
                <a:cs typeface="Avenir Next"/>
              </a:defRPr>
            </a:lvl7pPr>
            <a:lvl8pPr>
              <a:defRPr sz="1875" b="1">
                <a:solidFill>
                  <a:srgbClr val="0D8B8B"/>
                </a:solidFill>
                <a:latin typeface="Avenir Next"/>
                <a:ea typeface="Avenir Next"/>
                <a:cs typeface="Avenir Next"/>
              </a:defRPr>
            </a:lvl8pPr>
            <a:lvl9pPr>
              <a:defRPr sz="1875" b="1">
                <a:solidFill>
                  <a:srgbClr val="0D8B8B"/>
                </a:solidFill>
                <a:latin typeface="Avenir Next"/>
                <a:ea typeface="Avenir Next"/>
                <a:cs typeface="Avenir Next"/>
              </a:defRPr>
            </a:lvl9pPr>
          </a:lstStyle>
          <a:p xmlns:a="http://schemas.openxmlformats.org/drawingml/2006/main">
            <a:pPr>
              <a:defRPr sz="1875" b="1">
                <a:solidFill>
                  <a:srgbClr val="0D8B8B"/>
                </a:solidFill>
                <a:latin typeface="Avenir Next"/>
                <a:ea typeface="Avenir Next"/>
                <a:cs typeface="Avenir Next"/>
              </a:defRPr>
            </a:pPr>
            <a:r>
              <a:rPr sz="1875" b="1">
                <a:solidFill>
                  <a:srgbClr val="0D8B8B"/>
                </a:solidFill>
                <a:latin typeface="Avenir Next"/>
                <a:ea typeface="Avenir Next"/>
                <a:cs typeface="Avenir Next"/>
              </a:rPr>
              <a:t>Pruned tree: cp = 0.031</a:t>
            </a:r>
          </a:p>
        </p:txBody>
      </p:sp>
      <p:sp>
        <p:nvSpPr>
          <p:cNvPr id="9" name="">
            <a:extLst xmlns:a="http://schemas.openxmlformats.org/drawingml/2006/main">
              <a:ext uri="{FF2B5EF4-FFF2-40B4-BE49-F238E27FC236}">
                <a16:creationId xmlns:a16="http://schemas.microsoft.com/office/drawing/2014/main" id="{025D8258-2C42-432B-BC6A-1B85B5F5339E}"/>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Compare both with the default tree. More branches can fit details of this sample.</a:t>
            </a:r>
          </a:p>
        </p:txBody>
      </p:sp>
    </p:spTree>
    <p:extLst>
      <p:ext uri="{BB962C8B-B14F-4D97-AF65-F5344CB8AC3E}">
        <p14:creationId xmlns:p14="http://schemas.microsoft.com/office/powerpoint/2010/main" val="16153122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E606F8-1EDB-4956-B2A8-D87C7C284DE9}"/>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07</a:t>
            </a:r>
          </a:p>
        </p:txBody>
      </p:sp>
      <p:sp>
        <p:nvSpPr>
          <p:cNvPr id="2" name="">
            <a:extLst xmlns:a="http://schemas.openxmlformats.org/drawingml/2006/main">
              <a:ext uri="{FF2B5EF4-FFF2-40B4-BE49-F238E27FC236}">
                <a16:creationId xmlns:a16="http://schemas.microsoft.com/office/drawing/2014/main" id="{40776FA4-3183-49FA-B1E4-17513CF942B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Overfitting and pruning</a:t>
            </a:r>
          </a:p>
        </p:txBody>
      </p:sp>
      <p:sp>
        <p:nvSpPr>
          <p:cNvPr id="3" name="">
            <a:extLst xmlns:a="http://schemas.openxmlformats.org/drawingml/2006/main">
              <a:ext uri="{FF2B5EF4-FFF2-40B4-BE49-F238E27FC236}">
                <a16:creationId xmlns:a16="http://schemas.microsoft.com/office/drawing/2014/main" id="{AC6B94F6-E410-4C98-AD0C-47630FF3D836}"/>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B2DB29B-411C-4267-8A91-56687558CACE}"/>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50DB5D59-F0BF-456B-BD1E-F6103B2CFD47}"/>
              </a:ext>
            </a:extLst>
          </p:cNvPr>
          <p:cNvPicPr>
            <a:picLocks xmlns:a="http://schemas.openxmlformats.org/drawingml/2006/main" noChangeAspect="1"/>
          </p:cNvPicPr>
          <p:nvPr/>
        </p:nvPicPr>
        <p:blipFill>
          <a:blip xmlns:r="http://schemas.openxmlformats.org/officeDocument/2006/relationships" xmlns:a="http://schemas.openxmlformats.org/drawingml/2006/main" r:embed="R86c90772bf804efa"/>
          <a:stretch xmlns:a="http://schemas.openxmlformats.org/drawingml/2006/main"/>
        </p:blipFill>
        <p:spPr>
          <a:xfrm xmlns:a="http://schemas.openxmlformats.org/drawingml/2006/main">
            <a:off x="1412875" y="1238250"/>
            <a:ext cx="5461000"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0281B5-3358-4459-96C0-D2C47C4FF692}"/>
              </a:ext>
            </a:extLst>
          </p:cNvPr>
          <p:cNvSpPr>
            <a:spLocks xmlns:a="http://schemas.openxmlformats.org/drawingml/2006/main" noGrp="1"/>
          </p:cNvSpPr>
          <p:nvPr/>
        </p:nvSpPr>
        <p:spPr>
          <a:xfrm xmlns:a="http://schemas.openxmlformats.org/drawingml/2006/main">
            <a:off x="8096250" y="1476375"/>
            <a:ext cx="352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defRPr sz="1875" b="0">
                <a:solidFill>
                  <a:srgbClr val="5D6D76"/>
                </a:solidFill>
                <a:latin typeface="Avenir Next"/>
                <a:ea typeface="Avenir Next"/>
                <a:cs typeface="Avenir Next"/>
              </a:defRPr>
            </a:lvl1pPr>
            <a:lvl2pPr>
              <a:defRPr sz="1875" b="0">
                <a:solidFill>
                  <a:srgbClr val="5D6D76"/>
                </a:solidFill>
                <a:latin typeface="Avenir Next"/>
                <a:ea typeface="Avenir Next"/>
                <a:cs typeface="Avenir Next"/>
              </a:defRPr>
            </a:lvl2pPr>
            <a:lvl3pPr>
              <a:defRPr sz="1875" b="0">
                <a:solidFill>
                  <a:srgbClr val="5D6D76"/>
                </a:solidFill>
                <a:latin typeface="Avenir Next"/>
                <a:ea typeface="Avenir Next"/>
                <a:cs typeface="Avenir Next"/>
              </a:defRPr>
            </a:lvl3pPr>
            <a:lvl4pPr>
              <a:defRPr sz="1875" b="0">
                <a:solidFill>
                  <a:srgbClr val="5D6D76"/>
                </a:solidFill>
                <a:latin typeface="Avenir Next"/>
                <a:ea typeface="Avenir Next"/>
                <a:cs typeface="Avenir Next"/>
              </a:defRPr>
            </a:lvl4pPr>
            <a:lvl5pPr>
              <a:defRPr sz="1875" b="0">
                <a:solidFill>
                  <a:srgbClr val="5D6D76"/>
                </a:solidFill>
                <a:latin typeface="Avenir Next"/>
                <a:ea typeface="Avenir Next"/>
                <a:cs typeface="Avenir Next"/>
              </a:defRPr>
            </a:lvl5pPr>
            <a:lvl6pPr>
              <a:defRPr sz="1875" b="0">
                <a:solidFill>
                  <a:srgbClr val="5D6D76"/>
                </a:solidFill>
                <a:latin typeface="Avenir Next"/>
                <a:ea typeface="Avenir Next"/>
                <a:cs typeface="Avenir Next"/>
              </a:defRPr>
            </a:lvl6pPr>
            <a:lvl7pPr>
              <a:defRPr sz="1875" b="0">
                <a:solidFill>
                  <a:srgbClr val="5D6D76"/>
                </a:solidFill>
                <a:latin typeface="Avenir Next"/>
                <a:ea typeface="Avenir Next"/>
                <a:cs typeface="Avenir Next"/>
              </a:defRPr>
            </a:lvl7pPr>
            <a:lvl8pPr>
              <a:defRPr sz="1875" b="0">
                <a:solidFill>
                  <a:srgbClr val="5D6D76"/>
                </a:solidFill>
                <a:latin typeface="Avenir Next"/>
                <a:ea typeface="Avenir Next"/>
                <a:cs typeface="Avenir Next"/>
              </a:defRPr>
            </a:lvl8pPr>
            <a:lvl9pPr>
              <a:defRPr sz="1875" b="0">
                <a:solidFill>
                  <a:srgbClr val="5D6D76"/>
                </a:solidFill>
                <a:latin typeface="Avenir Next"/>
                <a:ea typeface="Avenir Next"/>
                <a:cs typeface="Avenir Next"/>
              </a:defRPr>
            </a:lvl9pPr>
          </a:lstStyle>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Overfitting learns sample</a:t>
            </a:r>
          </a:p>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details that may not repeat.</a:t>
            </a:r>
          </a:p>
        </p:txBody>
      </p:sp>
      <p:sp>
        <p:nvSpPr>
          <p:cNvPr id="7" name="">
            <a:extLst xmlns:a="http://schemas.openxmlformats.org/drawingml/2006/main">
              <a:ext uri="{FF2B5EF4-FFF2-40B4-BE49-F238E27FC236}">
                <a16:creationId xmlns:a16="http://schemas.microsoft.com/office/drawing/2014/main" id="{816E9CD2-EA4A-4F4A-B757-6E3C55FA4F43}"/>
              </a:ext>
            </a:extLst>
          </p:cNvPr>
          <p:cNvSpPr>
            <a:spLocks xmlns:a="http://schemas.openxmlformats.org/drawingml/2006/main" noGrp="1"/>
          </p:cNvSpPr>
          <p:nvPr/>
        </p:nvSpPr>
        <p:spPr>
          <a:xfrm xmlns:a="http://schemas.openxmlformats.org/drawingml/2006/main">
            <a:off x="8096250" y="2619375"/>
            <a:ext cx="352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defRPr sz="1875" b="0">
                <a:solidFill>
                  <a:srgbClr val="5D6D76"/>
                </a:solidFill>
                <a:latin typeface="Avenir Next"/>
                <a:ea typeface="Avenir Next"/>
                <a:cs typeface="Avenir Next"/>
              </a:defRPr>
            </a:lvl1pPr>
            <a:lvl2pPr>
              <a:defRPr sz="1875" b="0">
                <a:solidFill>
                  <a:srgbClr val="5D6D76"/>
                </a:solidFill>
                <a:latin typeface="Avenir Next"/>
                <a:ea typeface="Avenir Next"/>
                <a:cs typeface="Avenir Next"/>
              </a:defRPr>
            </a:lvl2pPr>
            <a:lvl3pPr>
              <a:defRPr sz="1875" b="0">
                <a:solidFill>
                  <a:srgbClr val="5D6D76"/>
                </a:solidFill>
                <a:latin typeface="Avenir Next"/>
                <a:ea typeface="Avenir Next"/>
                <a:cs typeface="Avenir Next"/>
              </a:defRPr>
            </a:lvl3pPr>
            <a:lvl4pPr>
              <a:defRPr sz="1875" b="0">
                <a:solidFill>
                  <a:srgbClr val="5D6D76"/>
                </a:solidFill>
                <a:latin typeface="Avenir Next"/>
                <a:ea typeface="Avenir Next"/>
                <a:cs typeface="Avenir Next"/>
              </a:defRPr>
            </a:lvl4pPr>
            <a:lvl5pPr>
              <a:defRPr sz="1875" b="0">
                <a:solidFill>
                  <a:srgbClr val="5D6D76"/>
                </a:solidFill>
                <a:latin typeface="Avenir Next"/>
                <a:ea typeface="Avenir Next"/>
                <a:cs typeface="Avenir Next"/>
              </a:defRPr>
            </a:lvl5pPr>
            <a:lvl6pPr>
              <a:defRPr sz="1875" b="0">
                <a:solidFill>
                  <a:srgbClr val="5D6D76"/>
                </a:solidFill>
                <a:latin typeface="Avenir Next"/>
                <a:ea typeface="Avenir Next"/>
                <a:cs typeface="Avenir Next"/>
              </a:defRPr>
            </a:lvl6pPr>
            <a:lvl7pPr>
              <a:defRPr sz="1875" b="0">
                <a:solidFill>
                  <a:srgbClr val="5D6D76"/>
                </a:solidFill>
                <a:latin typeface="Avenir Next"/>
                <a:ea typeface="Avenir Next"/>
                <a:cs typeface="Avenir Next"/>
              </a:defRPr>
            </a:lvl7pPr>
            <a:lvl8pPr>
              <a:defRPr sz="1875" b="0">
                <a:solidFill>
                  <a:srgbClr val="5D6D76"/>
                </a:solidFill>
                <a:latin typeface="Avenir Next"/>
                <a:ea typeface="Avenir Next"/>
                <a:cs typeface="Avenir Next"/>
              </a:defRPr>
            </a:lvl8pPr>
            <a:lvl9pPr>
              <a:defRPr sz="1875" b="0">
                <a:solidFill>
                  <a:srgbClr val="5D6D76"/>
                </a:solidFill>
                <a:latin typeface="Avenir Next"/>
                <a:ea typeface="Avenir Next"/>
                <a:cs typeface="Avenir Next"/>
              </a:defRPr>
            </a:lvl9pPr>
          </a:lstStyle>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Pruning removes branches</a:t>
            </a:r>
          </a:p>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to limit complexity.</a:t>
            </a:r>
          </a:p>
        </p:txBody>
      </p:sp>
      <p:sp>
        <p:nvSpPr>
          <p:cNvPr id="8" name="">
            <a:extLst xmlns:a="http://schemas.openxmlformats.org/drawingml/2006/main">
              <a:ext uri="{FF2B5EF4-FFF2-40B4-BE49-F238E27FC236}">
                <a16:creationId xmlns:a16="http://schemas.microsoft.com/office/drawing/2014/main" id="{A720A9E9-7AD3-4870-8662-39CBFD41AE6E}"/>
              </a:ext>
            </a:extLst>
          </p:cNvPr>
          <p:cNvSpPr>
            <a:spLocks xmlns:a="http://schemas.openxmlformats.org/drawingml/2006/main" noGrp="1"/>
          </p:cNvSpPr>
          <p:nvPr/>
        </p:nvSpPr>
        <p:spPr>
          <a:xfrm xmlns:a="http://schemas.openxmlformats.org/drawingml/2006/main">
            <a:off x="8096250" y="3762375"/>
            <a:ext cx="352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defRPr sz="1875" b="0">
                <a:solidFill>
                  <a:srgbClr val="5D6D76"/>
                </a:solidFill>
                <a:latin typeface="Avenir Next"/>
                <a:ea typeface="Avenir Next"/>
                <a:cs typeface="Avenir Next"/>
              </a:defRPr>
            </a:lvl1pPr>
            <a:lvl2pPr>
              <a:defRPr sz="1875" b="0">
                <a:solidFill>
                  <a:srgbClr val="5D6D76"/>
                </a:solidFill>
                <a:latin typeface="Avenir Next"/>
                <a:ea typeface="Avenir Next"/>
                <a:cs typeface="Avenir Next"/>
              </a:defRPr>
            </a:lvl2pPr>
            <a:lvl3pPr>
              <a:defRPr sz="1875" b="0">
                <a:solidFill>
                  <a:srgbClr val="5D6D76"/>
                </a:solidFill>
                <a:latin typeface="Avenir Next"/>
                <a:ea typeface="Avenir Next"/>
                <a:cs typeface="Avenir Next"/>
              </a:defRPr>
            </a:lvl3pPr>
            <a:lvl4pPr>
              <a:defRPr sz="1875" b="0">
                <a:solidFill>
                  <a:srgbClr val="5D6D76"/>
                </a:solidFill>
                <a:latin typeface="Avenir Next"/>
                <a:ea typeface="Avenir Next"/>
                <a:cs typeface="Avenir Next"/>
              </a:defRPr>
            </a:lvl4pPr>
            <a:lvl5pPr>
              <a:defRPr sz="1875" b="0">
                <a:solidFill>
                  <a:srgbClr val="5D6D76"/>
                </a:solidFill>
                <a:latin typeface="Avenir Next"/>
                <a:ea typeface="Avenir Next"/>
                <a:cs typeface="Avenir Next"/>
              </a:defRPr>
            </a:lvl5pPr>
            <a:lvl6pPr>
              <a:defRPr sz="1875" b="0">
                <a:solidFill>
                  <a:srgbClr val="5D6D76"/>
                </a:solidFill>
                <a:latin typeface="Avenir Next"/>
                <a:ea typeface="Avenir Next"/>
                <a:cs typeface="Avenir Next"/>
              </a:defRPr>
            </a:lvl6pPr>
            <a:lvl7pPr>
              <a:defRPr sz="1875" b="0">
                <a:solidFill>
                  <a:srgbClr val="5D6D76"/>
                </a:solidFill>
                <a:latin typeface="Avenir Next"/>
                <a:ea typeface="Avenir Next"/>
                <a:cs typeface="Avenir Next"/>
              </a:defRPr>
            </a:lvl7pPr>
            <a:lvl8pPr>
              <a:defRPr sz="1875" b="0">
                <a:solidFill>
                  <a:srgbClr val="5D6D76"/>
                </a:solidFill>
                <a:latin typeface="Avenir Next"/>
                <a:ea typeface="Avenir Next"/>
                <a:cs typeface="Avenir Next"/>
              </a:defRPr>
            </a:lvl8pPr>
            <a:lvl9pPr>
              <a:defRPr sz="1875" b="0">
                <a:solidFill>
                  <a:srgbClr val="5D6D76"/>
                </a:solidFill>
                <a:latin typeface="Avenir Next"/>
                <a:ea typeface="Avenir Next"/>
                <a:cs typeface="Avenir Next"/>
              </a:defRPr>
            </a:lvl9pPr>
          </a:lstStyle>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cp = 0.031 retains the</a:t>
            </a:r>
          </a:p>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article’s replication setting.</a:t>
            </a:r>
          </a:p>
        </p:txBody>
      </p:sp>
      <p:sp>
        <p:nvSpPr>
          <p:cNvPr id="9" name="">
            <a:extLst xmlns:a="http://schemas.openxmlformats.org/drawingml/2006/main">
              <a:ext uri="{FF2B5EF4-FFF2-40B4-BE49-F238E27FC236}">
                <a16:creationId xmlns:a16="http://schemas.microsoft.com/office/drawing/2014/main" id="{74279D57-2684-4BE0-BE66-ADEA89C49A3C}"/>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Checkpoint: Why might pruning help predictions on new patients?</a:t>
            </a:r>
          </a:p>
        </p:txBody>
      </p:sp>
    </p:spTree>
    <p:extLst>
      <p:ext uri="{BB962C8B-B14F-4D97-AF65-F5344CB8AC3E}">
        <p14:creationId xmlns:p14="http://schemas.microsoft.com/office/powerpoint/2010/main" val="161763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205E8F-9089-4770-88B6-B6975AC7F728}"/>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08</a:t>
            </a:r>
          </a:p>
        </p:txBody>
      </p:sp>
      <p:sp>
        <p:nvSpPr>
          <p:cNvPr id="2" name="">
            <a:extLst xmlns:a="http://schemas.openxmlformats.org/drawingml/2006/main">
              <a:ext uri="{FF2B5EF4-FFF2-40B4-BE49-F238E27FC236}">
                <a16:creationId xmlns:a16="http://schemas.microsoft.com/office/drawing/2014/main" id="{17E8362A-4089-4F47-B2DB-CFEF42D890C3}"/>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 neural network learns weighted combinations</a:t>
            </a:r>
          </a:p>
        </p:txBody>
      </p:sp>
      <p:sp>
        <p:nvSpPr>
          <p:cNvPr id="3" name="">
            <a:extLst xmlns:a="http://schemas.openxmlformats.org/drawingml/2006/main">
              <a:ext uri="{FF2B5EF4-FFF2-40B4-BE49-F238E27FC236}">
                <a16:creationId xmlns:a16="http://schemas.microsoft.com/office/drawing/2014/main" id="{6D4E787B-218F-49C3-AEF1-2CAF48E01B80}"/>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25FB1CE1-3882-4F66-91B9-E93CF0B36B92}"/>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5C601B00-7277-4897-ADE7-DC2F5B948290}"/>
              </a:ext>
            </a:extLst>
          </p:cNvPr>
          <p:cNvGraphicFramePr/>
          <p:nvPr/>
        </p:nvGraphicFramePr>
        <p:xfrm>
          <a:off xmlns:a="http://schemas.openxmlformats.org/drawingml/2006/main" x="619125" y="1666875"/>
          <a:ext xmlns:a="http://schemas.openxmlformats.org/drawingml/2006/main" cx="10953750" cy="2857500"/>
        </p:xfrm>
        <a:graphic xmlns:a="http://schemas.openxmlformats.org/drawingml/2006/main">
          <a:graphicData uri="http://schemas.openxmlformats.org/drawingml/2006/table">
            <a:tbl>
              <a:tblPr/>
              <a:tblGrid>
                <a:gridCol w="3651250"/>
                <a:gridCol w="3651250"/>
                <a:gridCol w="3651250"/>
              </a:tblGrid>
              <a:tr h="952500">
                <a:tc>
                  <a:txBody>
                    <a:bodyPr/>
                    <a:lstStyle/>
                    <a:p>
                      <a:r>
                        <a:rPr sz="1800" b="1">
                          <a:solidFill>
                            <a:srgbClr val="FFFFFF"/>
                          </a:solidFill>
                          <a:latin typeface="Avenir Next"/>
                          <a:ea typeface="Avenir Next"/>
                          <a:cs typeface="Avenir Next"/>
                        </a:rPr>
                        <a:t>Inputs</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Hidden layers</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Output</a:t>
                      </a:r>
                    </a:p>
                  </a:txBody>
                  <a:tcPr marL="91440" marR="91440" marT="45720" marB="45720">
                    <a:solidFill>
                      <a:srgbClr val="09253A"/>
                    </a:solidFill>
                  </a:tcPr>
                </a:tc>
              </a:tr>
              <a:tr h="952500">
                <a:tc>
                  <a:txBody>
                    <a:bodyPr/>
                    <a:lstStyle/>
                    <a:p>
                      <a:r>
                        <a:rPr sz="1800" b="0">
                          <a:solidFill>
                            <a:srgbClr val="09253A"/>
                          </a:solidFill>
                          <a:latin typeface="Avenir Next"/>
                          <a:ea typeface="Avenir Next"/>
                          <a:cs typeface="Avenir Next"/>
                        </a:rPr>
                        <a:t>Encoded measurements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Weighted combinations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Probability of present</a:t>
                      </a:r>
                    </a:p>
                  </a:txBody>
                  <a:tcPr marL="91440" marR="91440" marT="45720" marB="45720">
                    <a:solidFill>
                      <a:srgbClr val="F7F2E8"/>
                    </a:solidFill>
                  </a:tcPr>
                </a:tc>
              </a:tr>
              <a:tr h="952500">
                <a:tc>
                  <a:txBody>
                    <a:bodyPr/>
                    <a:lstStyle/>
                    <a:p>
                      <a:r>
                        <a:rPr sz="1800" b="0">
                          <a:solidFill>
                            <a:srgbClr val="09253A"/>
                          </a:solidFill>
                          <a:latin typeface="Avenir Next"/>
                          <a:ea typeface="Avenir Next"/>
                          <a:cs typeface="Avenir Next"/>
                        </a:rPr>
                        <a:t>Numbers the network receives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ReLU transforms learned signals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Sigmoid maps to 0–1</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A524BAE-0089-4C36-AA3C-F95D80B6F0E0}"/>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Training adjusts weights to reduce a loss: a measure of prediction error.</a:t>
            </a:r>
          </a:p>
        </p:txBody>
      </p:sp>
    </p:spTree>
    <p:extLst>
      <p:ext uri="{BB962C8B-B14F-4D97-AF65-F5344CB8AC3E}">
        <p14:creationId xmlns:p14="http://schemas.microsoft.com/office/powerpoint/2010/main" val="18365949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EE4282-9F5A-4E10-88E1-49FE8CAC4191}"/>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09</a:t>
            </a:r>
          </a:p>
        </p:txBody>
      </p:sp>
      <p:sp>
        <p:nvSpPr>
          <p:cNvPr id="2" name="">
            <a:extLst xmlns:a="http://schemas.openxmlformats.org/drawingml/2006/main">
              <a:ext uri="{FF2B5EF4-FFF2-40B4-BE49-F238E27FC236}">
                <a16:creationId xmlns:a16="http://schemas.microsoft.com/office/drawing/2014/main" id="{A307255A-A809-44B6-84E9-B4F12C88C18F}"/>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13 predictors become 22 encoded inputs</a:t>
            </a:r>
          </a:p>
        </p:txBody>
      </p:sp>
      <p:sp>
        <p:nvSpPr>
          <p:cNvPr id="3" name="">
            <a:extLst xmlns:a="http://schemas.openxmlformats.org/drawingml/2006/main">
              <a:ext uri="{FF2B5EF4-FFF2-40B4-BE49-F238E27FC236}">
                <a16:creationId xmlns:a16="http://schemas.microsoft.com/office/drawing/2014/main" id="{216A3BA1-706C-48BA-A2C7-0718D46FC53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A2358F6-DEE8-40B2-974E-354E728681B0}"/>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9A691E57-9A1B-4320-BFE3-44668C31E6A5}"/>
              </a:ext>
            </a:extLst>
          </p:cNvPr>
          <p:cNvGraphicFramePr/>
          <p:nvPr/>
        </p:nvGraphicFramePr>
        <p:xfrm>
          <a:off xmlns:a="http://schemas.openxmlformats.org/drawingml/2006/main" x="571500" y="1476375"/>
          <a:ext xmlns:a="http://schemas.openxmlformats.org/drawingml/2006/main" cx="11049000" cy="2762250"/>
        </p:xfrm>
        <a:graphic xmlns:a="http://schemas.openxmlformats.org/drawingml/2006/main">
          <a:graphicData uri="http://schemas.openxmlformats.org/drawingml/2006/table">
            <a:tbl>
              <a:tblPr/>
              <a:tblGrid>
                <a:gridCol w="2762250"/>
                <a:gridCol w="2762250"/>
                <a:gridCol w="2762250"/>
                <a:gridCol w="2762250"/>
              </a:tblGrid>
              <a:tr h="920750">
                <a:tc>
                  <a:txBody>
                    <a:bodyPr/>
                    <a:lstStyle/>
                    <a:p>
                      <a:r>
                        <a:rPr sz="1800" b="1">
                          <a:solidFill>
                            <a:srgbClr val="FFFFFF"/>
                          </a:solidFill>
                          <a:latin typeface="Avenir Next"/>
                          <a:ea typeface="Avenir Next"/>
                          <a:cs typeface="Avenir Next"/>
                        </a:rPr>
                        <a:t>Input</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Hidden layer 1</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Hidden layer 2</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Output</a:t>
                      </a:r>
                    </a:p>
                  </a:txBody>
                  <a:tcPr marL="91440" marR="91440" marT="45720" marB="45720">
                    <a:solidFill>
                      <a:srgbClr val="09253A"/>
                    </a:solidFill>
                  </a:tcPr>
                </a:tc>
              </a:tr>
              <a:tr h="920750">
                <a:tc>
                  <a:txBody>
                    <a:bodyPr/>
                    <a:lstStyle/>
                    <a:p>
                      <a:r>
                        <a:rPr sz="1800" b="0">
                          <a:solidFill>
                            <a:srgbClr val="09253A"/>
                          </a:solidFill>
                          <a:latin typeface="Avenir Next"/>
                          <a:ea typeface="Avenir Next"/>
                          <a:cs typeface="Avenir Next"/>
                        </a:rPr>
                        <a:t>22 columns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64 units, ReLU</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32 units, ReLU</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1 unit, sigmoid</a:t>
                      </a:r>
                    </a:p>
                  </a:txBody>
                  <a:tcPr marL="91440" marR="91440" marT="45720" marB="45720">
                    <a:solidFill>
                      <a:srgbClr val="F7F2E8"/>
                    </a:solidFill>
                  </a:tcPr>
                </a:tc>
              </a:tr>
              <a:tr h="920750">
                <a:tc>
                  <a:txBody>
                    <a:bodyPr/>
                    <a:lstStyle/>
                    <a:p>
                      <a:r>
                        <a:rPr sz="1800" b="0">
                          <a:solidFill>
                            <a:srgbClr val="09253A"/>
                          </a:solidFill>
                          <a:latin typeface="Avenir Next"/>
                          <a:ea typeface="Avenir Next"/>
                          <a:cs typeface="Avenir Next"/>
                        </a:rPr>
                        <a:t>6 numeric + 3 binary</a:t>
                      </a:r>
                    </a:p>
                    <a:p>
                      <a:r>
                        <a:rPr sz="1800" b="0">
                          <a:solidFill>
                            <a:srgbClr val="09253A"/>
                          </a:solidFill>
                          <a:latin typeface="Avenir Next"/>
                          <a:ea typeface="Avenir Next"/>
                          <a:cs typeface="Avenir Next"/>
                        </a:rPr>
                        <a:t>+ 13 indicators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Dropout 0.4</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Dropout 0.4</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P(disease present)</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E1D11DA-E24A-4D67-B9D2-82D7D6469D61}"/>
              </a:ext>
            </a:extLst>
          </p:cNvPr>
          <p:cNvSpPr>
            <a:spLocks xmlns:a="http://schemas.openxmlformats.org/drawingml/2006/main" noGrp="1"/>
          </p:cNvSpPr>
          <p:nvPr/>
        </p:nvSpPr>
        <p:spPr>
          <a:xfrm xmlns:a="http://schemas.openxmlformats.org/drawingml/2006/main">
            <a:off x="619125" y="4524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D8B8B"/>
                </a:solidFill>
                <a:latin typeface="Avenir Next"/>
                <a:ea typeface="Avenir Next"/>
                <a:cs typeface="Avenir Next"/>
              </a:defRPr>
            </a:defPPr>
            <a:lvl1pPr>
              <a:defRPr sz="2100" b="0">
                <a:solidFill>
                  <a:srgbClr val="0D8B8B"/>
                </a:solidFill>
                <a:latin typeface="Avenir Next"/>
                <a:ea typeface="Avenir Next"/>
                <a:cs typeface="Avenir Next"/>
              </a:defRPr>
            </a:lvl1pPr>
            <a:lvl2pPr>
              <a:defRPr sz="2100" b="0">
                <a:solidFill>
                  <a:srgbClr val="0D8B8B"/>
                </a:solidFill>
                <a:latin typeface="Avenir Next"/>
                <a:ea typeface="Avenir Next"/>
                <a:cs typeface="Avenir Next"/>
              </a:defRPr>
            </a:lvl2pPr>
            <a:lvl3pPr>
              <a:defRPr sz="2100" b="0">
                <a:solidFill>
                  <a:srgbClr val="0D8B8B"/>
                </a:solidFill>
                <a:latin typeface="Avenir Next"/>
                <a:ea typeface="Avenir Next"/>
                <a:cs typeface="Avenir Next"/>
              </a:defRPr>
            </a:lvl3pPr>
            <a:lvl4pPr>
              <a:defRPr sz="2100" b="0">
                <a:solidFill>
                  <a:srgbClr val="0D8B8B"/>
                </a:solidFill>
                <a:latin typeface="Avenir Next"/>
                <a:ea typeface="Avenir Next"/>
                <a:cs typeface="Avenir Next"/>
              </a:defRPr>
            </a:lvl4pPr>
            <a:lvl5pPr>
              <a:defRPr sz="2100" b="0">
                <a:solidFill>
                  <a:srgbClr val="0D8B8B"/>
                </a:solidFill>
                <a:latin typeface="Avenir Next"/>
                <a:ea typeface="Avenir Next"/>
                <a:cs typeface="Avenir Next"/>
              </a:defRPr>
            </a:lvl5pPr>
            <a:lvl6pPr>
              <a:defRPr sz="2100" b="0">
                <a:solidFill>
                  <a:srgbClr val="0D8B8B"/>
                </a:solidFill>
                <a:latin typeface="Avenir Next"/>
                <a:ea typeface="Avenir Next"/>
                <a:cs typeface="Avenir Next"/>
              </a:defRPr>
            </a:lvl6pPr>
            <a:lvl7pPr>
              <a:defRPr sz="2100" b="0">
                <a:solidFill>
                  <a:srgbClr val="0D8B8B"/>
                </a:solidFill>
                <a:latin typeface="Avenir Next"/>
                <a:ea typeface="Avenir Next"/>
                <a:cs typeface="Avenir Next"/>
              </a:defRPr>
            </a:lvl7pPr>
            <a:lvl8pPr>
              <a:defRPr sz="2100" b="0">
                <a:solidFill>
                  <a:srgbClr val="0D8B8B"/>
                </a:solidFill>
                <a:latin typeface="Avenir Next"/>
                <a:ea typeface="Avenir Next"/>
                <a:cs typeface="Avenir Next"/>
              </a:defRPr>
            </a:lvl8pPr>
            <a:lvl9pPr>
              <a:defRPr sz="2100" b="0">
                <a:solidFill>
                  <a:srgbClr val="0D8B8B"/>
                </a:solidFill>
                <a:latin typeface="Avenir Next"/>
                <a:ea typeface="Avenir Next"/>
                <a:cs typeface="Avenir Next"/>
              </a:defRPr>
            </a:lvl9pPr>
          </a:lstStyle>
          <a:p xmlns:a="http://schemas.openxmlformats.org/drawingml/2006/main">
            <a:pPr>
              <a:defRPr sz="2100" b="0">
                <a:solidFill>
                  <a:srgbClr val="0D8B8B"/>
                </a:solidFill>
                <a:latin typeface="Avenir Next"/>
                <a:ea typeface="Avenir Next"/>
                <a:cs typeface="Avenir Next"/>
              </a:defRPr>
            </a:pPr>
            <a:r>
              <a:rPr sz="2100" b="0">
                <a:solidFill>
                  <a:srgbClr val="0D8B8B"/>
                </a:solidFill>
                <a:latin typeface="Avenir Next"/>
                <a:ea typeface="Avenir Next"/>
                <a:cs typeface="Avenir Next"/>
              </a:rPr>
              <a:t>Dropout temporarily omits 40% of units during training.</a:t>
            </a:r>
          </a:p>
        </p:txBody>
      </p:sp>
      <p:sp>
        <p:nvSpPr>
          <p:cNvPr id="7" name="">
            <a:extLst xmlns:a="http://schemas.openxmlformats.org/drawingml/2006/main">
              <a:ext uri="{FF2B5EF4-FFF2-40B4-BE49-F238E27FC236}">
                <a16:creationId xmlns:a16="http://schemas.microsoft.com/office/drawing/2014/main" id="{12445B26-77EF-406B-B6AA-189E329283AA}"/>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Encoding is an explicit local reconstruction. The article does not specify its implementation.</a:t>
            </a:r>
          </a:p>
        </p:txBody>
      </p:sp>
    </p:spTree>
    <p:extLst>
      <p:ext uri="{BB962C8B-B14F-4D97-AF65-F5344CB8AC3E}">
        <p14:creationId xmlns:p14="http://schemas.microsoft.com/office/powerpoint/2010/main" val="10041056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FADF5A-A7B7-4FEA-BB55-1C25390CA4D4}"/>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10</a:t>
            </a:r>
          </a:p>
        </p:txBody>
      </p:sp>
      <p:sp>
        <p:nvSpPr>
          <p:cNvPr id="2" name="">
            <a:extLst xmlns:a="http://schemas.openxmlformats.org/drawingml/2006/main">
              <a:ext uri="{FF2B5EF4-FFF2-40B4-BE49-F238E27FC236}">
                <a16:creationId xmlns:a16="http://schemas.microsoft.com/office/drawing/2014/main" id="{4759E0BA-F4E4-4A1E-8BFA-E88AA370C805}"/>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Training and validation loss: local run</a:t>
            </a:r>
          </a:p>
        </p:txBody>
      </p:sp>
      <p:sp>
        <p:nvSpPr>
          <p:cNvPr id="3" name="">
            <a:extLst xmlns:a="http://schemas.openxmlformats.org/drawingml/2006/main">
              <a:ext uri="{FF2B5EF4-FFF2-40B4-BE49-F238E27FC236}">
                <a16:creationId xmlns:a16="http://schemas.microsoft.com/office/drawing/2014/main" id="{05D12374-AB38-4260-A8B7-A4D01F8D16FE}"/>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65521034-78A2-40AF-9552-541E6BCBC8FD}"/>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6D94770C-F6E2-4DBA-AD8A-06288941AE92}"/>
              </a:ext>
            </a:extLst>
          </p:cNvPr>
          <p:cNvPicPr>
            <a:picLocks xmlns:a="http://schemas.openxmlformats.org/drawingml/2006/main" noChangeAspect="1"/>
          </p:cNvPicPr>
          <p:nvPr/>
        </p:nvPicPr>
        <p:blipFill>
          <a:blip xmlns:r="http://schemas.openxmlformats.org/officeDocument/2006/relationships" xmlns:a="http://schemas.openxmlformats.org/drawingml/2006/main" r:embed="Rd827f910c6cd463c"/>
          <a:stretch xmlns:a="http://schemas.openxmlformats.org/drawingml/2006/main"/>
        </p:blipFill>
        <p:spPr>
          <a:xfrm xmlns:a="http://schemas.openxmlformats.org/drawingml/2006/main">
            <a:off x="1444625" y="1190625"/>
            <a:ext cx="55880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0B291F8-283C-438C-8160-C65055CD5B7D}"/>
              </a:ext>
            </a:extLst>
          </p:cNvPr>
          <p:cNvSpPr>
            <a:spLocks xmlns:a="http://schemas.openxmlformats.org/drawingml/2006/main" noGrp="1"/>
          </p:cNvSpPr>
          <p:nvPr/>
        </p:nvSpPr>
        <p:spPr>
          <a:xfrm xmlns:a="http://schemas.openxmlformats.org/drawingml/2006/main">
            <a:off x="8143875" y="133350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defRPr sz="1875" b="0">
                <a:solidFill>
                  <a:srgbClr val="5D6D76"/>
                </a:solidFill>
                <a:latin typeface="Avenir Next"/>
                <a:ea typeface="Avenir Next"/>
                <a:cs typeface="Avenir Next"/>
              </a:defRPr>
            </a:lvl1pPr>
            <a:lvl2pPr>
              <a:defRPr sz="1875" b="0">
                <a:solidFill>
                  <a:srgbClr val="5D6D76"/>
                </a:solidFill>
                <a:latin typeface="Avenir Next"/>
                <a:ea typeface="Avenir Next"/>
                <a:cs typeface="Avenir Next"/>
              </a:defRPr>
            </a:lvl2pPr>
            <a:lvl3pPr>
              <a:defRPr sz="1875" b="0">
                <a:solidFill>
                  <a:srgbClr val="5D6D76"/>
                </a:solidFill>
                <a:latin typeface="Avenir Next"/>
                <a:ea typeface="Avenir Next"/>
                <a:cs typeface="Avenir Next"/>
              </a:defRPr>
            </a:lvl3pPr>
            <a:lvl4pPr>
              <a:defRPr sz="1875" b="0">
                <a:solidFill>
                  <a:srgbClr val="5D6D76"/>
                </a:solidFill>
                <a:latin typeface="Avenir Next"/>
                <a:ea typeface="Avenir Next"/>
                <a:cs typeface="Avenir Next"/>
              </a:defRPr>
            </a:lvl4pPr>
            <a:lvl5pPr>
              <a:defRPr sz="1875" b="0">
                <a:solidFill>
                  <a:srgbClr val="5D6D76"/>
                </a:solidFill>
                <a:latin typeface="Avenir Next"/>
                <a:ea typeface="Avenir Next"/>
                <a:cs typeface="Avenir Next"/>
              </a:defRPr>
            </a:lvl5pPr>
            <a:lvl6pPr>
              <a:defRPr sz="1875" b="0">
                <a:solidFill>
                  <a:srgbClr val="5D6D76"/>
                </a:solidFill>
                <a:latin typeface="Avenir Next"/>
                <a:ea typeface="Avenir Next"/>
                <a:cs typeface="Avenir Next"/>
              </a:defRPr>
            </a:lvl6pPr>
            <a:lvl7pPr>
              <a:defRPr sz="1875" b="0">
                <a:solidFill>
                  <a:srgbClr val="5D6D76"/>
                </a:solidFill>
                <a:latin typeface="Avenir Next"/>
                <a:ea typeface="Avenir Next"/>
                <a:cs typeface="Avenir Next"/>
              </a:defRPr>
            </a:lvl7pPr>
            <a:lvl8pPr>
              <a:defRPr sz="1875" b="0">
                <a:solidFill>
                  <a:srgbClr val="5D6D76"/>
                </a:solidFill>
                <a:latin typeface="Avenir Next"/>
                <a:ea typeface="Avenir Next"/>
                <a:cs typeface="Avenir Next"/>
              </a:defRPr>
            </a:lvl8pPr>
            <a:lvl9pPr>
              <a:defRPr sz="1875" b="0">
                <a:solidFill>
                  <a:srgbClr val="5D6D76"/>
                </a:solidFill>
                <a:latin typeface="Avenir Next"/>
                <a:ea typeface="Avenir Next"/>
                <a:cs typeface="Avenir Next"/>
              </a:defRPr>
            </a:lvl9pPr>
          </a:lstStyle>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Training loss measures fit</a:t>
            </a:r>
          </a:p>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on rows used for learning.</a:t>
            </a:r>
          </a:p>
        </p:txBody>
      </p:sp>
      <p:sp>
        <p:nvSpPr>
          <p:cNvPr id="7" name="">
            <a:extLst xmlns:a="http://schemas.openxmlformats.org/drawingml/2006/main">
              <a:ext uri="{FF2B5EF4-FFF2-40B4-BE49-F238E27FC236}">
                <a16:creationId xmlns:a16="http://schemas.microsoft.com/office/drawing/2014/main" id="{FD4AFDB7-BDB3-4970-A139-436766805E64}"/>
              </a:ext>
            </a:extLst>
          </p:cNvPr>
          <p:cNvSpPr>
            <a:spLocks xmlns:a="http://schemas.openxmlformats.org/drawingml/2006/main" noGrp="1"/>
          </p:cNvSpPr>
          <p:nvPr/>
        </p:nvSpPr>
        <p:spPr>
          <a:xfrm xmlns:a="http://schemas.openxmlformats.org/drawingml/2006/main">
            <a:off x="8143875" y="2524125"/>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defRPr sz="1875" b="0">
                <a:solidFill>
                  <a:srgbClr val="5D6D76"/>
                </a:solidFill>
                <a:latin typeface="Avenir Next"/>
                <a:ea typeface="Avenir Next"/>
                <a:cs typeface="Avenir Next"/>
              </a:defRPr>
            </a:lvl1pPr>
            <a:lvl2pPr>
              <a:defRPr sz="1875" b="0">
                <a:solidFill>
                  <a:srgbClr val="5D6D76"/>
                </a:solidFill>
                <a:latin typeface="Avenir Next"/>
                <a:ea typeface="Avenir Next"/>
                <a:cs typeface="Avenir Next"/>
              </a:defRPr>
            </a:lvl2pPr>
            <a:lvl3pPr>
              <a:defRPr sz="1875" b="0">
                <a:solidFill>
                  <a:srgbClr val="5D6D76"/>
                </a:solidFill>
                <a:latin typeface="Avenir Next"/>
                <a:ea typeface="Avenir Next"/>
                <a:cs typeface="Avenir Next"/>
              </a:defRPr>
            </a:lvl3pPr>
            <a:lvl4pPr>
              <a:defRPr sz="1875" b="0">
                <a:solidFill>
                  <a:srgbClr val="5D6D76"/>
                </a:solidFill>
                <a:latin typeface="Avenir Next"/>
                <a:ea typeface="Avenir Next"/>
                <a:cs typeface="Avenir Next"/>
              </a:defRPr>
            </a:lvl4pPr>
            <a:lvl5pPr>
              <a:defRPr sz="1875" b="0">
                <a:solidFill>
                  <a:srgbClr val="5D6D76"/>
                </a:solidFill>
                <a:latin typeface="Avenir Next"/>
                <a:ea typeface="Avenir Next"/>
                <a:cs typeface="Avenir Next"/>
              </a:defRPr>
            </a:lvl5pPr>
            <a:lvl6pPr>
              <a:defRPr sz="1875" b="0">
                <a:solidFill>
                  <a:srgbClr val="5D6D76"/>
                </a:solidFill>
                <a:latin typeface="Avenir Next"/>
                <a:ea typeface="Avenir Next"/>
                <a:cs typeface="Avenir Next"/>
              </a:defRPr>
            </a:lvl6pPr>
            <a:lvl7pPr>
              <a:defRPr sz="1875" b="0">
                <a:solidFill>
                  <a:srgbClr val="5D6D76"/>
                </a:solidFill>
                <a:latin typeface="Avenir Next"/>
                <a:ea typeface="Avenir Next"/>
                <a:cs typeface="Avenir Next"/>
              </a:defRPr>
            </a:lvl7pPr>
            <a:lvl8pPr>
              <a:defRPr sz="1875" b="0">
                <a:solidFill>
                  <a:srgbClr val="5D6D76"/>
                </a:solidFill>
                <a:latin typeface="Avenir Next"/>
                <a:ea typeface="Avenir Next"/>
                <a:cs typeface="Avenir Next"/>
              </a:defRPr>
            </a:lvl8pPr>
            <a:lvl9pPr>
              <a:defRPr sz="1875" b="0">
                <a:solidFill>
                  <a:srgbClr val="5D6D76"/>
                </a:solidFill>
                <a:latin typeface="Avenir Next"/>
                <a:ea typeface="Avenir Next"/>
                <a:cs typeface="Avenir Next"/>
              </a:defRPr>
            </a:lvl9pPr>
          </a:lstStyle>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Validation loss monitors</a:t>
            </a:r>
          </a:p>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rows kept out of updates.</a:t>
            </a:r>
          </a:p>
        </p:txBody>
      </p:sp>
      <p:sp>
        <p:nvSpPr>
          <p:cNvPr id="8" name="">
            <a:extLst xmlns:a="http://schemas.openxmlformats.org/drawingml/2006/main">
              <a:ext uri="{FF2B5EF4-FFF2-40B4-BE49-F238E27FC236}">
                <a16:creationId xmlns:a16="http://schemas.microsoft.com/office/drawing/2014/main" id="{7CC34CE7-B45F-4E53-A19B-9F1CA1841237}"/>
              </a:ext>
            </a:extLst>
          </p:cNvPr>
          <p:cNvSpPr>
            <a:spLocks xmlns:a="http://schemas.openxmlformats.org/drawingml/2006/main" noGrp="1"/>
          </p:cNvSpPr>
          <p:nvPr/>
        </p:nvSpPr>
        <p:spPr>
          <a:xfrm xmlns:a="http://schemas.openxmlformats.org/drawingml/2006/main">
            <a:off x="8143875" y="371475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defRPr sz="1875" b="0">
                <a:solidFill>
                  <a:srgbClr val="5D6D76"/>
                </a:solidFill>
                <a:latin typeface="Avenir Next"/>
                <a:ea typeface="Avenir Next"/>
                <a:cs typeface="Avenir Next"/>
              </a:defRPr>
            </a:lvl1pPr>
            <a:lvl2pPr>
              <a:defRPr sz="1875" b="0">
                <a:solidFill>
                  <a:srgbClr val="5D6D76"/>
                </a:solidFill>
                <a:latin typeface="Avenir Next"/>
                <a:ea typeface="Avenir Next"/>
                <a:cs typeface="Avenir Next"/>
              </a:defRPr>
            </a:lvl2pPr>
            <a:lvl3pPr>
              <a:defRPr sz="1875" b="0">
                <a:solidFill>
                  <a:srgbClr val="5D6D76"/>
                </a:solidFill>
                <a:latin typeface="Avenir Next"/>
                <a:ea typeface="Avenir Next"/>
                <a:cs typeface="Avenir Next"/>
              </a:defRPr>
            </a:lvl3pPr>
            <a:lvl4pPr>
              <a:defRPr sz="1875" b="0">
                <a:solidFill>
                  <a:srgbClr val="5D6D76"/>
                </a:solidFill>
                <a:latin typeface="Avenir Next"/>
                <a:ea typeface="Avenir Next"/>
                <a:cs typeface="Avenir Next"/>
              </a:defRPr>
            </a:lvl4pPr>
            <a:lvl5pPr>
              <a:defRPr sz="1875" b="0">
                <a:solidFill>
                  <a:srgbClr val="5D6D76"/>
                </a:solidFill>
                <a:latin typeface="Avenir Next"/>
                <a:ea typeface="Avenir Next"/>
                <a:cs typeface="Avenir Next"/>
              </a:defRPr>
            </a:lvl5pPr>
            <a:lvl6pPr>
              <a:defRPr sz="1875" b="0">
                <a:solidFill>
                  <a:srgbClr val="5D6D76"/>
                </a:solidFill>
                <a:latin typeface="Avenir Next"/>
                <a:ea typeface="Avenir Next"/>
                <a:cs typeface="Avenir Next"/>
              </a:defRPr>
            </a:lvl6pPr>
            <a:lvl7pPr>
              <a:defRPr sz="1875" b="0">
                <a:solidFill>
                  <a:srgbClr val="5D6D76"/>
                </a:solidFill>
                <a:latin typeface="Avenir Next"/>
                <a:ea typeface="Avenir Next"/>
                <a:cs typeface="Avenir Next"/>
              </a:defRPr>
            </a:lvl7pPr>
            <a:lvl8pPr>
              <a:defRPr sz="1875" b="0">
                <a:solidFill>
                  <a:srgbClr val="5D6D76"/>
                </a:solidFill>
                <a:latin typeface="Avenir Next"/>
                <a:ea typeface="Avenir Next"/>
                <a:cs typeface="Avenir Next"/>
              </a:defRPr>
            </a:lvl8pPr>
            <a:lvl9pPr>
              <a:defRPr sz="1875" b="0">
                <a:solidFill>
                  <a:srgbClr val="5D6D76"/>
                </a:solidFill>
                <a:latin typeface="Avenir Next"/>
                <a:ea typeface="Avenir Next"/>
                <a:cs typeface="Avenir Next"/>
              </a:defRPr>
            </a:lvl9pPr>
          </a:lstStyle>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Early stopping restores</a:t>
            </a:r>
          </a:p>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the best validation weights.</a:t>
            </a:r>
          </a:p>
        </p:txBody>
      </p:sp>
      <p:sp>
        <p:nvSpPr>
          <p:cNvPr id="9" name="">
            <a:extLst xmlns:a="http://schemas.openxmlformats.org/drawingml/2006/main">
              <a:ext uri="{FF2B5EF4-FFF2-40B4-BE49-F238E27FC236}">
                <a16:creationId xmlns:a16="http://schemas.microsoft.com/office/drawing/2014/main" id="{2F745F0B-6F1F-4E36-ADC6-ECAC9076CEB3}"/>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Checkpoint: What does falling training loss with rising validation loss suggest?</a:t>
            </a:r>
          </a:p>
        </p:txBody>
      </p:sp>
    </p:spTree>
    <p:extLst>
      <p:ext uri="{BB962C8B-B14F-4D97-AF65-F5344CB8AC3E}">
        <p14:creationId xmlns:p14="http://schemas.microsoft.com/office/powerpoint/2010/main" val="12807516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01B2DE-926F-4E48-887F-719042C21119}"/>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11</a:t>
            </a:r>
          </a:p>
        </p:txBody>
      </p:sp>
      <p:sp>
        <p:nvSpPr>
          <p:cNvPr id="2" name="">
            <a:extLst xmlns:a="http://schemas.openxmlformats.org/drawingml/2006/main">
              <a:ext uri="{FF2B5EF4-FFF2-40B4-BE49-F238E27FC236}">
                <a16:creationId xmlns:a16="http://schemas.microsoft.com/office/drawing/2014/main" id="{8D2C97A2-98D7-46D3-B0AA-5D0D4677ED4F}"/>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Random-forest holdout evaluation</a:t>
            </a:r>
          </a:p>
        </p:txBody>
      </p:sp>
      <p:sp>
        <p:nvSpPr>
          <p:cNvPr id="3" name="">
            <a:extLst xmlns:a="http://schemas.openxmlformats.org/drawingml/2006/main">
              <a:ext uri="{FF2B5EF4-FFF2-40B4-BE49-F238E27FC236}">
                <a16:creationId xmlns:a16="http://schemas.microsoft.com/office/drawing/2014/main" id="{BEDFE875-ACE1-410D-A7B6-EB9BC147E2C3}"/>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034C852-0290-4178-8507-1083CA375215}"/>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3078DC8E-A68F-494A-AA87-AFC9555E480B}"/>
              </a:ext>
            </a:extLst>
          </p:cNvPr>
          <p:cNvSpPr>
            <a:spLocks xmlns:a="http://schemas.openxmlformats.org/drawingml/2006/main" noGrp="1"/>
          </p:cNvSpPr>
          <p:nvPr/>
        </p:nvSpPr>
        <p:spPr>
          <a:xfrm xmlns:a="http://schemas.openxmlformats.org/drawingml/2006/main">
            <a:off x="619125" y="13811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9253A"/>
                </a:solidFill>
                <a:latin typeface="Avenir Next"/>
                <a:ea typeface="Avenir Next"/>
                <a:cs typeface="Avenir Next"/>
              </a:defRPr>
            </a:defPPr>
            <a:lvl1pPr>
              <a:defRPr sz="3150" b="1">
                <a:solidFill>
                  <a:srgbClr val="09253A"/>
                </a:solidFill>
                <a:latin typeface="Avenir Next"/>
                <a:ea typeface="Avenir Next"/>
                <a:cs typeface="Avenir Next"/>
              </a:defRPr>
            </a:lvl1pPr>
            <a:lvl2pPr>
              <a:defRPr sz="3150" b="1">
                <a:solidFill>
                  <a:srgbClr val="09253A"/>
                </a:solidFill>
                <a:latin typeface="Avenir Next"/>
                <a:ea typeface="Avenir Next"/>
                <a:cs typeface="Avenir Next"/>
              </a:defRPr>
            </a:lvl2pPr>
            <a:lvl3pPr>
              <a:defRPr sz="3150" b="1">
                <a:solidFill>
                  <a:srgbClr val="09253A"/>
                </a:solidFill>
                <a:latin typeface="Avenir Next"/>
                <a:ea typeface="Avenir Next"/>
                <a:cs typeface="Avenir Next"/>
              </a:defRPr>
            </a:lvl3pPr>
            <a:lvl4pPr>
              <a:defRPr sz="3150" b="1">
                <a:solidFill>
                  <a:srgbClr val="09253A"/>
                </a:solidFill>
                <a:latin typeface="Avenir Next"/>
                <a:ea typeface="Avenir Next"/>
                <a:cs typeface="Avenir Next"/>
              </a:defRPr>
            </a:lvl4pPr>
            <a:lvl5pPr>
              <a:defRPr sz="3150" b="1">
                <a:solidFill>
                  <a:srgbClr val="09253A"/>
                </a:solidFill>
                <a:latin typeface="Avenir Next"/>
                <a:ea typeface="Avenir Next"/>
                <a:cs typeface="Avenir Next"/>
              </a:defRPr>
            </a:lvl5pPr>
            <a:lvl6pPr>
              <a:defRPr sz="3150" b="1">
                <a:solidFill>
                  <a:srgbClr val="09253A"/>
                </a:solidFill>
                <a:latin typeface="Avenir Next"/>
                <a:ea typeface="Avenir Next"/>
                <a:cs typeface="Avenir Next"/>
              </a:defRPr>
            </a:lvl6pPr>
            <a:lvl7pPr>
              <a:defRPr sz="3150" b="1">
                <a:solidFill>
                  <a:srgbClr val="09253A"/>
                </a:solidFill>
                <a:latin typeface="Avenir Next"/>
                <a:ea typeface="Avenir Next"/>
                <a:cs typeface="Avenir Next"/>
              </a:defRPr>
            </a:lvl7pPr>
            <a:lvl8pPr>
              <a:defRPr sz="3150" b="1">
                <a:solidFill>
                  <a:srgbClr val="09253A"/>
                </a:solidFill>
                <a:latin typeface="Avenir Next"/>
                <a:ea typeface="Avenir Next"/>
                <a:cs typeface="Avenir Next"/>
              </a:defRPr>
            </a:lvl8pPr>
            <a:lvl9pPr>
              <a:defRPr sz="3150" b="1">
                <a:solidFill>
                  <a:srgbClr val="09253A"/>
                </a:solidFill>
                <a:latin typeface="Avenir Next"/>
                <a:ea typeface="Avenir Next"/>
                <a:cs typeface="Avenir Next"/>
              </a:defRPr>
            </a:lvl9pPr>
          </a:lstStyle>
          <a:p xmlns:a="http://schemas.openxmlformats.org/drawingml/2006/main">
            <a:pPr>
              <a:defRPr sz="3150" b="1">
                <a:solidFill>
                  <a:srgbClr val="09253A"/>
                </a:solidFill>
                <a:latin typeface="Avenir Next"/>
                <a:ea typeface="Avenir Next"/>
                <a:cs typeface="Avenir Next"/>
              </a:defRPr>
            </a:pPr>
            <a:r>
              <a:rPr sz="3150" b="1">
                <a:solidFill>
                  <a:srgbClr val="09253A"/>
                </a:solidFill>
                <a:latin typeface="Avenir Next"/>
                <a:ea typeface="Avenir Next"/>
                <a:cs typeface="Avenir Next"/>
              </a:rPr>
              <a:t>270 patients</a:t>
            </a:r>
          </a:p>
        </p:txBody>
      </p:sp>
      <p:graphicFrame>
        <p:nvGraphicFramePr>
          <p:cNvPr id="6" name="">
            <a:extLst xmlns:a="http://schemas.openxmlformats.org/drawingml/2006/main">
              <a:ext uri="{FF2B5EF4-FFF2-40B4-BE49-F238E27FC236}">
                <a16:creationId xmlns:a16="http://schemas.microsoft.com/office/drawing/2014/main" id="{DABF63F2-B53C-405A-985E-9A856CD2BBE7}"/>
              </a:ext>
            </a:extLst>
          </p:cNvPr>
          <p:cNvGraphicFramePr/>
          <p:nvPr/>
        </p:nvGraphicFramePr>
        <p:xfrm>
          <a:off xmlns:a="http://schemas.openxmlformats.org/drawingml/2006/main" x="619125" y="2333625"/>
          <a:ext xmlns:a="http://schemas.openxmlformats.org/drawingml/2006/main" cx="10953750" cy="2524125"/>
        </p:xfrm>
        <a:graphic xmlns:a="http://schemas.openxmlformats.org/drawingml/2006/main">
          <a:graphicData uri="http://schemas.openxmlformats.org/drawingml/2006/table">
            <a:tbl>
              <a:tblPr/>
              <a:tblGrid>
                <a:gridCol w="5476875"/>
                <a:gridCol w="5476875"/>
              </a:tblGrid>
              <a:tr h="841375">
                <a:tc>
                  <a:txBody>
                    <a:bodyPr/>
                    <a:lstStyle/>
                    <a:p>
                      <a:r>
                        <a:rPr sz="1800" b="1">
                          <a:solidFill>
                            <a:srgbClr val="FFFFFF"/>
                          </a:solidFill>
                          <a:latin typeface="Avenir Next"/>
                          <a:ea typeface="Avenir Next"/>
                          <a:cs typeface="Avenir Next"/>
                        </a:rPr>
                        <a:t>180 training observations</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90 test observations</a:t>
                      </a:r>
                    </a:p>
                  </a:txBody>
                  <a:tcPr marL="91440" marR="91440" marT="45720" marB="45720">
                    <a:solidFill>
                      <a:srgbClr val="09253A"/>
                    </a:solidFill>
                  </a:tcPr>
                </a:tc>
              </a:tr>
              <a:tr h="841375">
                <a:tc>
                  <a:txBody>
                    <a:bodyPr/>
                    <a:lstStyle/>
                    <a:p>
                      <a:r>
                        <a:rPr sz="1800" b="0">
                          <a:solidFill>
                            <a:srgbClr val="09253A"/>
                          </a:solidFill>
                          <a:latin typeface="Avenir Next"/>
                          <a:ea typeface="Avenir Next"/>
                          <a:cs typeface="Avenir Next"/>
                        </a:rPr>
                        <a:t>Fit the random forest</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Predict held-out patients</a:t>
                      </a:r>
                    </a:p>
                  </a:txBody>
                  <a:tcPr marL="91440" marR="91440" marT="45720" marB="45720">
                    <a:solidFill>
                      <a:srgbClr val="F7F2E8"/>
                    </a:solidFill>
                  </a:tcPr>
                </a:tc>
              </a:tr>
              <a:tr h="841375">
                <a:tc>
                  <a:txBody>
                    <a:bodyPr/>
                    <a:lstStyle/>
                    <a:p>
                      <a:r>
                        <a:rPr sz="1800" b="0">
                          <a:solidFill>
                            <a:srgbClr val="09253A"/>
                          </a:solidFill>
                          <a:latin typeface="Avenir Next"/>
                          <a:ea typeface="Avenir Next"/>
                          <a:cs typeface="Avenir Next"/>
                        </a:rPr>
                        <a:t>Learner default tree count</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Read probabilities and errors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452FBA4-AC6B-47B2-BE79-6853BFAE7979}"/>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Test observations stay outside model fitting and model selection.</a:t>
            </a:r>
          </a:p>
        </p:txBody>
      </p:sp>
    </p:spTree>
    <p:extLst>
      <p:ext uri="{BB962C8B-B14F-4D97-AF65-F5344CB8AC3E}">
        <p14:creationId xmlns:p14="http://schemas.microsoft.com/office/powerpoint/2010/main" val="14460101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B1CA53-B5A2-4BDD-BF58-DC557FB68A11}"/>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12</a:t>
            </a:r>
          </a:p>
        </p:txBody>
      </p:sp>
      <p:sp>
        <p:nvSpPr>
          <p:cNvPr id="2" name="">
            <a:extLst xmlns:a="http://schemas.openxmlformats.org/drawingml/2006/main">
              <a:ext uri="{FF2B5EF4-FFF2-40B4-BE49-F238E27FC236}">
                <a16:creationId xmlns:a16="http://schemas.microsoft.com/office/drawing/2014/main" id="{D8D577D3-21AF-4EC4-AAF6-B98C01959143}"/>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The confusion matrix records consequences</a:t>
            </a:r>
          </a:p>
        </p:txBody>
      </p:sp>
      <p:sp>
        <p:nvSpPr>
          <p:cNvPr id="3" name="">
            <a:extLst xmlns:a="http://schemas.openxmlformats.org/drawingml/2006/main">
              <a:ext uri="{FF2B5EF4-FFF2-40B4-BE49-F238E27FC236}">
                <a16:creationId xmlns:a16="http://schemas.microsoft.com/office/drawing/2014/main" id="{03038425-A300-46E9-8DB9-01BFCC3567DA}"/>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DEBABD26-5B2C-4C44-9BCD-BE6B6DD7041D}"/>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C047E066-391E-4169-B712-92E5C27F7921}"/>
              </a:ext>
            </a:extLst>
          </p:cNvPr>
          <p:cNvGraphicFramePr/>
          <p:nvPr/>
        </p:nvGraphicFramePr>
        <p:xfrm>
          <a:off xmlns:a="http://schemas.openxmlformats.org/drawingml/2006/main" x="619125" y="1524000"/>
          <a:ext xmlns:a="http://schemas.openxmlformats.org/drawingml/2006/main" cx="10953750" cy="2857500"/>
        </p:xfrm>
        <a:graphic xmlns:a="http://schemas.openxmlformats.org/drawingml/2006/main">
          <a:graphicData uri="http://schemas.openxmlformats.org/drawingml/2006/table">
            <a:tbl>
              <a:tblPr/>
              <a:tblGrid>
                <a:gridCol w="3651250"/>
                <a:gridCol w="3651250"/>
                <a:gridCol w="3651250"/>
              </a:tblGrid>
              <a:tr h="952500">
                <a:tc>
                  <a:txBody>
                    <a:bodyPr/>
                    <a:lstStyle/>
                    <a:p>
                      <a:r>
                        <a:rPr sz="1800" b="1">
                          <a:solidFill>
                            <a:srgbClr val="FFFFFF"/>
                          </a:solidFill>
                          <a:latin typeface="Avenir Next"/>
                          <a:ea typeface="Avenir Next"/>
                          <a:cs typeface="Avenir Next"/>
                        </a:rPr>
                        <a:t>Observed outcome</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Predicted present</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Predicted absent</a:t>
                      </a:r>
                    </a:p>
                  </a:txBody>
                  <a:tcPr marL="91440" marR="91440" marT="45720" marB="45720">
                    <a:solidFill>
                      <a:srgbClr val="09253A"/>
                    </a:solidFill>
                  </a:tcPr>
                </a:tc>
              </a:tr>
              <a:tr h="952500">
                <a:tc>
                  <a:txBody>
                    <a:bodyPr/>
                    <a:lstStyle/>
                    <a:p>
                      <a:r>
                        <a:rPr sz="1800" b="0">
                          <a:solidFill>
                            <a:srgbClr val="09253A"/>
                          </a:solidFill>
                          <a:latin typeface="Avenir Next"/>
                          <a:ea typeface="Avenir Next"/>
                          <a:cs typeface="Avenir Next"/>
                        </a:rPr>
                        <a:t>Present</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30 true positives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7 false negatives</a:t>
                      </a:r>
                    </a:p>
                  </a:txBody>
                  <a:tcPr marL="91440" marR="91440" marT="45720" marB="45720">
                    <a:solidFill>
                      <a:srgbClr val="F7F2E8"/>
                    </a:solidFill>
                  </a:tcPr>
                </a:tc>
              </a:tr>
              <a:tr h="952500">
                <a:tc>
                  <a:txBody>
                    <a:bodyPr/>
                    <a:lstStyle/>
                    <a:p>
                      <a:r>
                        <a:rPr sz="1800" b="0">
                          <a:solidFill>
                            <a:srgbClr val="09253A"/>
                          </a:solidFill>
                          <a:latin typeface="Avenir Next"/>
                          <a:ea typeface="Avenir Next"/>
                          <a:cs typeface="Avenir Next"/>
                        </a:rPr>
                        <a:t>Absent</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8 false positives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45 true negatives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EF169CC-327E-4121-81C0-777B46755FE4}"/>
              </a:ext>
            </a:extLst>
          </p:cNvPr>
          <p:cNvSpPr>
            <a:spLocks xmlns:a="http://schemas.openxmlformats.org/drawingml/2006/main" noGrp="1"/>
          </p:cNvSpPr>
          <p:nvPr/>
        </p:nvSpPr>
        <p:spPr>
          <a:xfrm xmlns:a="http://schemas.openxmlformats.org/drawingml/2006/main">
            <a:off x="619125" y="4667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defRPr sz="1875" b="0">
                <a:solidFill>
                  <a:srgbClr val="5D6D76"/>
                </a:solidFill>
                <a:latin typeface="Avenir Next"/>
                <a:ea typeface="Avenir Next"/>
                <a:cs typeface="Avenir Next"/>
              </a:defRPr>
            </a:lvl1pPr>
            <a:lvl2pPr>
              <a:defRPr sz="1875" b="0">
                <a:solidFill>
                  <a:srgbClr val="5D6D76"/>
                </a:solidFill>
                <a:latin typeface="Avenir Next"/>
                <a:ea typeface="Avenir Next"/>
                <a:cs typeface="Avenir Next"/>
              </a:defRPr>
            </a:lvl2pPr>
            <a:lvl3pPr>
              <a:defRPr sz="1875" b="0">
                <a:solidFill>
                  <a:srgbClr val="5D6D76"/>
                </a:solidFill>
                <a:latin typeface="Avenir Next"/>
                <a:ea typeface="Avenir Next"/>
                <a:cs typeface="Avenir Next"/>
              </a:defRPr>
            </a:lvl3pPr>
            <a:lvl4pPr>
              <a:defRPr sz="1875" b="0">
                <a:solidFill>
                  <a:srgbClr val="5D6D76"/>
                </a:solidFill>
                <a:latin typeface="Avenir Next"/>
                <a:ea typeface="Avenir Next"/>
                <a:cs typeface="Avenir Next"/>
              </a:defRPr>
            </a:lvl4pPr>
            <a:lvl5pPr>
              <a:defRPr sz="1875" b="0">
                <a:solidFill>
                  <a:srgbClr val="5D6D76"/>
                </a:solidFill>
                <a:latin typeface="Avenir Next"/>
                <a:ea typeface="Avenir Next"/>
                <a:cs typeface="Avenir Next"/>
              </a:defRPr>
            </a:lvl5pPr>
            <a:lvl6pPr>
              <a:defRPr sz="1875" b="0">
                <a:solidFill>
                  <a:srgbClr val="5D6D76"/>
                </a:solidFill>
                <a:latin typeface="Avenir Next"/>
                <a:ea typeface="Avenir Next"/>
                <a:cs typeface="Avenir Next"/>
              </a:defRPr>
            </a:lvl6pPr>
            <a:lvl7pPr>
              <a:defRPr sz="1875" b="0">
                <a:solidFill>
                  <a:srgbClr val="5D6D76"/>
                </a:solidFill>
                <a:latin typeface="Avenir Next"/>
                <a:ea typeface="Avenir Next"/>
                <a:cs typeface="Avenir Next"/>
              </a:defRPr>
            </a:lvl7pPr>
            <a:lvl8pPr>
              <a:defRPr sz="1875" b="0">
                <a:solidFill>
                  <a:srgbClr val="5D6D76"/>
                </a:solidFill>
                <a:latin typeface="Avenir Next"/>
                <a:ea typeface="Avenir Next"/>
                <a:cs typeface="Avenir Next"/>
              </a:defRPr>
            </a:lvl8pPr>
            <a:lvl9pPr>
              <a:defRPr sz="1875" b="0">
                <a:solidFill>
                  <a:srgbClr val="5D6D76"/>
                </a:solidFill>
                <a:latin typeface="Avenir Next"/>
                <a:ea typeface="Avenir Next"/>
                <a:cs typeface="Avenir Next"/>
              </a:defRPr>
            </a:lvl9pPr>
          </a:lstStyle>
          <a:p xmlns:a="http://schemas.openxmlformats.org/drawingml/2006/main">
            <a:pPr>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False positive: predicts disease for a patient whose outcome is absent.</a:t>
            </a:r>
          </a:p>
        </p:txBody>
      </p:sp>
      <p:sp>
        <p:nvSpPr>
          <p:cNvPr id="7" name="">
            <a:extLst xmlns:a="http://schemas.openxmlformats.org/drawingml/2006/main">
              <a:ext uri="{FF2B5EF4-FFF2-40B4-BE49-F238E27FC236}">
                <a16:creationId xmlns:a16="http://schemas.microsoft.com/office/drawing/2014/main" id="{7824B39C-1306-4FE9-A4A1-136FCC44CB75}"/>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Local holdout: What does a false negative mean for a patient in this example?</a:t>
            </a:r>
          </a:p>
        </p:txBody>
      </p:sp>
    </p:spTree>
    <p:extLst>
      <p:ext uri="{BB962C8B-B14F-4D97-AF65-F5344CB8AC3E}">
        <p14:creationId xmlns:p14="http://schemas.microsoft.com/office/powerpoint/2010/main" val="1854948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9DD994-834E-41FF-8A89-19F04526AE80}"/>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13</a:t>
            </a:r>
          </a:p>
        </p:txBody>
      </p:sp>
      <p:sp>
        <p:nvSpPr>
          <p:cNvPr id="2" name="">
            <a:extLst xmlns:a="http://schemas.openxmlformats.org/drawingml/2006/main">
              <a:ext uri="{FF2B5EF4-FFF2-40B4-BE49-F238E27FC236}">
                <a16:creationId xmlns:a16="http://schemas.microsoft.com/office/drawing/2014/main" id="{E3099DC5-A165-4074-B28C-CFF053AC40D2}"/>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Five measures, five questions</a:t>
            </a:r>
          </a:p>
        </p:txBody>
      </p:sp>
      <p:sp>
        <p:nvSpPr>
          <p:cNvPr id="3" name="">
            <a:extLst xmlns:a="http://schemas.openxmlformats.org/drawingml/2006/main">
              <a:ext uri="{FF2B5EF4-FFF2-40B4-BE49-F238E27FC236}">
                <a16:creationId xmlns:a16="http://schemas.microsoft.com/office/drawing/2014/main" id="{9B4D81B4-ECBF-4200-B751-3A237BE97D5F}"/>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969810E-747C-4510-B587-E71B4C45CB8B}"/>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4CD196B8-E24B-4F61-8528-61A34986A498}"/>
              </a:ext>
            </a:extLst>
          </p:cNvPr>
          <p:cNvGraphicFramePr/>
          <p:nvPr/>
        </p:nvGraphicFramePr>
        <p:xfrm>
          <a:off xmlns:a="http://schemas.openxmlformats.org/drawingml/2006/main" x="571500" y="1285875"/>
          <a:ext xmlns:a="http://schemas.openxmlformats.org/drawingml/2006/main" cx="11049000" cy="3952875"/>
        </p:xfrm>
        <a:graphic xmlns:a="http://schemas.openxmlformats.org/drawingml/2006/main">
          <a:graphicData uri="http://schemas.openxmlformats.org/drawingml/2006/table">
            <a:tbl>
              <a:tblPr/>
              <a:tblGrid>
                <a:gridCol w="3683000"/>
                <a:gridCol w="3683000"/>
                <a:gridCol w="3683000"/>
              </a:tblGrid>
              <a:tr h="658813">
                <a:tc>
                  <a:txBody>
                    <a:bodyPr/>
                    <a:lstStyle/>
                    <a:p>
                      <a:r>
                        <a:rPr sz="1800" b="1">
                          <a:solidFill>
                            <a:srgbClr val="FFFFFF"/>
                          </a:solidFill>
                          <a:latin typeface="Avenir Next"/>
                          <a:ea typeface="Avenir Next"/>
                          <a:cs typeface="Avenir Next"/>
                        </a:rPr>
                        <a:t>Measure</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Question / denominator</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Local result</a:t>
                      </a:r>
                    </a:p>
                  </a:txBody>
                  <a:tcPr marL="91440" marR="91440" marT="45720" marB="45720">
                    <a:solidFill>
                      <a:srgbClr val="09253A"/>
                    </a:solidFill>
                  </a:tcPr>
                </a:tc>
              </a:tr>
              <a:tr h="658813">
                <a:tc>
                  <a:txBody>
                    <a:bodyPr/>
                    <a:lstStyle/>
                    <a:p>
                      <a:r>
                        <a:rPr sz="1800" b="0">
                          <a:solidFill>
                            <a:srgbClr val="09253A"/>
                          </a:solidFill>
                          <a:latin typeface="Avenir Next"/>
                          <a:ea typeface="Avenir Next"/>
                          <a:cs typeface="Avenir Next"/>
                        </a:rPr>
                        <a:t>Sensitivity</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Among disease present: 30 / 37</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81.1%</a:t>
                      </a:r>
                    </a:p>
                  </a:txBody>
                  <a:tcPr marL="91440" marR="91440" marT="45720" marB="45720">
                    <a:solidFill>
                      <a:srgbClr val="F7F2E8"/>
                    </a:solidFill>
                  </a:tcPr>
                </a:tc>
              </a:tr>
              <a:tr h="658813">
                <a:tc>
                  <a:txBody>
                    <a:bodyPr/>
                    <a:lstStyle/>
                    <a:p>
                      <a:r>
                        <a:rPr sz="1800" b="0">
                          <a:solidFill>
                            <a:srgbClr val="09253A"/>
                          </a:solidFill>
                          <a:latin typeface="Avenir Next"/>
                          <a:ea typeface="Avenir Next"/>
                          <a:cs typeface="Avenir Next"/>
                        </a:rPr>
                        <a:t>Specificity</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Among disease absent: 45 / 53</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84.9%</a:t>
                      </a:r>
                    </a:p>
                  </a:txBody>
                  <a:tcPr marL="91440" marR="91440" marT="45720" marB="45720">
                    <a:solidFill>
                      <a:srgbClr val="FFFFFF"/>
                    </a:solidFill>
                  </a:tcPr>
                </a:tc>
              </a:tr>
              <a:tr h="658813">
                <a:tc>
                  <a:txBody>
                    <a:bodyPr/>
                    <a:lstStyle/>
                    <a:p>
                      <a:r>
                        <a:rPr sz="1800" b="0">
                          <a:solidFill>
                            <a:srgbClr val="09253A"/>
                          </a:solidFill>
                          <a:latin typeface="Avenir Next"/>
                          <a:ea typeface="Avenir Next"/>
                          <a:cs typeface="Avenir Next"/>
                        </a:rPr>
                        <a:t>Positive predictive value</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Among predicted present: 30 / 38</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78.9%</a:t>
                      </a:r>
                    </a:p>
                  </a:txBody>
                  <a:tcPr marL="91440" marR="91440" marT="45720" marB="45720">
                    <a:solidFill>
                      <a:srgbClr val="F7F2E8"/>
                    </a:solidFill>
                  </a:tcPr>
                </a:tc>
              </a:tr>
              <a:tr h="658813">
                <a:tc>
                  <a:txBody>
                    <a:bodyPr/>
                    <a:lstStyle/>
                    <a:p>
                      <a:r>
                        <a:rPr sz="1800" b="0">
                          <a:solidFill>
                            <a:srgbClr val="09253A"/>
                          </a:solidFill>
                          <a:latin typeface="Avenir Next"/>
                          <a:ea typeface="Avenir Next"/>
                          <a:cs typeface="Avenir Next"/>
                        </a:rPr>
                        <a:t>Negative predictive value</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Among predicted absent: 45 / 52</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86.5%</a:t>
                      </a:r>
                    </a:p>
                  </a:txBody>
                  <a:tcPr marL="91440" marR="91440" marT="45720" marB="45720">
                    <a:solidFill>
                      <a:srgbClr val="FFFFFF"/>
                    </a:solidFill>
                  </a:tcPr>
                </a:tc>
              </a:tr>
              <a:tr h="658813">
                <a:tc>
                  <a:txBody>
                    <a:bodyPr/>
                    <a:lstStyle/>
                    <a:p>
                      <a:r>
                        <a:rPr sz="1800" b="0">
                          <a:solidFill>
                            <a:srgbClr val="09253A"/>
                          </a:solidFill>
                          <a:latin typeface="Avenir Next"/>
                          <a:ea typeface="Avenir Next"/>
                          <a:cs typeface="Avenir Next"/>
                        </a:rPr>
                        <a:t>Accuracy</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Among all patients: 75 / 90</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83.3%</a:t>
                      </a:r>
                    </a:p>
                  </a:txBody>
                  <a:tcPr marL="91440" marR="91440" marT="45720" marB="45720">
                    <a:solidFill>
                      <a:srgbClr val="F7F2E8"/>
                    </a:solidFill>
                  </a:tcPr>
                </a:tc>
              </a:tr>
            </a:tbl>
          </a:graphicData>
        </a:graphic>
      </p:graphicFrame>
      <p:sp>
        <p:nvSpPr>
          <p:cNvPr id="6" name="">
            <a:extLst xmlns:a="http://schemas.openxmlformats.org/drawingml/2006/main">
              <a:ext uri="{FF2B5EF4-FFF2-40B4-BE49-F238E27FC236}">
                <a16:creationId xmlns:a16="http://schemas.microsoft.com/office/drawing/2014/main" id="{6CCD4D5F-7802-4B6D-8F1E-9E23C0E408C8}"/>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Predictive values depend on the frequency of disease in the population being assessed.</a:t>
            </a:r>
          </a:p>
        </p:txBody>
      </p:sp>
    </p:spTree>
    <p:extLst>
      <p:ext uri="{BB962C8B-B14F-4D97-AF65-F5344CB8AC3E}">
        <p14:creationId xmlns:p14="http://schemas.microsoft.com/office/powerpoint/2010/main" val="12427981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FD9950-AF50-4672-9A22-3E777DA4E7ED}"/>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14</a:t>
            </a:r>
          </a:p>
        </p:txBody>
      </p:sp>
      <p:sp>
        <p:nvSpPr>
          <p:cNvPr id="2" name="">
            <a:extLst xmlns:a="http://schemas.openxmlformats.org/drawingml/2006/main">
              <a:ext uri="{FF2B5EF4-FFF2-40B4-BE49-F238E27FC236}">
                <a16:creationId xmlns:a16="http://schemas.microsoft.com/office/drawing/2014/main" id="{89A8ABC8-BF19-4E67-9502-46BCE16C3EA3}"/>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ROC and AUC describe ranking</a:t>
            </a:r>
          </a:p>
        </p:txBody>
      </p:sp>
      <p:sp>
        <p:nvSpPr>
          <p:cNvPr id="3" name="">
            <a:extLst xmlns:a="http://schemas.openxmlformats.org/drawingml/2006/main">
              <a:ext uri="{FF2B5EF4-FFF2-40B4-BE49-F238E27FC236}">
                <a16:creationId xmlns:a16="http://schemas.microsoft.com/office/drawing/2014/main" id="{3032B20B-3D21-4059-A142-08D8CE230179}"/>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8CE185C-B0A1-4DB0-9937-85E9BF47DEBB}"/>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F2AE7517-17F2-4E44-84E7-C7AC1F2822E1}"/>
              </a:ext>
            </a:extLst>
          </p:cNvPr>
          <p:cNvPicPr>
            <a:picLocks xmlns:a="http://schemas.openxmlformats.org/drawingml/2006/main" noChangeAspect="1"/>
          </p:cNvPicPr>
          <p:nvPr/>
        </p:nvPicPr>
        <p:blipFill>
          <a:blip xmlns:r="http://schemas.openxmlformats.org/officeDocument/2006/relationships" xmlns:a="http://schemas.openxmlformats.org/drawingml/2006/main" r:embed="R4cac4b4c320145d8"/>
          <a:stretch xmlns:a="http://schemas.openxmlformats.org/drawingml/2006/main"/>
        </p:blipFill>
        <p:spPr>
          <a:xfrm xmlns:a="http://schemas.openxmlformats.org/drawingml/2006/main">
            <a:off x="1304925" y="1190625"/>
            <a:ext cx="58674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E1C5751-4ED5-4A24-8AF0-6BF3A7F903FD}"/>
              </a:ext>
            </a:extLst>
          </p:cNvPr>
          <p:cNvSpPr>
            <a:spLocks xmlns:a="http://schemas.openxmlformats.org/drawingml/2006/main" noGrp="1"/>
          </p:cNvSpPr>
          <p:nvPr/>
        </p:nvSpPr>
        <p:spPr>
          <a:xfrm xmlns:a="http://schemas.openxmlformats.org/drawingml/2006/main">
            <a:off x="8143875" y="142875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D6D76"/>
                </a:solidFill>
                <a:latin typeface="Avenir Next"/>
                <a:ea typeface="Avenir Next"/>
                <a:cs typeface="Avenir Next"/>
              </a:defRPr>
            </a:defPPr>
            <a:lvl1pPr>
              <a:defRPr sz="1950" b="0">
                <a:solidFill>
                  <a:srgbClr val="5D6D76"/>
                </a:solidFill>
                <a:latin typeface="Avenir Next"/>
                <a:ea typeface="Avenir Next"/>
                <a:cs typeface="Avenir Next"/>
              </a:defRPr>
            </a:lvl1pPr>
            <a:lvl2pPr>
              <a:defRPr sz="1950" b="0">
                <a:solidFill>
                  <a:srgbClr val="5D6D76"/>
                </a:solidFill>
                <a:latin typeface="Avenir Next"/>
                <a:ea typeface="Avenir Next"/>
                <a:cs typeface="Avenir Next"/>
              </a:defRPr>
            </a:lvl2pPr>
            <a:lvl3pPr>
              <a:defRPr sz="1950" b="0">
                <a:solidFill>
                  <a:srgbClr val="5D6D76"/>
                </a:solidFill>
                <a:latin typeface="Avenir Next"/>
                <a:ea typeface="Avenir Next"/>
                <a:cs typeface="Avenir Next"/>
              </a:defRPr>
            </a:lvl3pPr>
            <a:lvl4pPr>
              <a:defRPr sz="1950" b="0">
                <a:solidFill>
                  <a:srgbClr val="5D6D76"/>
                </a:solidFill>
                <a:latin typeface="Avenir Next"/>
                <a:ea typeface="Avenir Next"/>
                <a:cs typeface="Avenir Next"/>
              </a:defRPr>
            </a:lvl4pPr>
            <a:lvl5pPr>
              <a:defRPr sz="1950" b="0">
                <a:solidFill>
                  <a:srgbClr val="5D6D76"/>
                </a:solidFill>
                <a:latin typeface="Avenir Next"/>
                <a:ea typeface="Avenir Next"/>
                <a:cs typeface="Avenir Next"/>
              </a:defRPr>
            </a:lvl5pPr>
            <a:lvl6pPr>
              <a:defRPr sz="1950" b="0">
                <a:solidFill>
                  <a:srgbClr val="5D6D76"/>
                </a:solidFill>
                <a:latin typeface="Avenir Next"/>
                <a:ea typeface="Avenir Next"/>
                <a:cs typeface="Avenir Next"/>
              </a:defRPr>
            </a:lvl6pPr>
            <a:lvl7pPr>
              <a:defRPr sz="1950" b="0">
                <a:solidFill>
                  <a:srgbClr val="5D6D76"/>
                </a:solidFill>
                <a:latin typeface="Avenir Next"/>
                <a:ea typeface="Avenir Next"/>
                <a:cs typeface="Avenir Next"/>
              </a:defRPr>
            </a:lvl7pPr>
            <a:lvl8pPr>
              <a:defRPr sz="1950" b="0">
                <a:solidFill>
                  <a:srgbClr val="5D6D76"/>
                </a:solidFill>
                <a:latin typeface="Avenir Next"/>
                <a:ea typeface="Avenir Next"/>
                <a:cs typeface="Avenir Next"/>
              </a:defRPr>
            </a:lvl8pPr>
            <a:lvl9pPr>
              <a:defRPr sz="1950" b="0">
                <a:solidFill>
                  <a:srgbClr val="5D6D76"/>
                </a:solidFill>
                <a:latin typeface="Avenir Next"/>
                <a:ea typeface="Avenir Next"/>
                <a:cs typeface="Avenir Next"/>
              </a:defRPr>
            </a:lvl9pPr>
          </a:lstStyle>
          <a:p xmlns:a="http://schemas.openxmlformats.org/drawingml/2006/main">
            <a:pPr>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ROC compares sensitivity</a:t>
            </a:r>
          </a:p>
          <a:p xmlns:a="http://schemas.openxmlformats.org/drawingml/2006/main">
            <a:pPr>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with false-positive rate.</a:t>
            </a:r>
          </a:p>
        </p:txBody>
      </p:sp>
      <p:sp>
        <p:nvSpPr>
          <p:cNvPr id="7" name="">
            <a:extLst xmlns:a="http://schemas.openxmlformats.org/drawingml/2006/main">
              <a:ext uri="{FF2B5EF4-FFF2-40B4-BE49-F238E27FC236}">
                <a16:creationId xmlns:a16="http://schemas.microsoft.com/office/drawing/2014/main" id="{062B0AFA-34D7-4D08-A85C-868D4E64A5EE}"/>
              </a:ext>
            </a:extLst>
          </p:cNvPr>
          <p:cNvSpPr>
            <a:spLocks xmlns:a="http://schemas.openxmlformats.org/drawingml/2006/main" noGrp="1"/>
          </p:cNvSpPr>
          <p:nvPr/>
        </p:nvSpPr>
        <p:spPr>
          <a:xfrm xmlns:a="http://schemas.openxmlformats.org/drawingml/2006/main">
            <a:off x="8143875" y="2619375"/>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D6D76"/>
                </a:solidFill>
                <a:latin typeface="Avenir Next"/>
                <a:ea typeface="Avenir Next"/>
                <a:cs typeface="Avenir Next"/>
              </a:defRPr>
            </a:defPPr>
            <a:lvl1pPr>
              <a:defRPr sz="1950" b="0">
                <a:solidFill>
                  <a:srgbClr val="5D6D76"/>
                </a:solidFill>
                <a:latin typeface="Avenir Next"/>
                <a:ea typeface="Avenir Next"/>
                <a:cs typeface="Avenir Next"/>
              </a:defRPr>
            </a:lvl1pPr>
            <a:lvl2pPr>
              <a:defRPr sz="1950" b="0">
                <a:solidFill>
                  <a:srgbClr val="5D6D76"/>
                </a:solidFill>
                <a:latin typeface="Avenir Next"/>
                <a:ea typeface="Avenir Next"/>
                <a:cs typeface="Avenir Next"/>
              </a:defRPr>
            </a:lvl2pPr>
            <a:lvl3pPr>
              <a:defRPr sz="1950" b="0">
                <a:solidFill>
                  <a:srgbClr val="5D6D76"/>
                </a:solidFill>
                <a:latin typeface="Avenir Next"/>
                <a:ea typeface="Avenir Next"/>
                <a:cs typeface="Avenir Next"/>
              </a:defRPr>
            </a:lvl3pPr>
            <a:lvl4pPr>
              <a:defRPr sz="1950" b="0">
                <a:solidFill>
                  <a:srgbClr val="5D6D76"/>
                </a:solidFill>
                <a:latin typeface="Avenir Next"/>
                <a:ea typeface="Avenir Next"/>
                <a:cs typeface="Avenir Next"/>
              </a:defRPr>
            </a:lvl4pPr>
            <a:lvl5pPr>
              <a:defRPr sz="1950" b="0">
                <a:solidFill>
                  <a:srgbClr val="5D6D76"/>
                </a:solidFill>
                <a:latin typeface="Avenir Next"/>
                <a:ea typeface="Avenir Next"/>
                <a:cs typeface="Avenir Next"/>
              </a:defRPr>
            </a:lvl5pPr>
            <a:lvl6pPr>
              <a:defRPr sz="1950" b="0">
                <a:solidFill>
                  <a:srgbClr val="5D6D76"/>
                </a:solidFill>
                <a:latin typeface="Avenir Next"/>
                <a:ea typeface="Avenir Next"/>
                <a:cs typeface="Avenir Next"/>
              </a:defRPr>
            </a:lvl6pPr>
            <a:lvl7pPr>
              <a:defRPr sz="1950" b="0">
                <a:solidFill>
                  <a:srgbClr val="5D6D76"/>
                </a:solidFill>
                <a:latin typeface="Avenir Next"/>
                <a:ea typeface="Avenir Next"/>
                <a:cs typeface="Avenir Next"/>
              </a:defRPr>
            </a:lvl7pPr>
            <a:lvl8pPr>
              <a:defRPr sz="1950" b="0">
                <a:solidFill>
                  <a:srgbClr val="5D6D76"/>
                </a:solidFill>
                <a:latin typeface="Avenir Next"/>
                <a:ea typeface="Avenir Next"/>
                <a:cs typeface="Avenir Next"/>
              </a:defRPr>
            </a:lvl8pPr>
            <a:lvl9pPr>
              <a:defRPr sz="1950" b="0">
                <a:solidFill>
                  <a:srgbClr val="5D6D76"/>
                </a:solidFill>
                <a:latin typeface="Avenir Next"/>
                <a:ea typeface="Avenir Next"/>
                <a:cs typeface="Avenir Next"/>
              </a:defRPr>
            </a:lvl9pPr>
          </a:lstStyle>
          <a:p xmlns:a="http://schemas.openxmlformats.org/drawingml/2006/main">
            <a:pPr>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False-positive rate</a:t>
            </a:r>
          </a:p>
          <a:p xmlns:a="http://schemas.openxmlformats.org/drawingml/2006/main">
            <a:pPr>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 1 − specificity.</a:t>
            </a:r>
          </a:p>
        </p:txBody>
      </p:sp>
      <p:sp>
        <p:nvSpPr>
          <p:cNvPr id="8" name="">
            <a:extLst xmlns:a="http://schemas.openxmlformats.org/drawingml/2006/main">
              <a:ext uri="{FF2B5EF4-FFF2-40B4-BE49-F238E27FC236}">
                <a16:creationId xmlns:a16="http://schemas.microsoft.com/office/drawing/2014/main" id="{0889E9DF-DCC1-45B8-AB47-D343DC6F2C87}"/>
              </a:ext>
            </a:extLst>
          </p:cNvPr>
          <p:cNvSpPr>
            <a:spLocks xmlns:a="http://schemas.openxmlformats.org/drawingml/2006/main" noGrp="1"/>
          </p:cNvSpPr>
          <p:nvPr/>
        </p:nvSpPr>
        <p:spPr>
          <a:xfrm xmlns:a="http://schemas.openxmlformats.org/drawingml/2006/main">
            <a:off x="8143875" y="381000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D6D76"/>
                </a:solidFill>
                <a:latin typeface="Avenir Next"/>
                <a:ea typeface="Avenir Next"/>
                <a:cs typeface="Avenir Next"/>
              </a:defRPr>
            </a:defPPr>
            <a:lvl1pPr>
              <a:defRPr sz="1950" b="0">
                <a:solidFill>
                  <a:srgbClr val="5D6D76"/>
                </a:solidFill>
                <a:latin typeface="Avenir Next"/>
                <a:ea typeface="Avenir Next"/>
                <a:cs typeface="Avenir Next"/>
              </a:defRPr>
            </a:lvl1pPr>
            <a:lvl2pPr>
              <a:defRPr sz="1950" b="0">
                <a:solidFill>
                  <a:srgbClr val="5D6D76"/>
                </a:solidFill>
                <a:latin typeface="Avenir Next"/>
                <a:ea typeface="Avenir Next"/>
                <a:cs typeface="Avenir Next"/>
              </a:defRPr>
            </a:lvl2pPr>
            <a:lvl3pPr>
              <a:defRPr sz="1950" b="0">
                <a:solidFill>
                  <a:srgbClr val="5D6D76"/>
                </a:solidFill>
                <a:latin typeface="Avenir Next"/>
                <a:ea typeface="Avenir Next"/>
                <a:cs typeface="Avenir Next"/>
              </a:defRPr>
            </a:lvl3pPr>
            <a:lvl4pPr>
              <a:defRPr sz="1950" b="0">
                <a:solidFill>
                  <a:srgbClr val="5D6D76"/>
                </a:solidFill>
                <a:latin typeface="Avenir Next"/>
                <a:ea typeface="Avenir Next"/>
                <a:cs typeface="Avenir Next"/>
              </a:defRPr>
            </a:lvl4pPr>
            <a:lvl5pPr>
              <a:defRPr sz="1950" b="0">
                <a:solidFill>
                  <a:srgbClr val="5D6D76"/>
                </a:solidFill>
                <a:latin typeface="Avenir Next"/>
                <a:ea typeface="Avenir Next"/>
                <a:cs typeface="Avenir Next"/>
              </a:defRPr>
            </a:lvl5pPr>
            <a:lvl6pPr>
              <a:defRPr sz="1950" b="0">
                <a:solidFill>
                  <a:srgbClr val="5D6D76"/>
                </a:solidFill>
                <a:latin typeface="Avenir Next"/>
                <a:ea typeface="Avenir Next"/>
                <a:cs typeface="Avenir Next"/>
              </a:defRPr>
            </a:lvl6pPr>
            <a:lvl7pPr>
              <a:defRPr sz="1950" b="0">
                <a:solidFill>
                  <a:srgbClr val="5D6D76"/>
                </a:solidFill>
                <a:latin typeface="Avenir Next"/>
                <a:ea typeface="Avenir Next"/>
                <a:cs typeface="Avenir Next"/>
              </a:defRPr>
            </a:lvl7pPr>
            <a:lvl8pPr>
              <a:defRPr sz="1950" b="0">
                <a:solidFill>
                  <a:srgbClr val="5D6D76"/>
                </a:solidFill>
                <a:latin typeface="Avenir Next"/>
                <a:ea typeface="Avenir Next"/>
                <a:cs typeface="Avenir Next"/>
              </a:defRPr>
            </a:lvl8pPr>
            <a:lvl9pPr>
              <a:defRPr sz="1950" b="0">
                <a:solidFill>
                  <a:srgbClr val="5D6D76"/>
                </a:solidFill>
                <a:latin typeface="Avenir Next"/>
                <a:ea typeface="Avenir Next"/>
                <a:cs typeface="Avenir Next"/>
              </a:defRPr>
            </a:lvl9pPr>
          </a:lstStyle>
          <a:p xmlns:a="http://schemas.openxmlformats.org/drawingml/2006/main">
            <a:pPr>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AUC summarises ranking</a:t>
            </a:r>
          </a:p>
          <a:p xmlns:a="http://schemas.openxmlformats.org/drawingml/2006/main">
            <a:pPr>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across thresholds.</a:t>
            </a:r>
          </a:p>
        </p:txBody>
      </p:sp>
      <p:sp>
        <p:nvSpPr>
          <p:cNvPr id="9" name="">
            <a:extLst xmlns:a="http://schemas.openxmlformats.org/drawingml/2006/main">
              <a:ext uri="{FF2B5EF4-FFF2-40B4-BE49-F238E27FC236}">
                <a16:creationId xmlns:a16="http://schemas.microsoft.com/office/drawing/2014/main" id="{18D6B92A-728F-46F3-8303-B723A3096329}"/>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AUC alone does not choose a threshold or establish clinical usefulness.</a:t>
            </a:r>
          </a:p>
        </p:txBody>
      </p:sp>
    </p:spTree>
    <p:extLst>
      <p:ext uri="{BB962C8B-B14F-4D97-AF65-F5344CB8AC3E}">
        <p14:creationId xmlns:p14="http://schemas.microsoft.com/office/powerpoint/2010/main" val="11963845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AFA222-EE26-4DE2-9F36-67F211195310}"/>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15</a:t>
            </a:r>
          </a:p>
        </p:txBody>
      </p:sp>
      <p:sp>
        <p:nvSpPr>
          <p:cNvPr id="2" name="">
            <a:extLst xmlns:a="http://schemas.openxmlformats.org/drawingml/2006/main">
              <a:ext uri="{FF2B5EF4-FFF2-40B4-BE49-F238E27FC236}">
                <a16:creationId xmlns:a16="http://schemas.microsoft.com/office/drawing/2014/main" id="{1744800C-6E60-484E-AD24-AA1B08C2A5CE}"/>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Precision–recall focuses on positive predictions</a:t>
            </a:r>
          </a:p>
        </p:txBody>
      </p:sp>
      <p:sp>
        <p:nvSpPr>
          <p:cNvPr id="3" name="">
            <a:extLst xmlns:a="http://schemas.openxmlformats.org/drawingml/2006/main">
              <a:ext uri="{FF2B5EF4-FFF2-40B4-BE49-F238E27FC236}">
                <a16:creationId xmlns:a16="http://schemas.microsoft.com/office/drawing/2014/main" id="{30CA4323-49B7-4CF3-AE30-A23739FDDA6D}"/>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C09C21E-8EFA-40CF-A411-536D4CC39500}"/>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6E309A9F-B632-4C52-A6F4-C34D0DCEFB1E}"/>
              </a:ext>
            </a:extLst>
          </p:cNvPr>
          <p:cNvPicPr>
            <a:picLocks xmlns:a="http://schemas.openxmlformats.org/drawingml/2006/main" noChangeAspect="1"/>
          </p:cNvPicPr>
          <p:nvPr/>
        </p:nvPicPr>
        <p:blipFill>
          <a:blip xmlns:r="http://schemas.openxmlformats.org/officeDocument/2006/relationships" xmlns:a="http://schemas.openxmlformats.org/drawingml/2006/main" r:embed="Rd76bca58a7b64a3b"/>
          <a:stretch xmlns:a="http://schemas.openxmlformats.org/drawingml/2006/main"/>
        </p:blipFill>
        <p:spPr>
          <a:xfrm xmlns:a="http://schemas.openxmlformats.org/drawingml/2006/main">
            <a:off x="1304925" y="1190625"/>
            <a:ext cx="58674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A3CB99-3562-4ECB-8901-71683561FC35}"/>
              </a:ext>
            </a:extLst>
          </p:cNvPr>
          <p:cNvSpPr>
            <a:spLocks xmlns:a="http://schemas.openxmlformats.org/drawingml/2006/main" noGrp="1"/>
          </p:cNvSpPr>
          <p:nvPr/>
        </p:nvSpPr>
        <p:spPr>
          <a:xfrm xmlns:a="http://schemas.openxmlformats.org/drawingml/2006/main">
            <a:off x="8143875" y="142875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defRPr sz="2100" b="0">
                <a:solidFill>
                  <a:srgbClr val="5D6D76"/>
                </a:solidFill>
                <a:latin typeface="Avenir Next"/>
                <a:ea typeface="Avenir Next"/>
                <a:cs typeface="Avenir Next"/>
              </a:defRPr>
            </a:lvl1pPr>
            <a:lvl2pPr>
              <a:defRPr sz="2100" b="0">
                <a:solidFill>
                  <a:srgbClr val="5D6D76"/>
                </a:solidFill>
                <a:latin typeface="Avenir Next"/>
                <a:ea typeface="Avenir Next"/>
                <a:cs typeface="Avenir Next"/>
              </a:defRPr>
            </a:lvl2pPr>
            <a:lvl3pPr>
              <a:defRPr sz="2100" b="0">
                <a:solidFill>
                  <a:srgbClr val="5D6D76"/>
                </a:solidFill>
                <a:latin typeface="Avenir Next"/>
                <a:ea typeface="Avenir Next"/>
                <a:cs typeface="Avenir Next"/>
              </a:defRPr>
            </a:lvl3pPr>
            <a:lvl4pPr>
              <a:defRPr sz="2100" b="0">
                <a:solidFill>
                  <a:srgbClr val="5D6D76"/>
                </a:solidFill>
                <a:latin typeface="Avenir Next"/>
                <a:ea typeface="Avenir Next"/>
                <a:cs typeface="Avenir Next"/>
              </a:defRPr>
            </a:lvl4pPr>
            <a:lvl5pPr>
              <a:defRPr sz="2100" b="0">
                <a:solidFill>
                  <a:srgbClr val="5D6D76"/>
                </a:solidFill>
                <a:latin typeface="Avenir Next"/>
                <a:ea typeface="Avenir Next"/>
                <a:cs typeface="Avenir Next"/>
              </a:defRPr>
            </a:lvl5pPr>
            <a:lvl6pPr>
              <a:defRPr sz="2100" b="0">
                <a:solidFill>
                  <a:srgbClr val="5D6D76"/>
                </a:solidFill>
                <a:latin typeface="Avenir Next"/>
                <a:ea typeface="Avenir Next"/>
                <a:cs typeface="Avenir Next"/>
              </a:defRPr>
            </a:lvl6pPr>
            <a:lvl7pPr>
              <a:defRPr sz="2100" b="0">
                <a:solidFill>
                  <a:srgbClr val="5D6D76"/>
                </a:solidFill>
                <a:latin typeface="Avenir Next"/>
                <a:ea typeface="Avenir Next"/>
                <a:cs typeface="Avenir Next"/>
              </a:defRPr>
            </a:lvl7pPr>
            <a:lvl8pPr>
              <a:defRPr sz="2100" b="0">
                <a:solidFill>
                  <a:srgbClr val="5D6D76"/>
                </a:solidFill>
                <a:latin typeface="Avenir Next"/>
                <a:ea typeface="Avenir Next"/>
                <a:cs typeface="Avenir Next"/>
              </a:defRPr>
            </a:lvl8pPr>
            <a:lvl9pPr>
              <a:defRPr sz="2100" b="0">
                <a:solidFill>
                  <a:srgbClr val="5D6D76"/>
                </a:solidFill>
                <a:latin typeface="Avenir Next"/>
                <a:ea typeface="Avenir Next"/>
                <a:cs typeface="Avenir Next"/>
              </a:defRPr>
            </a:lvl9pPr>
          </a:lstStyle>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Recall = sensitivity.</a:t>
            </a:r>
          </a:p>
        </p:txBody>
      </p:sp>
      <p:sp>
        <p:nvSpPr>
          <p:cNvPr id="7" name="">
            <a:extLst xmlns:a="http://schemas.openxmlformats.org/drawingml/2006/main">
              <a:ext uri="{FF2B5EF4-FFF2-40B4-BE49-F238E27FC236}">
                <a16:creationId xmlns:a16="http://schemas.microsoft.com/office/drawing/2014/main" id="{AA1E2064-ED16-4FE8-BFF6-8A3590D39169}"/>
              </a:ext>
            </a:extLst>
          </p:cNvPr>
          <p:cNvSpPr>
            <a:spLocks xmlns:a="http://schemas.openxmlformats.org/drawingml/2006/main" noGrp="1"/>
          </p:cNvSpPr>
          <p:nvPr/>
        </p:nvSpPr>
        <p:spPr>
          <a:xfrm xmlns:a="http://schemas.openxmlformats.org/drawingml/2006/main">
            <a:off x="8143875" y="2619375"/>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defRPr sz="2100" b="0">
                <a:solidFill>
                  <a:srgbClr val="5D6D76"/>
                </a:solidFill>
                <a:latin typeface="Avenir Next"/>
                <a:ea typeface="Avenir Next"/>
                <a:cs typeface="Avenir Next"/>
              </a:defRPr>
            </a:lvl1pPr>
            <a:lvl2pPr>
              <a:defRPr sz="2100" b="0">
                <a:solidFill>
                  <a:srgbClr val="5D6D76"/>
                </a:solidFill>
                <a:latin typeface="Avenir Next"/>
                <a:ea typeface="Avenir Next"/>
                <a:cs typeface="Avenir Next"/>
              </a:defRPr>
            </a:lvl2pPr>
            <a:lvl3pPr>
              <a:defRPr sz="2100" b="0">
                <a:solidFill>
                  <a:srgbClr val="5D6D76"/>
                </a:solidFill>
                <a:latin typeface="Avenir Next"/>
                <a:ea typeface="Avenir Next"/>
                <a:cs typeface="Avenir Next"/>
              </a:defRPr>
            </a:lvl3pPr>
            <a:lvl4pPr>
              <a:defRPr sz="2100" b="0">
                <a:solidFill>
                  <a:srgbClr val="5D6D76"/>
                </a:solidFill>
                <a:latin typeface="Avenir Next"/>
                <a:ea typeface="Avenir Next"/>
                <a:cs typeface="Avenir Next"/>
              </a:defRPr>
            </a:lvl4pPr>
            <a:lvl5pPr>
              <a:defRPr sz="2100" b="0">
                <a:solidFill>
                  <a:srgbClr val="5D6D76"/>
                </a:solidFill>
                <a:latin typeface="Avenir Next"/>
                <a:ea typeface="Avenir Next"/>
                <a:cs typeface="Avenir Next"/>
              </a:defRPr>
            </a:lvl5pPr>
            <a:lvl6pPr>
              <a:defRPr sz="2100" b="0">
                <a:solidFill>
                  <a:srgbClr val="5D6D76"/>
                </a:solidFill>
                <a:latin typeface="Avenir Next"/>
                <a:ea typeface="Avenir Next"/>
                <a:cs typeface="Avenir Next"/>
              </a:defRPr>
            </a:lvl6pPr>
            <a:lvl7pPr>
              <a:defRPr sz="2100" b="0">
                <a:solidFill>
                  <a:srgbClr val="5D6D76"/>
                </a:solidFill>
                <a:latin typeface="Avenir Next"/>
                <a:ea typeface="Avenir Next"/>
                <a:cs typeface="Avenir Next"/>
              </a:defRPr>
            </a:lvl7pPr>
            <a:lvl8pPr>
              <a:defRPr sz="2100" b="0">
                <a:solidFill>
                  <a:srgbClr val="5D6D76"/>
                </a:solidFill>
                <a:latin typeface="Avenir Next"/>
                <a:ea typeface="Avenir Next"/>
                <a:cs typeface="Avenir Next"/>
              </a:defRPr>
            </a:lvl8pPr>
            <a:lvl9pPr>
              <a:defRPr sz="2100" b="0">
                <a:solidFill>
                  <a:srgbClr val="5D6D76"/>
                </a:solidFill>
                <a:latin typeface="Avenir Next"/>
                <a:ea typeface="Avenir Next"/>
                <a:cs typeface="Avenir Next"/>
              </a:defRPr>
            </a:lvl9pPr>
          </a:lstStyle>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Precision = positive</a:t>
            </a:r>
          </a:p>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predictive value.</a:t>
            </a:r>
          </a:p>
        </p:txBody>
      </p:sp>
      <p:sp>
        <p:nvSpPr>
          <p:cNvPr id="8" name="">
            <a:extLst xmlns:a="http://schemas.openxmlformats.org/drawingml/2006/main">
              <a:ext uri="{FF2B5EF4-FFF2-40B4-BE49-F238E27FC236}">
                <a16:creationId xmlns:a16="http://schemas.microsoft.com/office/drawing/2014/main" id="{0CD64B2F-69FF-49D4-9CCE-83641FDC6D33}"/>
              </a:ext>
            </a:extLst>
          </p:cNvPr>
          <p:cNvSpPr>
            <a:spLocks xmlns:a="http://schemas.openxmlformats.org/drawingml/2006/main" noGrp="1"/>
          </p:cNvSpPr>
          <p:nvPr/>
        </p:nvSpPr>
        <p:spPr>
          <a:xfrm xmlns:a="http://schemas.openxmlformats.org/drawingml/2006/main">
            <a:off x="8143875" y="381000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defRPr sz="2100" b="0">
                <a:solidFill>
                  <a:srgbClr val="5D6D76"/>
                </a:solidFill>
                <a:latin typeface="Avenir Next"/>
                <a:ea typeface="Avenir Next"/>
                <a:cs typeface="Avenir Next"/>
              </a:defRPr>
            </a:lvl1pPr>
            <a:lvl2pPr>
              <a:defRPr sz="2100" b="0">
                <a:solidFill>
                  <a:srgbClr val="5D6D76"/>
                </a:solidFill>
                <a:latin typeface="Avenir Next"/>
                <a:ea typeface="Avenir Next"/>
                <a:cs typeface="Avenir Next"/>
              </a:defRPr>
            </a:lvl2pPr>
            <a:lvl3pPr>
              <a:defRPr sz="2100" b="0">
                <a:solidFill>
                  <a:srgbClr val="5D6D76"/>
                </a:solidFill>
                <a:latin typeface="Avenir Next"/>
                <a:ea typeface="Avenir Next"/>
                <a:cs typeface="Avenir Next"/>
              </a:defRPr>
            </a:lvl3pPr>
            <a:lvl4pPr>
              <a:defRPr sz="2100" b="0">
                <a:solidFill>
                  <a:srgbClr val="5D6D76"/>
                </a:solidFill>
                <a:latin typeface="Avenir Next"/>
                <a:ea typeface="Avenir Next"/>
                <a:cs typeface="Avenir Next"/>
              </a:defRPr>
            </a:lvl4pPr>
            <a:lvl5pPr>
              <a:defRPr sz="2100" b="0">
                <a:solidFill>
                  <a:srgbClr val="5D6D76"/>
                </a:solidFill>
                <a:latin typeface="Avenir Next"/>
                <a:ea typeface="Avenir Next"/>
                <a:cs typeface="Avenir Next"/>
              </a:defRPr>
            </a:lvl5pPr>
            <a:lvl6pPr>
              <a:defRPr sz="2100" b="0">
                <a:solidFill>
                  <a:srgbClr val="5D6D76"/>
                </a:solidFill>
                <a:latin typeface="Avenir Next"/>
                <a:ea typeface="Avenir Next"/>
                <a:cs typeface="Avenir Next"/>
              </a:defRPr>
            </a:lvl6pPr>
            <a:lvl7pPr>
              <a:defRPr sz="2100" b="0">
                <a:solidFill>
                  <a:srgbClr val="5D6D76"/>
                </a:solidFill>
                <a:latin typeface="Avenir Next"/>
                <a:ea typeface="Avenir Next"/>
                <a:cs typeface="Avenir Next"/>
              </a:defRPr>
            </a:lvl7pPr>
            <a:lvl8pPr>
              <a:defRPr sz="2100" b="0">
                <a:solidFill>
                  <a:srgbClr val="5D6D76"/>
                </a:solidFill>
                <a:latin typeface="Avenir Next"/>
                <a:ea typeface="Avenir Next"/>
                <a:cs typeface="Avenir Next"/>
              </a:defRPr>
            </a:lvl8pPr>
            <a:lvl9pPr>
              <a:defRPr sz="2100" b="0">
                <a:solidFill>
                  <a:srgbClr val="5D6D76"/>
                </a:solidFill>
                <a:latin typeface="Avenir Next"/>
                <a:ea typeface="Avenir Next"/>
                <a:cs typeface="Avenir Next"/>
              </a:defRPr>
            </a:lvl9pPr>
          </a:lstStyle>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The curve shows their</a:t>
            </a:r>
          </a:p>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tradeoff across thresholds.</a:t>
            </a:r>
          </a:p>
        </p:txBody>
      </p:sp>
      <p:sp>
        <p:nvSpPr>
          <p:cNvPr id="9" name="">
            <a:extLst xmlns:a="http://schemas.openxmlformats.org/drawingml/2006/main">
              <a:ext uri="{FF2B5EF4-FFF2-40B4-BE49-F238E27FC236}">
                <a16:creationId xmlns:a16="http://schemas.microsoft.com/office/drawing/2014/main" id="{2C10441A-9E7E-467E-8E71-CF2F414E691C}"/>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Disease frequency matters when interpreting precision and comparing datasets.</a:t>
            </a:r>
          </a:p>
        </p:txBody>
      </p:sp>
    </p:spTree>
    <p:extLst>
      <p:ext uri="{BB962C8B-B14F-4D97-AF65-F5344CB8AC3E}">
        <p14:creationId xmlns:p14="http://schemas.microsoft.com/office/powerpoint/2010/main" val="2357551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EF4682-3FBF-4703-8299-7F12FCE6A6B7}"/>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16</a:t>
            </a:r>
          </a:p>
        </p:txBody>
      </p:sp>
      <p:sp>
        <p:nvSpPr>
          <p:cNvPr id="2" name="">
            <a:extLst xmlns:a="http://schemas.openxmlformats.org/drawingml/2006/main">
              <a:ext uri="{FF2B5EF4-FFF2-40B4-BE49-F238E27FC236}">
                <a16:creationId xmlns:a16="http://schemas.microsoft.com/office/drawing/2014/main" id="{8B3476F2-51DC-4990-8762-1124A82DFE07}"/>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Probability thresholds change the errors</a:t>
            </a:r>
          </a:p>
        </p:txBody>
      </p:sp>
      <p:sp>
        <p:nvSpPr>
          <p:cNvPr id="3" name="">
            <a:extLst xmlns:a="http://schemas.openxmlformats.org/drawingml/2006/main">
              <a:ext uri="{FF2B5EF4-FFF2-40B4-BE49-F238E27FC236}">
                <a16:creationId xmlns:a16="http://schemas.microsoft.com/office/drawing/2014/main" id="{502AE6DF-0A9F-45B6-A22B-D72509CBD08A}"/>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36858DBA-CD37-4D71-95F0-FD19F344CE7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31D4CA43-616D-47B5-856A-133721A416F0}"/>
              </a:ext>
            </a:extLst>
          </p:cNvPr>
          <p:cNvPicPr>
            <a:picLocks xmlns:a="http://schemas.openxmlformats.org/drawingml/2006/main" noChangeAspect="1"/>
          </p:cNvPicPr>
          <p:nvPr/>
        </p:nvPicPr>
        <p:blipFill>
          <a:blip xmlns:r="http://schemas.openxmlformats.org/officeDocument/2006/relationships" xmlns:a="http://schemas.openxmlformats.org/drawingml/2006/main" r:embed="Rcdde30b792394ba1"/>
          <a:stretch xmlns:a="http://schemas.openxmlformats.org/drawingml/2006/main"/>
        </p:blipFill>
        <p:spPr>
          <a:xfrm xmlns:a="http://schemas.openxmlformats.org/drawingml/2006/main">
            <a:off x="1304925" y="1190625"/>
            <a:ext cx="58674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FA80B7-98FA-40F4-96CD-B2ABA82C564A}"/>
              </a:ext>
            </a:extLst>
          </p:cNvPr>
          <p:cNvSpPr>
            <a:spLocks xmlns:a="http://schemas.openxmlformats.org/drawingml/2006/main" noGrp="1"/>
          </p:cNvSpPr>
          <p:nvPr/>
        </p:nvSpPr>
        <p:spPr>
          <a:xfrm xmlns:a="http://schemas.openxmlformats.org/drawingml/2006/main">
            <a:off x="8143875" y="1428750"/>
            <a:ext cx="34766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D6D76"/>
                </a:solidFill>
                <a:latin typeface="Avenir Next"/>
                <a:ea typeface="Avenir Next"/>
                <a:cs typeface="Avenir Next"/>
              </a:defRPr>
            </a:defPPr>
            <a:lvl1pPr>
              <a:defRPr sz="2025" b="0">
                <a:solidFill>
                  <a:srgbClr val="5D6D76"/>
                </a:solidFill>
                <a:latin typeface="Avenir Next"/>
                <a:ea typeface="Avenir Next"/>
                <a:cs typeface="Avenir Next"/>
              </a:defRPr>
            </a:lvl1pPr>
            <a:lvl2pPr>
              <a:defRPr sz="2025" b="0">
                <a:solidFill>
                  <a:srgbClr val="5D6D76"/>
                </a:solidFill>
                <a:latin typeface="Avenir Next"/>
                <a:ea typeface="Avenir Next"/>
                <a:cs typeface="Avenir Next"/>
              </a:defRPr>
            </a:lvl2pPr>
            <a:lvl3pPr>
              <a:defRPr sz="2025" b="0">
                <a:solidFill>
                  <a:srgbClr val="5D6D76"/>
                </a:solidFill>
                <a:latin typeface="Avenir Next"/>
                <a:ea typeface="Avenir Next"/>
                <a:cs typeface="Avenir Next"/>
              </a:defRPr>
            </a:lvl3pPr>
            <a:lvl4pPr>
              <a:defRPr sz="2025" b="0">
                <a:solidFill>
                  <a:srgbClr val="5D6D76"/>
                </a:solidFill>
                <a:latin typeface="Avenir Next"/>
                <a:ea typeface="Avenir Next"/>
                <a:cs typeface="Avenir Next"/>
              </a:defRPr>
            </a:lvl4pPr>
            <a:lvl5pPr>
              <a:defRPr sz="2025" b="0">
                <a:solidFill>
                  <a:srgbClr val="5D6D76"/>
                </a:solidFill>
                <a:latin typeface="Avenir Next"/>
                <a:ea typeface="Avenir Next"/>
                <a:cs typeface="Avenir Next"/>
              </a:defRPr>
            </a:lvl5pPr>
            <a:lvl6pPr>
              <a:defRPr sz="2025" b="0">
                <a:solidFill>
                  <a:srgbClr val="5D6D76"/>
                </a:solidFill>
                <a:latin typeface="Avenir Next"/>
                <a:ea typeface="Avenir Next"/>
                <a:cs typeface="Avenir Next"/>
              </a:defRPr>
            </a:lvl6pPr>
            <a:lvl7pPr>
              <a:defRPr sz="2025" b="0">
                <a:solidFill>
                  <a:srgbClr val="5D6D76"/>
                </a:solidFill>
                <a:latin typeface="Avenir Next"/>
                <a:ea typeface="Avenir Next"/>
                <a:cs typeface="Avenir Next"/>
              </a:defRPr>
            </a:lvl7pPr>
            <a:lvl8pPr>
              <a:defRPr sz="2025" b="0">
                <a:solidFill>
                  <a:srgbClr val="5D6D76"/>
                </a:solidFill>
                <a:latin typeface="Avenir Next"/>
                <a:ea typeface="Avenir Next"/>
                <a:cs typeface="Avenir Next"/>
              </a:defRPr>
            </a:lvl8pPr>
            <a:lvl9pPr>
              <a:defRPr sz="2025" b="0">
                <a:solidFill>
                  <a:srgbClr val="5D6D76"/>
                </a:solidFill>
                <a:latin typeface="Avenir Next"/>
                <a:ea typeface="Avenir Next"/>
                <a:cs typeface="Avenir Next"/>
              </a:defRPr>
            </a:lvl9pPr>
          </a:lstStyle>
          <a:p xmlns:a="http://schemas.openxmlformats.org/drawingml/2006/main">
            <a:pPr>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Lower threshold usually</a:t>
            </a:r>
          </a:p>
          <a:p xmlns:a="http://schemas.openxmlformats.org/drawingml/2006/main">
            <a:pPr>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raises sensitivity and</a:t>
            </a:r>
          </a:p>
          <a:p xmlns:a="http://schemas.openxmlformats.org/drawingml/2006/main">
            <a:pPr>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reduces specificity.</a:t>
            </a:r>
          </a:p>
        </p:txBody>
      </p:sp>
      <p:sp>
        <p:nvSpPr>
          <p:cNvPr id="7" name="">
            <a:extLst xmlns:a="http://schemas.openxmlformats.org/drawingml/2006/main">
              <a:ext uri="{FF2B5EF4-FFF2-40B4-BE49-F238E27FC236}">
                <a16:creationId xmlns:a16="http://schemas.microsoft.com/office/drawing/2014/main" id="{84B83213-6CC4-419C-8C4B-C92D556103F3}"/>
              </a:ext>
            </a:extLst>
          </p:cNvPr>
          <p:cNvSpPr>
            <a:spLocks xmlns:a="http://schemas.openxmlformats.org/drawingml/2006/main" noGrp="1"/>
          </p:cNvSpPr>
          <p:nvPr/>
        </p:nvSpPr>
        <p:spPr>
          <a:xfrm xmlns:a="http://schemas.openxmlformats.org/drawingml/2006/main">
            <a:off x="8143875" y="3143250"/>
            <a:ext cx="34766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D6D76"/>
                </a:solidFill>
                <a:latin typeface="Avenir Next"/>
                <a:ea typeface="Avenir Next"/>
                <a:cs typeface="Avenir Next"/>
              </a:defRPr>
            </a:defPPr>
            <a:lvl1pPr>
              <a:defRPr sz="2025" b="0">
                <a:solidFill>
                  <a:srgbClr val="5D6D76"/>
                </a:solidFill>
                <a:latin typeface="Avenir Next"/>
                <a:ea typeface="Avenir Next"/>
                <a:cs typeface="Avenir Next"/>
              </a:defRPr>
            </a:lvl1pPr>
            <a:lvl2pPr>
              <a:defRPr sz="2025" b="0">
                <a:solidFill>
                  <a:srgbClr val="5D6D76"/>
                </a:solidFill>
                <a:latin typeface="Avenir Next"/>
                <a:ea typeface="Avenir Next"/>
                <a:cs typeface="Avenir Next"/>
              </a:defRPr>
            </a:lvl2pPr>
            <a:lvl3pPr>
              <a:defRPr sz="2025" b="0">
                <a:solidFill>
                  <a:srgbClr val="5D6D76"/>
                </a:solidFill>
                <a:latin typeface="Avenir Next"/>
                <a:ea typeface="Avenir Next"/>
                <a:cs typeface="Avenir Next"/>
              </a:defRPr>
            </a:lvl3pPr>
            <a:lvl4pPr>
              <a:defRPr sz="2025" b="0">
                <a:solidFill>
                  <a:srgbClr val="5D6D76"/>
                </a:solidFill>
                <a:latin typeface="Avenir Next"/>
                <a:ea typeface="Avenir Next"/>
                <a:cs typeface="Avenir Next"/>
              </a:defRPr>
            </a:lvl4pPr>
            <a:lvl5pPr>
              <a:defRPr sz="2025" b="0">
                <a:solidFill>
                  <a:srgbClr val="5D6D76"/>
                </a:solidFill>
                <a:latin typeface="Avenir Next"/>
                <a:ea typeface="Avenir Next"/>
                <a:cs typeface="Avenir Next"/>
              </a:defRPr>
            </a:lvl5pPr>
            <a:lvl6pPr>
              <a:defRPr sz="2025" b="0">
                <a:solidFill>
                  <a:srgbClr val="5D6D76"/>
                </a:solidFill>
                <a:latin typeface="Avenir Next"/>
                <a:ea typeface="Avenir Next"/>
                <a:cs typeface="Avenir Next"/>
              </a:defRPr>
            </a:lvl6pPr>
            <a:lvl7pPr>
              <a:defRPr sz="2025" b="0">
                <a:solidFill>
                  <a:srgbClr val="5D6D76"/>
                </a:solidFill>
                <a:latin typeface="Avenir Next"/>
                <a:ea typeface="Avenir Next"/>
                <a:cs typeface="Avenir Next"/>
              </a:defRPr>
            </a:lvl7pPr>
            <a:lvl8pPr>
              <a:defRPr sz="2025" b="0">
                <a:solidFill>
                  <a:srgbClr val="5D6D76"/>
                </a:solidFill>
                <a:latin typeface="Avenir Next"/>
                <a:ea typeface="Avenir Next"/>
                <a:cs typeface="Avenir Next"/>
              </a:defRPr>
            </a:lvl8pPr>
            <a:lvl9pPr>
              <a:defRPr sz="2025" b="0">
                <a:solidFill>
                  <a:srgbClr val="5D6D76"/>
                </a:solidFill>
                <a:latin typeface="Avenir Next"/>
                <a:ea typeface="Avenir Next"/>
                <a:cs typeface="Avenir Next"/>
              </a:defRPr>
            </a:lvl9pPr>
          </a:lstStyle>
          <a:p xmlns:a="http://schemas.openxmlformats.org/drawingml/2006/main">
            <a:pPr>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Higher threshold usually</a:t>
            </a:r>
          </a:p>
          <a:p xmlns:a="http://schemas.openxmlformats.org/drawingml/2006/main">
            <a:pPr>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reduces sensitivity and</a:t>
            </a:r>
          </a:p>
          <a:p xmlns:a="http://schemas.openxmlformats.org/drawingml/2006/main">
            <a:pPr>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raises specificity.</a:t>
            </a:r>
          </a:p>
        </p:txBody>
      </p:sp>
      <p:sp>
        <p:nvSpPr>
          <p:cNvPr id="8" name="">
            <a:extLst xmlns:a="http://schemas.openxmlformats.org/drawingml/2006/main">
              <a:ext uri="{FF2B5EF4-FFF2-40B4-BE49-F238E27FC236}">
                <a16:creationId xmlns:a16="http://schemas.microsoft.com/office/drawing/2014/main" id="{CE00918F-915D-4AC7-A948-4928BE4005A4}"/>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Checkpoint: How would lowering the threshold affect missed disease and false alarms?</a:t>
            </a:r>
          </a:p>
        </p:txBody>
      </p:sp>
    </p:spTree>
    <p:extLst>
      <p:ext uri="{BB962C8B-B14F-4D97-AF65-F5344CB8AC3E}">
        <p14:creationId xmlns:p14="http://schemas.microsoft.com/office/powerpoint/2010/main" val="11169702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20468C-E9D7-422F-AF3E-58E463EB0A7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17</a:t>
            </a:r>
          </a:p>
        </p:txBody>
      </p:sp>
      <p:sp>
        <p:nvSpPr>
          <p:cNvPr id="2" name="">
            <a:extLst xmlns:a="http://schemas.openxmlformats.org/drawingml/2006/main">
              <a:ext uri="{FF2B5EF4-FFF2-40B4-BE49-F238E27FC236}">
                <a16:creationId xmlns:a16="http://schemas.microsoft.com/office/drawing/2014/main" id="{E1855F58-D470-479A-83C4-AC9DDFB5386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Workflow and limits</a:t>
            </a:r>
          </a:p>
        </p:txBody>
      </p:sp>
      <p:sp>
        <p:nvSpPr>
          <p:cNvPr id="3" name="">
            <a:extLst xmlns:a="http://schemas.openxmlformats.org/drawingml/2006/main">
              <a:ext uri="{FF2B5EF4-FFF2-40B4-BE49-F238E27FC236}">
                <a16:creationId xmlns:a16="http://schemas.microsoft.com/office/drawing/2014/main" id="{0CC3CD43-AE2C-411A-9B79-698A4E820D7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83D148A-F63E-44CE-B53E-7A39C3AA2AD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9B51000-A834-46BC-AB36-54AAEDD0DFB3}"/>
              </a:ext>
            </a:extLst>
          </p:cNvPr>
          <p:cNvSpPr>
            <a:spLocks xmlns:a="http://schemas.openxmlformats.org/drawingml/2006/main" noGrp="1"/>
          </p:cNvSpPr>
          <p:nvPr/>
        </p:nvSpPr>
        <p:spPr>
          <a:xfrm xmlns:a="http://schemas.openxmlformats.org/drawingml/2006/main">
            <a:off x="619125" y="1381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defRPr sz="2175" b="0">
                <a:solidFill>
                  <a:srgbClr val="5D6D76"/>
                </a:solidFill>
                <a:latin typeface="Avenir Next"/>
                <a:ea typeface="Avenir Next"/>
                <a:cs typeface="Avenir Next"/>
              </a:defRPr>
            </a:lvl1pPr>
            <a:lvl2pPr>
              <a:defRPr sz="2175" b="0">
                <a:solidFill>
                  <a:srgbClr val="5D6D76"/>
                </a:solidFill>
                <a:latin typeface="Avenir Next"/>
                <a:ea typeface="Avenir Next"/>
                <a:cs typeface="Avenir Next"/>
              </a:defRPr>
            </a:lvl2pPr>
            <a:lvl3pPr>
              <a:defRPr sz="2175" b="0">
                <a:solidFill>
                  <a:srgbClr val="5D6D76"/>
                </a:solidFill>
                <a:latin typeface="Avenir Next"/>
                <a:ea typeface="Avenir Next"/>
                <a:cs typeface="Avenir Next"/>
              </a:defRPr>
            </a:lvl3pPr>
            <a:lvl4pPr>
              <a:defRPr sz="2175" b="0">
                <a:solidFill>
                  <a:srgbClr val="5D6D76"/>
                </a:solidFill>
                <a:latin typeface="Avenir Next"/>
                <a:ea typeface="Avenir Next"/>
                <a:cs typeface="Avenir Next"/>
              </a:defRPr>
            </a:lvl4pPr>
            <a:lvl5pPr>
              <a:defRPr sz="2175" b="0">
                <a:solidFill>
                  <a:srgbClr val="5D6D76"/>
                </a:solidFill>
                <a:latin typeface="Avenir Next"/>
                <a:ea typeface="Avenir Next"/>
                <a:cs typeface="Avenir Next"/>
              </a:defRPr>
            </a:lvl5pPr>
            <a:lvl6pPr>
              <a:defRPr sz="2175" b="0">
                <a:solidFill>
                  <a:srgbClr val="5D6D76"/>
                </a:solidFill>
                <a:latin typeface="Avenir Next"/>
                <a:ea typeface="Avenir Next"/>
                <a:cs typeface="Avenir Next"/>
              </a:defRPr>
            </a:lvl6pPr>
            <a:lvl7pPr>
              <a:defRPr sz="2175" b="0">
                <a:solidFill>
                  <a:srgbClr val="5D6D76"/>
                </a:solidFill>
                <a:latin typeface="Avenir Next"/>
                <a:ea typeface="Avenir Next"/>
                <a:cs typeface="Avenir Next"/>
              </a:defRPr>
            </a:lvl7pPr>
            <a:lvl8pPr>
              <a:defRPr sz="2175" b="0">
                <a:solidFill>
                  <a:srgbClr val="5D6D76"/>
                </a:solidFill>
                <a:latin typeface="Avenir Next"/>
                <a:ea typeface="Avenir Next"/>
                <a:cs typeface="Avenir Next"/>
              </a:defRPr>
            </a:lvl8pPr>
            <a:lvl9pPr>
              <a:defRPr sz="2175" b="0">
                <a:solidFill>
                  <a:srgbClr val="5D6D76"/>
                </a:solidFill>
                <a:latin typeface="Avenir Next"/>
                <a:ea typeface="Avenir Next"/>
                <a:cs typeface="Avenir Next"/>
              </a:defRPr>
            </a:lvl9pPr>
          </a:lstStyle>
          <a:p xmlns:a="http://schemas.openxmlformats.org/drawingml/2006/main">
            <a:pPr>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Define the patient, predictors and existing-disease outcome.</a:t>
            </a:r>
          </a:p>
        </p:txBody>
      </p:sp>
      <p:sp>
        <p:nvSpPr>
          <p:cNvPr id="6" name="">
            <a:extLst xmlns:a="http://schemas.openxmlformats.org/drawingml/2006/main">
              <a:ext uri="{FF2B5EF4-FFF2-40B4-BE49-F238E27FC236}">
                <a16:creationId xmlns:a16="http://schemas.microsoft.com/office/drawing/2014/main" id="{888DCDFE-2431-4546-A730-7C10B3B72FAF}"/>
              </a:ext>
            </a:extLst>
          </p:cNvPr>
          <p:cNvSpPr>
            <a:spLocks xmlns:a="http://schemas.openxmlformats.org/drawingml/2006/main" noGrp="1"/>
          </p:cNvSpPr>
          <p:nvPr/>
        </p:nvSpPr>
        <p:spPr>
          <a:xfrm xmlns:a="http://schemas.openxmlformats.org/drawingml/2006/main">
            <a:off x="619125" y="2333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defRPr sz="2175" b="0">
                <a:solidFill>
                  <a:srgbClr val="5D6D76"/>
                </a:solidFill>
                <a:latin typeface="Avenir Next"/>
                <a:ea typeface="Avenir Next"/>
                <a:cs typeface="Avenir Next"/>
              </a:defRPr>
            </a:lvl1pPr>
            <a:lvl2pPr>
              <a:defRPr sz="2175" b="0">
                <a:solidFill>
                  <a:srgbClr val="5D6D76"/>
                </a:solidFill>
                <a:latin typeface="Avenir Next"/>
                <a:ea typeface="Avenir Next"/>
                <a:cs typeface="Avenir Next"/>
              </a:defRPr>
            </a:lvl2pPr>
            <a:lvl3pPr>
              <a:defRPr sz="2175" b="0">
                <a:solidFill>
                  <a:srgbClr val="5D6D76"/>
                </a:solidFill>
                <a:latin typeface="Avenir Next"/>
                <a:ea typeface="Avenir Next"/>
                <a:cs typeface="Avenir Next"/>
              </a:defRPr>
            </a:lvl3pPr>
            <a:lvl4pPr>
              <a:defRPr sz="2175" b="0">
                <a:solidFill>
                  <a:srgbClr val="5D6D76"/>
                </a:solidFill>
                <a:latin typeface="Avenir Next"/>
                <a:ea typeface="Avenir Next"/>
                <a:cs typeface="Avenir Next"/>
              </a:defRPr>
            </a:lvl4pPr>
            <a:lvl5pPr>
              <a:defRPr sz="2175" b="0">
                <a:solidFill>
                  <a:srgbClr val="5D6D76"/>
                </a:solidFill>
                <a:latin typeface="Avenir Next"/>
                <a:ea typeface="Avenir Next"/>
                <a:cs typeface="Avenir Next"/>
              </a:defRPr>
            </a:lvl5pPr>
            <a:lvl6pPr>
              <a:defRPr sz="2175" b="0">
                <a:solidFill>
                  <a:srgbClr val="5D6D76"/>
                </a:solidFill>
                <a:latin typeface="Avenir Next"/>
                <a:ea typeface="Avenir Next"/>
                <a:cs typeface="Avenir Next"/>
              </a:defRPr>
            </a:lvl6pPr>
            <a:lvl7pPr>
              <a:defRPr sz="2175" b="0">
                <a:solidFill>
                  <a:srgbClr val="5D6D76"/>
                </a:solidFill>
                <a:latin typeface="Avenir Next"/>
                <a:ea typeface="Avenir Next"/>
                <a:cs typeface="Avenir Next"/>
              </a:defRPr>
            </a:lvl7pPr>
            <a:lvl8pPr>
              <a:defRPr sz="2175" b="0">
                <a:solidFill>
                  <a:srgbClr val="5D6D76"/>
                </a:solidFill>
                <a:latin typeface="Avenir Next"/>
                <a:ea typeface="Avenir Next"/>
                <a:cs typeface="Avenir Next"/>
              </a:defRPr>
            </a:lvl8pPr>
            <a:lvl9pPr>
              <a:defRPr sz="2175" b="0">
                <a:solidFill>
                  <a:srgbClr val="5D6D76"/>
                </a:solidFill>
                <a:latin typeface="Avenir Next"/>
                <a:ea typeface="Avenir Next"/>
                <a:cs typeface="Avenir Next"/>
              </a:defRPr>
            </a:lvl9pPr>
          </a:lstStyle>
          <a:p xmlns:a="http://schemas.openxmlformats.org/drawingml/2006/main">
            <a:pPr>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Fit models using training data and control complexity.</a:t>
            </a:r>
          </a:p>
        </p:txBody>
      </p:sp>
      <p:sp>
        <p:nvSpPr>
          <p:cNvPr id="7" name="">
            <a:extLst xmlns:a="http://schemas.openxmlformats.org/drawingml/2006/main">
              <a:ext uri="{FF2B5EF4-FFF2-40B4-BE49-F238E27FC236}">
                <a16:creationId xmlns:a16="http://schemas.microsoft.com/office/drawing/2014/main" id="{1C184B12-87F8-4436-A3AC-F8A3F76311FF}"/>
              </a:ext>
            </a:extLst>
          </p:cNvPr>
          <p:cNvSpPr>
            <a:spLocks xmlns:a="http://schemas.openxmlformats.org/drawingml/2006/main" noGrp="1"/>
          </p:cNvSpPr>
          <p:nvPr/>
        </p:nvSpPr>
        <p:spPr>
          <a:xfrm xmlns:a="http://schemas.openxmlformats.org/drawingml/2006/main">
            <a:off x="619125" y="3286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defRPr sz="2175" b="0">
                <a:solidFill>
                  <a:srgbClr val="5D6D76"/>
                </a:solidFill>
                <a:latin typeface="Avenir Next"/>
                <a:ea typeface="Avenir Next"/>
                <a:cs typeface="Avenir Next"/>
              </a:defRPr>
            </a:lvl1pPr>
            <a:lvl2pPr>
              <a:defRPr sz="2175" b="0">
                <a:solidFill>
                  <a:srgbClr val="5D6D76"/>
                </a:solidFill>
                <a:latin typeface="Avenir Next"/>
                <a:ea typeface="Avenir Next"/>
                <a:cs typeface="Avenir Next"/>
              </a:defRPr>
            </a:lvl2pPr>
            <a:lvl3pPr>
              <a:defRPr sz="2175" b="0">
                <a:solidFill>
                  <a:srgbClr val="5D6D76"/>
                </a:solidFill>
                <a:latin typeface="Avenir Next"/>
                <a:ea typeface="Avenir Next"/>
                <a:cs typeface="Avenir Next"/>
              </a:defRPr>
            </a:lvl3pPr>
            <a:lvl4pPr>
              <a:defRPr sz="2175" b="0">
                <a:solidFill>
                  <a:srgbClr val="5D6D76"/>
                </a:solidFill>
                <a:latin typeface="Avenir Next"/>
                <a:ea typeface="Avenir Next"/>
                <a:cs typeface="Avenir Next"/>
              </a:defRPr>
            </a:lvl4pPr>
            <a:lvl5pPr>
              <a:defRPr sz="2175" b="0">
                <a:solidFill>
                  <a:srgbClr val="5D6D76"/>
                </a:solidFill>
                <a:latin typeface="Avenir Next"/>
                <a:ea typeface="Avenir Next"/>
                <a:cs typeface="Avenir Next"/>
              </a:defRPr>
            </a:lvl5pPr>
            <a:lvl6pPr>
              <a:defRPr sz="2175" b="0">
                <a:solidFill>
                  <a:srgbClr val="5D6D76"/>
                </a:solidFill>
                <a:latin typeface="Avenir Next"/>
                <a:ea typeface="Avenir Next"/>
                <a:cs typeface="Avenir Next"/>
              </a:defRPr>
            </a:lvl6pPr>
            <a:lvl7pPr>
              <a:defRPr sz="2175" b="0">
                <a:solidFill>
                  <a:srgbClr val="5D6D76"/>
                </a:solidFill>
                <a:latin typeface="Avenir Next"/>
                <a:ea typeface="Avenir Next"/>
                <a:cs typeface="Avenir Next"/>
              </a:defRPr>
            </a:lvl7pPr>
            <a:lvl8pPr>
              <a:defRPr sz="2175" b="0">
                <a:solidFill>
                  <a:srgbClr val="5D6D76"/>
                </a:solidFill>
                <a:latin typeface="Avenir Next"/>
                <a:ea typeface="Avenir Next"/>
                <a:cs typeface="Avenir Next"/>
              </a:defRPr>
            </a:lvl8pPr>
            <a:lvl9pPr>
              <a:defRPr sz="2175" b="0">
                <a:solidFill>
                  <a:srgbClr val="5D6D76"/>
                </a:solidFill>
                <a:latin typeface="Avenir Next"/>
                <a:ea typeface="Avenir Next"/>
                <a:cs typeface="Avenir Next"/>
              </a:defRPr>
            </a:lvl9pPr>
          </a:lstStyle>
          <a:p xmlns:a="http://schemas.openxmlformats.org/drawingml/2006/main">
            <a:pPr>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Evaluate held-out probabilities and explain the errors.</a:t>
            </a:r>
          </a:p>
        </p:txBody>
      </p:sp>
      <p:sp>
        <p:nvSpPr>
          <p:cNvPr id="8" name="">
            <a:extLst xmlns:a="http://schemas.openxmlformats.org/drawingml/2006/main">
              <a:ext uri="{FF2B5EF4-FFF2-40B4-BE49-F238E27FC236}">
                <a16:creationId xmlns:a16="http://schemas.microsoft.com/office/drawing/2014/main" id="{740E79D6-454F-4066-A607-697432369A98}"/>
              </a:ext>
            </a:extLst>
          </p:cNvPr>
          <p:cNvSpPr>
            <a:spLocks xmlns:a="http://schemas.openxmlformats.org/drawingml/2006/main" noGrp="1"/>
          </p:cNvSpPr>
          <p:nvPr/>
        </p:nvSpPr>
        <p:spPr>
          <a:xfrm xmlns:a="http://schemas.openxmlformats.org/drawingml/2006/main">
            <a:off x="619125" y="4238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defRPr sz="2175" b="0">
                <a:solidFill>
                  <a:srgbClr val="5D6D76"/>
                </a:solidFill>
                <a:latin typeface="Avenir Next"/>
                <a:ea typeface="Avenir Next"/>
                <a:cs typeface="Avenir Next"/>
              </a:defRPr>
            </a:lvl1pPr>
            <a:lvl2pPr>
              <a:defRPr sz="2175" b="0">
                <a:solidFill>
                  <a:srgbClr val="5D6D76"/>
                </a:solidFill>
                <a:latin typeface="Avenir Next"/>
                <a:ea typeface="Avenir Next"/>
                <a:cs typeface="Avenir Next"/>
              </a:defRPr>
            </a:lvl2pPr>
            <a:lvl3pPr>
              <a:defRPr sz="2175" b="0">
                <a:solidFill>
                  <a:srgbClr val="5D6D76"/>
                </a:solidFill>
                <a:latin typeface="Avenir Next"/>
                <a:ea typeface="Avenir Next"/>
                <a:cs typeface="Avenir Next"/>
              </a:defRPr>
            </a:lvl3pPr>
            <a:lvl4pPr>
              <a:defRPr sz="2175" b="0">
                <a:solidFill>
                  <a:srgbClr val="5D6D76"/>
                </a:solidFill>
                <a:latin typeface="Avenir Next"/>
                <a:ea typeface="Avenir Next"/>
                <a:cs typeface="Avenir Next"/>
              </a:defRPr>
            </a:lvl4pPr>
            <a:lvl5pPr>
              <a:defRPr sz="2175" b="0">
                <a:solidFill>
                  <a:srgbClr val="5D6D76"/>
                </a:solidFill>
                <a:latin typeface="Avenir Next"/>
                <a:ea typeface="Avenir Next"/>
                <a:cs typeface="Avenir Next"/>
              </a:defRPr>
            </a:lvl5pPr>
            <a:lvl6pPr>
              <a:defRPr sz="2175" b="0">
                <a:solidFill>
                  <a:srgbClr val="5D6D76"/>
                </a:solidFill>
                <a:latin typeface="Avenir Next"/>
                <a:ea typeface="Avenir Next"/>
                <a:cs typeface="Avenir Next"/>
              </a:defRPr>
            </a:lvl6pPr>
            <a:lvl7pPr>
              <a:defRPr sz="2175" b="0">
                <a:solidFill>
                  <a:srgbClr val="5D6D76"/>
                </a:solidFill>
                <a:latin typeface="Avenir Next"/>
                <a:ea typeface="Avenir Next"/>
                <a:cs typeface="Avenir Next"/>
              </a:defRPr>
            </a:lvl7pPr>
            <a:lvl8pPr>
              <a:defRPr sz="2175" b="0">
                <a:solidFill>
                  <a:srgbClr val="5D6D76"/>
                </a:solidFill>
                <a:latin typeface="Avenir Next"/>
                <a:ea typeface="Avenir Next"/>
                <a:cs typeface="Avenir Next"/>
              </a:defRPr>
            </a:lvl8pPr>
            <a:lvl9pPr>
              <a:defRPr sz="2175" b="0">
                <a:solidFill>
                  <a:srgbClr val="5D6D76"/>
                </a:solidFill>
                <a:latin typeface="Avenir Next"/>
                <a:ea typeface="Avenir Next"/>
                <a:cs typeface="Avenir Next"/>
              </a:defRPr>
            </a:lvl9pPr>
          </a:lstStyle>
          <a:p xmlns:a="http://schemas.openxmlformats.org/drawingml/2006/main">
            <a:pPr>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Check uncertainty, population differences and data quality.</a:t>
            </a:r>
          </a:p>
        </p:txBody>
      </p:sp>
      <p:sp>
        <p:nvSpPr>
          <p:cNvPr id="9" name="">
            <a:extLst xmlns:a="http://schemas.openxmlformats.org/drawingml/2006/main">
              <a:ext uri="{FF2B5EF4-FFF2-40B4-BE49-F238E27FC236}">
                <a16:creationId xmlns:a16="http://schemas.microsoft.com/office/drawing/2014/main" id="{8FF13609-A534-45BB-BC7D-303B4F13A64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These teaching results establish neither clinical validation nor causation.</a:t>
            </a:r>
          </a:p>
        </p:txBody>
      </p:sp>
    </p:spTree>
    <p:extLst>
      <p:ext uri="{BB962C8B-B14F-4D97-AF65-F5344CB8AC3E}">
        <p14:creationId xmlns:p14="http://schemas.microsoft.com/office/powerpoint/2010/main" val="16378965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B43329-B286-4D1C-817E-DABF0BCC7FDF}"/>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18</a:t>
            </a:r>
          </a:p>
        </p:txBody>
      </p:sp>
      <p:sp>
        <p:nvSpPr>
          <p:cNvPr id="2" name="">
            <a:extLst xmlns:a="http://schemas.openxmlformats.org/drawingml/2006/main">
              <a:ext uri="{FF2B5EF4-FFF2-40B4-BE49-F238E27FC236}">
                <a16:creationId xmlns:a16="http://schemas.microsoft.com/office/drawing/2014/main" id="{C25A9268-F9AE-4ABD-984B-8B4D6659FF8C}"/>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resampling</a:t>
            </a:r>
          </a:p>
        </p:txBody>
      </p:sp>
      <p:sp>
        <p:nvSpPr>
          <p:cNvPr id="3" name="">
            <a:extLst xmlns:a="http://schemas.openxmlformats.org/drawingml/2006/main">
              <a:ext uri="{FF2B5EF4-FFF2-40B4-BE49-F238E27FC236}">
                <a16:creationId xmlns:a16="http://schemas.microsoft.com/office/drawing/2014/main" id="{7CEE26F6-6C00-4815-B520-9C4103CB0564}"/>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CB3703E-A05F-4019-8088-9FC535ABFCAB}"/>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85184AC4-E7A0-4E6A-9063-0DC52651FD41}"/>
              </a:ext>
            </a:extLst>
          </p:cNvPr>
          <p:cNvSpPr>
            <a:spLocks xmlns:a="http://schemas.openxmlformats.org/drawingml/2006/main" noGrp="1"/>
          </p:cNvSpPr>
          <p:nvPr/>
        </p:nvSpPr>
        <p:spPr>
          <a:xfrm xmlns:a="http://schemas.openxmlformats.org/drawingml/2006/main">
            <a:off x="619125" y="1381125"/>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Cross-validation rotates which fold stays out of fitting.</a:t>
            </a:r>
          </a:p>
        </p:txBody>
      </p:sp>
      <p:sp>
        <p:nvSpPr>
          <p:cNvPr id="6" name="">
            <a:extLst xmlns:a="http://schemas.openxmlformats.org/drawingml/2006/main">
              <a:ext uri="{FF2B5EF4-FFF2-40B4-BE49-F238E27FC236}">
                <a16:creationId xmlns:a16="http://schemas.microsoft.com/office/drawing/2014/main" id="{37B85E2C-B800-43CC-B6FB-62A0E45F4A7D}"/>
              </a:ext>
            </a:extLst>
          </p:cNvPr>
          <p:cNvSpPr>
            <a:spLocks xmlns:a="http://schemas.openxmlformats.org/drawingml/2006/main" noGrp="1"/>
          </p:cNvSpPr>
          <p:nvPr/>
        </p:nvSpPr>
        <p:spPr>
          <a:xfrm xmlns:a="http://schemas.openxmlformats.org/drawingml/2006/main">
            <a:off x="619125" y="2476500"/>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Repeated subsampling draws different training/test splits.</a:t>
            </a:r>
          </a:p>
        </p:txBody>
      </p:sp>
      <p:sp>
        <p:nvSpPr>
          <p:cNvPr id="7" name="">
            <a:extLst xmlns:a="http://schemas.openxmlformats.org/drawingml/2006/main">
              <a:ext uri="{FF2B5EF4-FFF2-40B4-BE49-F238E27FC236}">
                <a16:creationId xmlns:a16="http://schemas.microsoft.com/office/drawing/2014/main" id="{6A5D1544-2574-4F52-8886-7B50F772DC17}"/>
              </a:ext>
            </a:extLst>
          </p:cNvPr>
          <p:cNvSpPr>
            <a:spLocks xmlns:a="http://schemas.openxmlformats.org/drawingml/2006/main" noGrp="1"/>
          </p:cNvSpPr>
          <p:nvPr/>
        </p:nvSpPr>
        <p:spPr>
          <a:xfrm xmlns:a="http://schemas.openxmlformats.org/drawingml/2006/main">
            <a:off x="619125" y="3571875"/>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Bootstrap samples training rows with replacement.</a:t>
            </a:r>
          </a:p>
        </p:txBody>
      </p:sp>
      <p:sp>
        <p:nvSpPr>
          <p:cNvPr id="8" name="">
            <a:extLst xmlns:a="http://schemas.openxmlformats.org/drawingml/2006/main">
              <a:ext uri="{FF2B5EF4-FFF2-40B4-BE49-F238E27FC236}">
                <a16:creationId xmlns:a16="http://schemas.microsoft.com/office/drawing/2014/main" id="{C3DB4EDC-FAFD-4BB0-ADF4-0969DDCC9795}"/>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Completed locally: 3-fold CV, 100 subsamples and 40 bootstrap repetitions.</a:t>
            </a:r>
          </a:p>
        </p:txBody>
      </p:sp>
    </p:spTree>
    <p:extLst>
      <p:ext uri="{BB962C8B-B14F-4D97-AF65-F5344CB8AC3E}">
        <p14:creationId xmlns:p14="http://schemas.microsoft.com/office/powerpoint/2010/main" val="6956782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BD7FFD-5CE4-4035-B311-F9E39421FE2C}"/>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19</a:t>
            </a:r>
          </a:p>
        </p:txBody>
      </p:sp>
      <p:sp>
        <p:nvSpPr>
          <p:cNvPr id="2" name="">
            <a:extLst xmlns:a="http://schemas.openxmlformats.org/drawingml/2006/main">
              <a:ext uri="{FF2B5EF4-FFF2-40B4-BE49-F238E27FC236}">
                <a16:creationId xmlns:a16="http://schemas.microsoft.com/office/drawing/2014/main" id="{28EF9898-8104-4CB2-80AD-0204B09182A6}"/>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tuning and nested cross-validation</a:t>
            </a:r>
          </a:p>
        </p:txBody>
      </p:sp>
      <p:sp>
        <p:nvSpPr>
          <p:cNvPr id="3" name="">
            <a:extLst xmlns:a="http://schemas.openxmlformats.org/drawingml/2006/main">
              <a:ext uri="{FF2B5EF4-FFF2-40B4-BE49-F238E27FC236}">
                <a16:creationId xmlns:a16="http://schemas.microsoft.com/office/drawing/2014/main" id="{581195C9-5462-4B55-9198-9879E8B6DBAB}"/>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F00C041-5416-4175-B4F0-93FB3E6EBB90}"/>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4EE23166-D72E-4D84-894F-5F884C8121F8}"/>
              </a:ext>
            </a:extLst>
          </p:cNvPr>
          <p:cNvSpPr>
            <a:spLocks xmlns:a="http://schemas.openxmlformats.org/drawingml/2006/main" noGrp="1"/>
          </p:cNvSpPr>
          <p:nvPr/>
        </p:nvSpPr>
        <p:spPr>
          <a:xfrm xmlns:a="http://schemas.openxmlformats.org/drawingml/2006/main">
            <a:off x="619125" y="1381125"/>
            <a:ext cx="1095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A hyperparameter controls how a model learns.</a:t>
            </a:r>
          </a:p>
        </p:txBody>
      </p:sp>
      <p:sp>
        <p:nvSpPr>
          <p:cNvPr id="6" name="">
            <a:extLst xmlns:a="http://schemas.openxmlformats.org/drawingml/2006/main">
              <a:ext uri="{FF2B5EF4-FFF2-40B4-BE49-F238E27FC236}">
                <a16:creationId xmlns:a16="http://schemas.microsoft.com/office/drawing/2014/main" id="{24CD70BC-DDCA-4E10-B3E8-E60594FF6539}"/>
              </a:ext>
            </a:extLst>
          </p:cNvPr>
          <p:cNvSpPr>
            <a:spLocks xmlns:a="http://schemas.openxmlformats.org/drawingml/2006/main" noGrp="1"/>
          </p:cNvSpPr>
          <p:nvPr/>
        </p:nvSpPr>
        <p:spPr>
          <a:xfrm xmlns:a="http://schemas.openxmlformats.org/drawingml/2006/main">
            <a:off x="619125" y="2381250"/>
            <a:ext cx="1095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Inner resampling selects settings within training data.</a:t>
            </a:r>
          </a:p>
        </p:txBody>
      </p:sp>
      <p:sp>
        <p:nvSpPr>
          <p:cNvPr id="7" name="">
            <a:extLst xmlns:a="http://schemas.openxmlformats.org/drawingml/2006/main">
              <a:ext uri="{FF2B5EF4-FFF2-40B4-BE49-F238E27FC236}">
                <a16:creationId xmlns:a16="http://schemas.microsoft.com/office/drawing/2014/main" id="{0EF3609D-51DF-43F2-8A5F-66D8A48952D1}"/>
              </a:ext>
            </a:extLst>
          </p:cNvPr>
          <p:cNvSpPr>
            <a:spLocks xmlns:a="http://schemas.openxmlformats.org/drawingml/2006/main" noGrp="1"/>
          </p:cNvSpPr>
          <p:nvPr/>
        </p:nvSpPr>
        <p:spPr>
          <a:xfrm xmlns:a="http://schemas.openxmlformats.org/drawingml/2006/main">
            <a:off x="619125" y="3381375"/>
            <a:ext cx="1095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Outer folds assess the whole selection procedure.</a:t>
            </a:r>
          </a:p>
        </p:txBody>
      </p:sp>
      <p:sp>
        <p:nvSpPr>
          <p:cNvPr id="8" name="">
            <a:extLst xmlns:a="http://schemas.openxmlformats.org/drawingml/2006/main">
              <a:ext uri="{FF2B5EF4-FFF2-40B4-BE49-F238E27FC236}">
                <a16:creationId xmlns:a16="http://schemas.microsoft.com/office/drawing/2014/main" id="{4DA7DF93-2593-40C6-84B9-4248A8EA1923}"/>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Full grid search and full-budget nested CV remain unexecuted. Only reduced smoke runs passed.</a:t>
            </a:r>
          </a:p>
        </p:txBody>
      </p:sp>
    </p:spTree>
    <p:extLst>
      <p:ext uri="{BB962C8B-B14F-4D97-AF65-F5344CB8AC3E}">
        <p14:creationId xmlns:p14="http://schemas.microsoft.com/office/powerpoint/2010/main" val="92681206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29E16F-FDDE-45E2-A9C6-243E75A57C18}"/>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20</a:t>
            </a:r>
          </a:p>
        </p:txBody>
      </p:sp>
      <p:sp>
        <p:nvSpPr>
          <p:cNvPr id="2" name="">
            <a:extLst xmlns:a="http://schemas.openxmlformats.org/drawingml/2006/main">
              <a:ext uri="{FF2B5EF4-FFF2-40B4-BE49-F238E27FC236}">
                <a16:creationId xmlns:a16="http://schemas.microsoft.com/office/drawing/2014/main" id="{69B3A328-2F61-4992-A2F2-F860C4AA4F31}"/>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interpretation</a:t>
            </a:r>
          </a:p>
        </p:txBody>
      </p:sp>
      <p:sp>
        <p:nvSpPr>
          <p:cNvPr id="3" name="">
            <a:extLst xmlns:a="http://schemas.openxmlformats.org/drawingml/2006/main">
              <a:ext uri="{FF2B5EF4-FFF2-40B4-BE49-F238E27FC236}">
                <a16:creationId xmlns:a16="http://schemas.microsoft.com/office/drawing/2014/main" id="{9E56BFAB-1597-45AC-8B35-BC4CFFEC6475}"/>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AC3784F-297F-462F-BF14-7AABDE9538E1}"/>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AB17F12F-F6F7-460C-9AFA-E9C9D3D2AA6F}"/>
              </a:ext>
            </a:extLst>
          </p:cNvPr>
          <p:cNvGraphicFramePr/>
          <p:nvPr/>
        </p:nvGraphicFramePr>
        <p:xfrm>
          <a:off xmlns:a="http://schemas.openxmlformats.org/drawingml/2006/main" x="619125" y="1524000"/>
          <a:ext xmlns:a="http://schemas.openxmlformats.org/drawingml/2006/main" cx="10953750" cy="3238500"/>
        </p:xfrm>
        <a:graphic xmlns:a="http://schemas.openxmlformats.org/drawingml/2006/main">
          <a:graphicData uri="http://schemas.openxmlformats.org/drawingml/2006/table">
            <a:tbl>
              <a:tblPr/>
              <a:tblGrid>
                <a:gridCol w="5476875"/>
                <a:gridCol w="5476875"/>
              </a:tblGrid>
              <a:tr h="809625">
                <a:tc>
                  <a:txBody>
                    <a:bodyPr/>
                    <a:lstStyle/>
                    <a:p>
                      <a:r>
                        <a:rPr sz="1800" b="1">
                          <a:solidFill>
                            <a:srgbClr val="FFFFFF"/>
                          </a:solidFill>
                          <a:latin typeface="Avenir Next"/>
                          <a:ea typeface="Avenir Next"/>
                          <a:cs typeface="Avenir Next"/>
                        </a:rPr>
                        <a:t>Approach</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Question</a:t>
                      </a:r>
                    </a:p>
                  </a:txBody>
                  <a:tcPr marL="91440" marR="91440" marT="45720" marB="45720">
                    <a:solidFill>
                      <a:srgbClr val="09253A"/>
                    </a:solidFill>
                  </a:tcPr>
                </a:tc>
              </a:tr>
              <a:tr h="809625">
                <a:tc>
                  <a:txBody>
                    <a:bodyPr/>
                    <a:lstStyle/>
                    <a:p>
                      <a:r>
                        <a:rPr sz="1800" b="0">
                          <a:solidFill>
                            <a:srgbClr val="09253A"/>
                          </a:solidFill>
                          <a:latin typeface="Avenir Next"/>
                          <a:ea typeface="Avenir Next"/>
                          <a:cs typeface="Avenir Next"/>
                        </a:rPr>
                        <a:t>Feature importance</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Which predictors contribute to this fitted model?</a:t>
                      </a:r>
                    </a:p>
                  </a:txBody>
                  <a:tcPr marL="91440" marR="91440" marT="45720" marB="45720">
                    <a:solidFill>
                      <a:srgbClr val="F7F2E8"/>
                    </a:solidFill>
                  </a:tcPr>
                </a:tc>
              </a:tr>
              <a:tr h="809625">
                <a:tc>
                  <a:txBody>
                    <a:bodyPr/>
                    <a:lstStyle/>
                    <a:p>
                      <a:r>
                        <a:rPr sz="1800" b="0">
                          <a:solidFill>
                            <a:srgbClr val="09253A"/>
                          </a:solidFill>
                          <a:latin typeface="Avenir Next"/>
                          <a:ea typeface="Avenir Next"/>
                          <a:cs typeface="Avenir Next"/>
                        </a:rPr>
                        <a:t>Feature effects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How do predictions vary with a predictor?</a:t>
                      </a:r>
                    </a:p>
                  </a:txBody>
                  <a:tcPr marL="91440" marR="91440" marT="45720" marB="45720">
                    <a:solidFill>
                      <a:srgbClr val="FFFFFF"/>
                    </a:solidFill>
                  </a:tcPr>
                </a:tc>
              </a:tr>
              <a:tr h="809625">
                <a:tc>
                  <a:txBody>
                    <a:bodyPr/>
                    <a:lstStyle/>
                    <a:p>
                      <a:r>
                        <a:rPr sz="1800" b="0">
                          <a:solidFill>
                            <a:srgbClr val="09253A"/>
                          </a:solidFill>
                          <a:latin typeface="Avenir Next"/>
                          <a:ea typeface="Avenir Next"/>
                          <a:cs typeface="Avenir Next"/>
                        </a:rPr>
                        <a:t>Local explanation</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What helps explain this one prediction?</a:t>
                      </a:r>
                    </a:p>
                  </a:txBody>
                  <a:tcPr marL="91440" marR="91440" marT="45720" marB="45720">
                    <a:solidFill>
                      <a:srgbClr val="F7F2E8"/>
                    </a:solidFill>
                  </a:tcPr>
                </a:tc>
              </a:tr>
            </a:tbl>
          </a:graphicData>
        </a:graphic>
      </p:graphicFrame>
      <p:sp>
        <p:nvSpPr>
          <p:cNvPr id="6" name="">
            <a:extLst xmlns:a="http://schemas.openxmlformats.org/drawingml/2006/main">
              <a:ext uri="{FF2B5EF4-FFF2-40B4-BE49-F238E27FC236}">
                <a16:creationId xmlns:a16="http://schemas.microsoft.com/office/drawing/2014/main" id="{5D0C683C-B040-446A-86F5-EA8B394A3AE9}"/>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Conceptual extension. No computed feature ranking or local explanation is supplied.</a:t>
            </a:r>
          </a:p>
        </p:txBody>
      </p:sp>
    </p:spTree>
    <p:extLst>
      <p:ext uri="{BB962C8B-B14F-4D97-AF65-F5344CB8AC3E}">
        <p14:creationId xmlns:p14="http://schemas.microsoft.com/office/powerpoint/2010/main" val="2684419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90147D-7107-44BE-A665-743B49EFB19D}"/>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21</a:t>
            </a:r>
          </a:p>
        </p:txBody>
      </p:sp>
      <p:sp>
        <p:nvSpPr>
          <p:cNvPr id="2" name="">
            <a:extLst xmlns:a="http://schemas.openxmlformats.org/drawingml/2006/main">
              <a:ext uri="{FF2B5EF4-FFF2-40B4-BE49-F238E27FC236}">
                <a16:creationId xmlns:a16="http://schemas.microsoft.com/office/drawing/2014/main" id="{0A8E5FBC-4D25-4EB5-AA04-5DFCB5F955AD}"/>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synthetic observations</a:t>
            </a:r>
          </a:p>
        </p:txBody>
      </p:sp>
      <p:sp>
        <p:nvSpPr>
          <p:cNvPr id="3" name="">
            <a:extLst xmlns:a="http://schemas.openxmlformats.org/drawingml/2006/main">
              <a:ext uri="{FF2B5EF4-FFF2-40B4-BE49-F238E27FC236}">
                <a16:creationId xmlns:a16="http://schemas.microsoft.com/office/drawing/2014/main" id="{F0B87965-C976-40A6-9C42-93742E35DEC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EFF0B0F3-B224-43DE-B577-402F22750434}"/>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EA5F404B-BE0B-4CC5-88B9-1C96BE8E3BF9}"/>
              </a:ext>
            </a:extLst>
          </p:cNvPr>
          <p:cNvSpPr>
            <a:spLocks xmlns:a="http://schemas.openxmlformats.org/drawingml/2006/main" noGrp="1"/>
          </p:cNvSpPr>
          <p:nvPr/>
        </p:nvSpPr>
        <p:spPr>
          <a:xfrm xmlns:a="http://schemas.openxmlformats.org/drawingml/2006/main">
            <a:off x="619125" y="1381125"/>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A generator learns patterns from the observed data.</a:t>
            </a:r>
          </a:p>
        </p:txBody>
      </p:sp>
      <p:sp>
        <p:nvSpPr>
          <p:cNvPr id="6" name="">
            <a:extLst xmlns:a="http://schemas.openxmlformats.org/drawingml/2006/main">
              <a:ext uri="{FF2B5EF4-FFF2-40B4-BE49-F238E27FC236}">
                <a16:creationId xmlns:a16="http://schemas.microsoft.com/office/drawing/2014/main" id="{16CC91B1-5DCE-4EF9-9DA3-515D8414AB4E}"/>
              </a:ext>
            </a:extLst>
          </p:cNvPr>
          <p:cNvSpPr>
            <a:spLocks xmlns:a="http://schemas.openxmlformats.org/drawingml/2006/main" noGrp="1"/>
          </p:cNvSpPr>
          <p:nvPr/>
        </p:nvSpPr>
        <p:spPr>
          <a:xfrm xmlns:a="http://schemas.openxmlformats.org/drawingml/2006/main">
            <a:off x="619125" y="2476500"/>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ARF fits the generator; FORDE estimates density.</a:t>
            </a:r>
          </a:p>
        </p:txBody>
      </p:sp>
      <p:sp>
        <p:nvSpPr>
          <p:cNvPr id="7" name="">
            <a:extLst xmlns:a="http://schemas.openxmlformats.org/drawingml/2006/main">
              <a:ext uri="{FF2B5EF4-FFF2-40B4-BE49-F238E27FC236}">
                <a16:creationId xmlns:a16="http://schemas.microsoft.com/office/drawing/2014/main" id="{7A4646BC-FA02-4A89-80BC-649690BB23D7}"/>
              </a:ext>
            </a:extLst>
          </p:cNvPr>
          <p:cNvSpPr>
            <a:spLocks xmlns:a="http://schemas.openxmlformats.org/drawingml/2006/main" noGrp="1"/>
          </p:cNvSpPr>
          <p:nvPr/>
        </p:nvSpPr>
        <p:spPr>
          <a:xfrm xmlns:a="http://schemas.openxmlformats.org/drawingml/2006/main">
            <a:off x="619125" y="3571875"/>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defRPr sz="2325" b="0">
                <a:solidFill>
                  <a:srgbClr val="5D6D76"/>
                </a:solidFill>
                <a:latin typeface="Avenir Next"/>
                <a:ea typeface="Avenir Next"/>
                <a:cs typeface="Avenir Next"/>
              </a:defRPr>
            </a:lvl1pPr>
            <a:lvl2pPr>
              <a:defRPr sz="2325" b="0">
                <a:solidFill>
                  <a:srgbClr val="5D6D76"/>
                </a:solidFill>
                <a:latin typeface="Avenir Next"/>
                <a:ea typeface="Avenir Next"/>
                <a:cs typeface="Avenir Next"/>
              </a:defRPr>
            </a:lvl2pPr>
            <a:lvl3pPr>
              <a:defRPr sz="2325" b="0">
                <a:solidFill>
                  <a:srgbClr val="5D6D76"/>
                </a:solidFill>
                <a:latin typeface="Avenir Next"/>
                <a:ea typeface="Avenir Next"/>
                <a:cs typeface="Avenir Next"/>
              </a:defRPr>
            </a:lvl3pPr>
            <a:lvl4pPr>
              <a:defRPr sz="2325" b="0">
                <a:solidFill>
                  <a:srgbClr val="5D6D76"/>
                </a:solidFill>
                <a:latin typeface="Avenir Next"/>
                <a:ea typeface="Avenir Next"/>
                <a:cs typeface="Avenir Next"/>
              </a:defRPr>
            </a:lvl4pPr>
            <a:lvl5pPr>
              <a:defRPr sz="2325" b="0">
                <a:solidFill>
                  <a:srgbClr val="5D6D76"/>
                </a:solidFill>
                <a:latin typeface="Avenir Next"/>
                <a:ea typeface="Avenir Next"/>
                <a:cs typeface="Avenir Next"/>
              </a:defRPr>
            </a:lvl5pPr>
            <a:lvl6pPr>
              <a:defRPr sz="2325" b="0">
                <a:solidFill>
                  <a:srgbClr val="5D6D76"/>
                </a:solidFill>
                <a:latin typeface="Avenir Next"/>
                <a:ea typeface="Avenir Next"/>
                <a:cs typeface="Avenir Next"/>
              </a:defRPr>
            </a:lvl6pPr>
            <a:lvl7pPr>
              <a:defRPr sz="2325" b="0">
                <a:solidFill>
                  <a:srgbClr val="5D6D76"/>
                </a:solidFill>
                <a:latin typeface="Avenir Next"/>
                <a:ea typeface="Avenir Next"/>
                <a:cs typeface="Avenir Next"/>
              </a:defRPr>
            </a:lvl7pPr>
            <a:lvl8pPr>
              <a:defRPr sz="2325" b="0">
                <a:solidFill>
                  <a:srgbClr val="5D6D76"/>
                </a:solidFill>
                <a:latin typeface="Avenir Next"/>
                <a:ea typeface="Avenir Next"/>
                <a:cs typeface="Avenir Next"/>
              </a:defRPr>
            </a:lvl8pPr>
            <a:lvl9pPr>
              <a:defRPr sz="2325" b="0">
                <a:solidFill>
                  <a:srgbClr val="5D6D76"/>
                </a:solidFill>
                <a:latin typeface="Avenir Next"/>
                <a:ea typeface="Avenir Next"/>
                <a:cs typeface="Avenir Next"/>
              </a:defRPr>
            </a:lvl9pPr>
          </a:lstStyle>
          <a:p xmlns:a="http://schemas.openxmlformats.org/drawingml/2006/main">
            <a:pPr>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FORGE samples 270 synthetic observations.</a:t>
            </a:r>
          </a:p>
        </p:txBody>
      </p:sp>
      <p:sp>
        <p:nvSpPr>
          <p:cNvPr id="8" name="">
            <a:extLst xmlns:a="http://schemas.openxmlformats.org/drawingml/2006/main">
              <a:ext uri="{FF2B5EF4-FFF2-40B4-BE49-F238E27FC236}">
                <a16:creationId xmlns:a16="http://schemas.microsoft.com/office/drawing/2014/main" id="{D445850A-AE3B-4748-8AE5-C95BCC7360A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Generated rows are synthetic examples. They are not additional observed patients.</a:t>
            </a:r>
          </a:p>
        </p:txBody>
      </p:sp>
    </p:spTree>
    <p:extLst>
      <p:ext uri="{BB962C8B-B14F-4D97-AF65-F5344CB8AC3E}">
        <p14:creationId xmlns:p14="http://schemas.microsoft.com/office/powerpoint/2010/main" val="6779666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A4F21A-DB7A-447D-97E8-7BE7FB067290}"/>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defRPr sz="1350" b="1">
                <a:solidFill>
                  <a:srgbClr val="0D8B8B"/>
                </a:solidFill>
                <a:latin typeface="Avenir Next"/>
                <a:ea typeface="Avenir Next"/>
                <a:cs typeface="Avenir Next"/>
              </a:defRPr>
            </a:lvl1pPr>
            <a:lvl2pPr>
              <a:defRPr sz="1350" b="1">
                <a:solidFill>
                  <a:srgbClr val="0D8B8B"/>
                </a:solidFill>
                <a:latin typeface="Avenir Next"/>
                <a:ea typeface="Avenir Next"/>
                <a:cs typeface="Avenir Next"/>
              </a:defRPr>
            </a:lvl2pPr>
            <a:lvl3pPr>
              <a:defRPr sz="1350" b="1">
                <a:solidFill>
                  <a:srgbClr val="0D8B8B"/>
                </a:solidFill>
                <a:latin typeface="Avenir Next"/>
                <a:ea typeface="Avenir Next"/>
                <a:cs typeface="Avenir Next"/>
              </a:defRPr>
            </a:lvl3pPr>
            <a:lvl4pPr>
              <a:defRPr sz="1350" b="1">
                <a:solidFill>
                  <a:srgbClr val="0D8B8B"/>
                </a:solidFill>
                <a:latin typeface="Avenir Next"/>
                <a:ea typeface="Avenir Next"/>
                <a:cs typeface="Avenir Next"/>
              </a:defRPr>
            </a:lvl4pPr>
            <a:lvl5pPr>
              <a:defRPr sz="1350" b="1">
                <a:solidFill>
                  <a:srgbClr val="0D8B8B"/>
                </a:solidFill>
                <a:latin typeface="Avenir Next"/>
                <a:ea typeface="Avenir Next"/>
                <a:cs typeface="Avenir Next"/>
              </a:defRPr>
            </a:lvl5pPr>
            <a:lvl6pPr>
              <a:defRPr sz="1350" b="1">
                <a:solidFill>
                  <a:srgbClr val="0D8B8B"/>
                </a:solidFill>
                <a:latin typeface="Avenir Next"/>
                <a:ea typeface="Avenir Next"/>
                <a:cs typeface="Avenir Next"/>
              </a:defRPr>
            </a:lvl6pPr>
            <a:lvl7pPr>
              <a:defRPr sz="1350" b="1">
                <a:solidFill>
                  <a:srgbClr val="0D8B8B"/>
                </a:solidFill>
                <a:latin typeface="Avenir Next"/>
                <a:ea typeface="Avenir Next"/>
                <a:cs typeface="Avenir Next"/>
              </a:defRPr>
            </a:lvl7pPr>
            <a:lvl8pPr>
              <a:defRPr sz="1350" b="1">
                <a:solidFill>
                  <a:srgbClr val="0D8B8B"/>
                </a:solidFill>
                <a:latin typeface="Avenir Next"/>
                <a:ea typeface="Avenir Next"/>
                <a:cs typeface="Avenir Next"/>
              </a:defRPr>
            </a:lvl8pPr>
            <a:lvl9pPr>
              <a:defRPr sz="1350" b="1">
                <a:solidFill>
                  <a:srgbClr val="0D8B8B"/>
                </a:solidFill>
                <a:latin typeface="Avenir Next"/>
                <a:ea typeface="Avenir Next"/>
                <a:cs typeface="Avenir Next"/>
              </a:defRPr>
            </a:lvl9pPr>
          </a:lstStyle>
          <a:p xmlns:a="http://schemas.openxmlformats.org/drawingml/2006/main">
            <a:pPr>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22</a:t>
            </a:r>
          </a:p>
        </p:txBody>
      </p:sp>
      <p:sp>
        <p:nvSpPr>
          <p:cNvPr id="2" name="">
            <a:extLst xmlns:a="http://schemas.openxmlformats.org/drawingml/2006/main">
              <a:ext uri="{FF2B5EF4-FFF2-40B4-BE49-F238E27FC236}">
                <a16:creationId xmlns:a16="http://schemas.microsoft.com/office/drawing/2014/main" id="{5932208B-C388-46D1-B478-4F32371EBDA6}"/>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defRPr sz="2700" b="1">
                <a:solidFill>
                  <a:srgbClr val="09253A"/>
                </a:solidFill>
                <a:latin typeface="Avenir Next"/>
                <a:ea typeface="Avenir Next"/>
                <a:cs typeface="Avenir Next"/>
              </a:defRPr>
            </a:lvl1pPr>
            <a:lvl2pPr>
              <a:defRPr sz="2700" b="1">
                <a:solidFill>
                  <a:srgbClr val="09253A"/>
                </a:solidFill>
                <a:latin typeface="Avenir Next"/>
                <a:ea typeface="Avenir Next"/>
                <a:cs typeface="Avenir Next"/>
              </a:defRPr>
            </a:lvl2pPr>
            <a:lvl3pPr>
              <a:defRPr sz="2700" b="1">
                <a:solidFill>
                  <a:srgbClr val="09253A"/>
                </a:solidFill>
                <a:latin typeface="Avenir Next"/>
                <a:ea typeface="Avenir Next"/>
                <a:cs typeface="Avenir Next"/>
              </a:defRPr>
            </a:lvl3pPr>
            <a:lvl4pPr>
              <a:defRPr sz="2700" b="1">
                <a:solidFill>
                  <a:srgbClr val="09253A"/>
                </a:solidFill>
                <a:latin typeface="Avenir Next"/>
                <a:ea typeface="Avenir Next"/>
                <a:cs typeface="Avenir Next"/>
              </a:defRPr>
            </a:lvl4pPr>
            <a:lvl5pPr>
              <a:defRPr sz="2700" b="1">
                <a:solidFill>
                  <a:srgbClr val="09253A"/>
                </a:solidFill>
                <a:latin typeface="Avenir Next"/>
                <a:ea typeface="Avenir Next"/>
                <a:cs typeface="Avenir Next"/>
              </a:defRPr>
            </a:lvl5pPr>
            <a:lvl6pPr>
              <a:defRPr sz="2700" b="1">
                <a:solidFill>
                  <a:srgbClr val="09253A"/>
                </a:solidFill>
                <a:latin typeface="Avenir Next"/>
                <a:ea typeface="Avenir Next"/>
                <a:cs typeface="Avenir Next"/>
              </a:defRPr>
            </a:lvl6pPr>
            <a:lvl7pPr>
              <a:defRPr sz="2700" b="1">
                <a:solidFill>
                  <a:srgbClr val="09253A"/>
                </a:solidFill>
                <a:latin typeface="Avenir Next"/>
                <a:ea typeface="Avenir Next"/>
                <a:cs typeface="Avenir Next"/>
              </a:defRPr>
            </a:lvl7pPr>
            <a:lvl8pPr>
              <a:defRPr sz="2700" b="1">
                <a:solidFill>
                  <a:srgbClr val="09253A"/>
                </a:solidFill>
                <a:latin typeface="Avenir Next"/>
                <a:ea typeface="Avenir Next"/>
                <a:cs typeface="Avenir Next"/>
              </a:defRPr>
            </a:lvl8pPr>
            <a:lvl9pPr>
              <a:defRPr sz="2700" b="1">
                <a:solidFill>
                  <a:srgbClr val="09253A"/>
                </a:solidFill>
                <a:latin typeface="Avenir Next"/>
                <a:ea typeface="Avenir Next"/>
                <a:cs typeface="Avenir Next"/>
              </a:defRPr>
            </a:lvl9pPr>
          </a:lstStyle>
          <a:p xmlns:a="http://schemas.openxmlformats.org/drawingml/2006/main">
            <a:pPr>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sources and reproducibility</a:t>
            </a:r>
          </a:p>
        </p:txBody>
      </p:sp>
      <p:sp>
        <p:nvSpPr>
          <p:cNvPr id="3" name="">
            <a:extLst xmlns:a="http://schemas.openxmlformats.org/drawingml/2006/main">
              <a:ext uri="{FF2B5EF4-FFF2-40B4-BE49-F238E27FC236}">
                <a16:creationId xmlns:a16="http://schemas.microsoft.com/office/drawing/2014/main" id="{916786B2-E5BA-4A4B-82FD-7BDCA30CEC04}"/>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defRPr sz="100" b="0">
                <a:solidFill>
                  <a:srgbClr val="DCE9E7"/>
                </a:solidFill>
                <a:latin typeface="Avenir Next"/>
                <a:ea typeface="Avenir Next"/>
                <a:cs typeface="Avenir Next"/>
              </a:defRPr>
            </a:lvl1pPr>
            <a:lvl2pPr>
              <a:defRPr sz="100" b="0">
                <a:solidFill>
                  <a:srgbClr val="DCE9E7"/>
                </a:solidFill>
                <a:latin typeface="Avenir Next"/>
                <a:ea typeface="Avenir Next"/>
                <a:cs typeface="Avenir Next"/>
              </a:defRPr>
            </a:lvl2pPr>
            <a:lvl3pPr>
              <a:defRPr sz="100" b="0">
                <a:solidFill>
                  <a:srgbClr val="DCE9E7"/>
                </a:solidFill>
                <a:latin typeface="Avenir Next"/>
                <a:ea typeface="Avenir Next"/>
                <a:cs typeface="Avenir Next"/>
              </a:defRPr>
            </a:lvl3pPr>
            <a:lvl4pPr>
              <a:defRPr sz="100" b="0">
                <a:solidFill>
                  <a:srgbClr val="DCE9E7"/>
                </a:solidFill>
                <a:latin typeface="Avenir Next"/>
                <a:ea typeface="Avenir Next"/>
                <a:cs typeface="Avenir Next"/>
              </a:defRPr>
            </a:lvl4pPr>
            <a:lvl5pPr>
              <a:defRPr sz="100" b="0">
                <a:solidFill>
                  <a:srgbClr val="DCE9E7"/>
                </a:solidFill>
                <a:latin typeface="Avenir Next"/>
                <a:ea typeface="Avenir Next"/>
                <a:cs typeface="Avenir Next"/>
              </a:defRPr>
            </a:lvl5pPr>
            <a:lvl6pPr>
              <a:defRPr sz="100" b="0">
                <a:solidFill>
                  <a:srgbClr val="DCE9E7"/>
                </a:solidFill>
                <a:latin typeface="Avenir Next"/>
                <a:ea typeface="Avenir Next"/>
                <a:cs typeface="Avenir Next"/>
              </a:defRPr>
            </a:lvl6pPr>
            <a:lvl7pPr>
              <a:defRPr sz="100" b="0">
                <a:solidFill>
                  <a:srgbClr val="DCE9E7"/>
                </a:solidFill>
                <a:latin typeface="Avenir Next"/>
                <a:ea typeface="Avenir Next"/>
                <a:cs typeface="Avenir Next"/>
              </a:defRPr>
            </a:lvl7pPr>
            <a:lvl8pPr>
              <a:defRPr sz="100" b="0">
                <a:solidFill>
                  <a:srgbClr val="DCE9E7"/>
                </a:solidFill>
                <a:latin typeface="Avenir Next"/>
                <a:ea typeface="Avenir Next"/>
                <a:cs typeface="Avenir Next"/>
              </a:defRPr>
            </a:lvl8pPr>
            <a:lvl9pPr>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096CF21-646C-48CC-BFBE-237672787E10}"/>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defRPr sz="900" b="0">
                <a:solidFill>
                  <a:srgbClr val="5D6D76"/>
                </a:solidFill>
                <a:latin typeface="Avenir Next"/>
                <a:ea typeface="Avenir Next"/>
                <a:cs typeface="Avenir Next"/>
              </a:defRPr>
            </a:lvl1pPr>
            <a:lvl2pPr>
              <a:defRPr sz="900" b="0">
                <a:solidFill>
                  <a:srgbClr val="5D6D76"/>
                </a:solidFill>
                <a:latin typeface="Avenir Next"/>
                <a:ea typeface="Avenir Next"/>
                <a:cs typeface="Avenir Next"/>
              </a:defRPr>
            </a:lvl2pPr>
            <a:lvl3pPr>
              <a:defRPr sz="900" b="0">
                <a:solidFill>
                  <a:srgbClr val="5D6D76"/>
                </a:solidFill>
                <a:latin typeface="Avenir Next"/>
                <a:ea typeface="Avenir Next"/>
                <a:cs typeface="Avenir Next"/>
              </a:defRPr>
            </a:lvl3pPr>
            <a:lvl4pPr>
              <a:defRPr sz="900" b="0">
                <a:solidFill>
                  <a:srgbClr val="5D6D76"/>
                </a:solidFill>
                <a:latin typeface="Avenir Next"/>
                <a:ea typeface="Avenir Next"/>
                <a:cs typeface="Avenir Next"/>
              </a:defRPr>
            </a:lvl4pPr>
            <a:lvl5pPr>
              <a:defRPr sz="900" b="0">
                <a:solidFill>
                  <a:srgbClr val="5D6D76"/>
                </a:solidFill>
                <a:latin typeface="Avenir Next"/>
                <a:ea typeface="Avenir Next"/>
                <a:cs typeface="Avenir Next"/>
              </a:defRPr>
            </a:lvl5pPr>
            <a:lvl6pPr>
              <a:defRPr sz="900" b="0">
                <a:solidFill>
                  <a:srgbClr val="5D6D76"/>
                </a:solidFill>
                <a:latin typeface="Avenir Next"/>
                <a:ea typeface="Avenir Next"/>
                <a:cs typeface="Avenir Next"/>
              </a:defRPr>
            </a:lvl6pPr>
            <a:lvl7pPr>
              <a:defRPr sz="900" b="0">
                <a:solidFill>
                  <a:srgbClr val="5D6D76"/>
                </a:solidFill>
                <a:latin typeface="Avenir Next"/>
                <a:ea typeface="Avenir Next"/>
                <a:cs typeface="Avenir Next"/>
              </a:defRPr>
            </a:lvl7pPr>
            <a:lvl8pPr>
              <a:defRPr sz="900" b="0">
                <a:solidFill>
                  <a:srgbClr val="5D6D76"/>
                </a:solidFill>
                <a:latin typeface="Avenir Next"/>
                <a:ea typeface="Avenir Next"/>
                <a:cs typeface="Avenir Next"/>
              </a:defRPr>
            </a:lvl8pPr>
            <a:lvl9pPr>
              <a:defRPr sz="900" b="0">
                <a:solidFill>
                  <a:srgbClr val="5D6D76"/>
                </a:solidFill>
                <a:latin typeface="Avenir Next"/>
                <a:ea typeface="Avenir Next"/>
                <a:cs typeface="Avenir Next"/>
              </a:defRPr>
            </a:lvl9pPr>
          </a:lstStyle>
          <a:p xmlns:a="http://schemas.openxmlformats.org/drawingml/2006/main">
            <a:pPr>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DBCBC04B-86E9-4AF1-AB89-E20EA545F8D6}"/>
              </a:ext>
            </a:extLst>
          </p:cNvPr>
          <p:cNvSpPr>
            <a:spLocks xmlns:a="http://schemas.openxmlformats.org/drawingml/2006/main" noGrp="1"/>
          </p:cNvSpPr>
          <p:nvPr/>
        </p:nvSpPr>
        <p:spPr>
          <a:xfrm xmlns:a="http://schemas.openxmlformats.org/drawingml/2006/main">
            <a:off x="619125" y="1333500"/>
            <a:ext cx="1095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defRPr sz="2100" b="0">
                <a:solidFill>
                  <a:srgbClr val="5D6D76"/>
                </a:solidFill>
                <a:latin typeface="Avenir Next"/>
                <a:ea typeface="Avenir Next"/>
                <a:cs typeface="Avenir Next"/>
              </a:defRPr>
            </a:lvl1pPr>
            <a:lvl2pPr>
              <a:defRPr sz="2100" b="0">
                <a:solidFill>
                  <a:srgbClr val="5D6D76"/>
                </a:solidFill>
                <a:latin typeface="Avenir Next"/>
                <a:ea typeface="Avenir Next"/>
                <a:cs typeface="Avenir Next"/>
              </a:defRPr>
            </a:lvl2pPr>
            <a:lvl3pPr>
              <a:defRPr sz="2100" b="0">
                <a:solidFill>
                  <a:srgbClr val="5D6D76"/>
                </a:solidFill>
                <a:latin typeface="Avenir Next"/>
                <a:ea typeface="Avenir Next"/>
                <a:cs typeface="Avenir Next"/>
              </a:defRPr>
            </a:lvl3pPr>
            <a:lvl4pPr>
              <a:defRPr sz="2100" b="0">
                <a:solidFill>
                  <a:srgbClr val="5D6D76"/>
                </a:solidFill>
                <a:latin typeface="Avenir Next"/>
                <a:ea typeface="Avenir Next"/>
                <a:cs typeface="Avenir Next"/>
              </a:defRPr>
            </a:lvl4pPr>
            <a:lvl5pPr>
              <a:defRPr sz="2100" b="0">
                <a:solidFill>
                  <a:srgbClr val="5D6D76"/>
                </a:solidFill>
                <a:latin typeface="Avenir Next"/>
                <a:ea typeface="Avenir Next"/>
                <a:cs typeface="Avenir Next"/>
              </a:defRPr>
            </a:lvl5pPr>
            <a:lvl6pPr>
              <a:defRPr sz="2100" b="0">
                <a:solidFill>
                  <a:srgbClr val="5D6D76"/>
                </a:solidFill>
                <a:latin typeface="Avenir Next"/>
                <a:ea typeface="Avenir Next"/>
                <a:cs typeface="Avenir Next"/>
              </a:defRPr>
            </a:lvl6pPr>
            <a:lvl7pPr>
              <a:defRPr sz="2100" b="0">
                <a:solidFill>
                  <a:srgbClr val="5D6D76"/>
                </a:solidFill>
                <a:latin typeface="Avenir Next"/>
                <a:ea typeface="Avenir Next"/>
                <a:cs typeface="Avenir Next"/>
              </a:defRPr>
            </a:lvl7pPr>
            <a:lvl8pPr>
              <a:defRPr sz="2100" b="0">
                <a:solidFill>
                  <a:srgbClr val="5D6D76"/>
                </a:solidFill>
                <a:latin typeface="Avenir Next"/>
                <a:ea typeface="Avenir Next"/>
                <a:cs typeface="Avenir Next"/>
              </a:defRPr>
            </a:lvl8pPr>
            <a:lvl9pPr>
              <a:defRPr sz="2100" b="0">
                <a:solidFill>
                  <a:srgbClr val="5D6D76"/>
                </a:solidFill>
                <a:latin typeface="Avenir Next"/>
                <a:ea typeface="Avenir Next"/>
                <a:cs typeface="Avenir Next"/>
              </a:defRPr>
            </a:lvl9pPr>
          </a:lstStyle>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Wright et al. (2026), Machine Learning in Epidemiology</a:t>
            </a:r>
          </a:p>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arXiv:2602.16352v1, sections 2–6</a:t>
            </a:r>
          </a:p>
        </p:txBody>
      </p:sp>
      <p:sp>
        <p:nvSpPr>
          <p:cNvPr id="6" name="">
            <a:extLst xmlns:a="http://schemas.openxmlformats.org/drawingml/2006/main">
              <a:ext uri="{FF2B5EF4-FFF2-40B4-BE49-F238E27FC236}">
                <a16:creationId xmlns:a16="http://schemas.microsoft.com/office/drawing/2014/main" id="{B54EF449-E385-4D0B-8ED5-CA6B9A562C0B}"/>
              </a:ext>
            </a:extLst>
          </p:cNvPr>
          <p:cNvSpPr>
            <a:spLocks xmlns:a="http://schemas.openxmlformats.org/drawingml/2006/main" noGrp="1"/>
          </p:cNvSpPr>
          <p:nvPr/>
        </p:nvSpPr>
        <p:spPr>
          <a:xfrm xmlns:a="http://schemas.openxmlformats.org/drawingml/2006/main">
            <a:off x="619125" y="2524125"/>
            <a:ext cx="1095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defRPr sz="2100" b="0">
                <a:solidFill>
                  <a:srgbClr val="5D6D76"/>
                </a:solidFill>
                <a:latin typeface="Avenir Next"/>
                <a:ea typeface="Avenir Next"/>
                <a:cs typeface="Avenir Next"/>
              </a:defRPr>
            </a:lvl1pPr>
            <a:lvl2pPr>
              <a:defRPr sz="2100" b="0">
                <a:solidFill>
                  <a:srgbClr val="5D6D76"/>
                </a:solidFill>
                <a:latin typeface="Avenir Next"/>
                <a:ea typeface="Avenir Next"/>
                <a:cs typeface="Avenir Next"/>
              </a:defRPr>
            </a:lvl2pPr>
            <a:lvl3pPr>
              <a:defRPr sz="2100" b="0">
                <a:solidFill>
                  <a:srgbClr val="5D6D76"/>
                </a:solidFill>
                <a:latin typeface="Avenir Next"/>
                <a:ea typeface="Avenir Next"/>
                <a:cs typeface="Avenir Next"/>
              </a:defRPr>
            </a:lvl3pPr>
            <a:lvl4pPr>
              <a:defRPr sz="2100" b="0">
                <a:solidFill>
                  <a:srgbClr val="5D6D76"/>
                </a:solidFill>
                <a:latin typeface="Avenir Next"/>
                <a:ea typeface="Avenir Next"/>
                <a:cs typeface="Avenir Next"/>
              </a:defRPr>
            </a:lvl4pPr>
            <a:lvl5pPr>
              <a:defRPr sz="2100" b="0">
                <a:solidFill>
                  <a:srgbClr val="5D6D76"/>
                </a:solidFill>
                <a:latin typeface="Avenir Next"/>
                <a:ea typeface="Avenir Next"/>
                <a:cs typeface="Avenir Next"/>
              </a:defRPr>
            </a:lvl5pPr>
            <a:lvl6pPr>
              <a:defRPr sz="2100" b="0">
                <a:solidFill>
                  <a:srgbClr val="5D6D76"/>
                </a:solidFill>
                <a:latin typeface="Avenir Next"/>
                <a:ea typeface="Avenir Next"/>
                <a:cs typeface="Avenir Next"/>
              </a:defRPr>
            </a:lvl6pPr>
            <a:lvl7pPr>
              <a:defRPr sz="2100" b="0">
                <a:solidFill>
                  <a:srgbClr val="5D6D76"/>
                </a:solidFill>
                <a:latin typeface="Avenir Next"/>
                <a:ea typeface="Avenir Next"/>
                <a:cs typeface="Avenir Next"/>
              </a:defRPr>
            </a:lvl7pPr>
            <a:lvl8pPr>
              <a:defRPr sz="2100" b="0">
                <a:solidFill>
                  <a:srgbClr val="5D6D76"/>
                </a:solidFill>
                <a:latin typeface="Avenir Next"/>
                <a:ea typeface="Avenir Next"/>
                <a:cs typeface="Avenir Next"/>
              </a:defRPr>
            </a:lvl8pPr>
            <a:lvl9pPr>
              <a:defRPr sz="2100" b="0">
                <a:solidFill>
                  <a:srgbClr val="5D6D76"/>
                </a:solidFill>
                <a:latin typeface="Avenir Next"/>
                <a:ea typeface="Avenir Next"/>
                <a:cs typeface="Avenir Next"/>
              </a:defRPr>
            </a:lvl9pPr>
          </a:lstStyle>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OpenML heart-statlog, dataset 53, version 1</a:t>
            </a:r>
          </a:p>
        </p:txBody>
      </p:sp>
      <p:sp>
        <p:nvSpPr>
          <p:cNvPr id="7" name="">
            <a:extLst xmlns:a="http://schemas.openxmlformats.org/drawingml/2006/main">
              <a:ext uri="{FF2B5EF4-FFF2-40B4-BE49-F238E27FC236}">
                <a16:creationId xmlns:a16="http://schemas.microsoft.com/office/drawing/2014/main" id="{14B9A715-A595-42BA-BAAF-0A54B715DA69}"/>
              </a:ext>
            </a:extLst>
          </p:cNvPr>
          <p:cNvSpPr>
            <a:spLocks xmlns:a="http://schemas.openxmlformats.org/drawingml/2006/main" noGrp="1"/>
          </p:cNvSpPr>
          <p:nvPr/>
        </p:nvSpPr>
        <p:spPr>
          <a:xfrm xmlns:a="http://schemas.openxmlformats.org/drawingml/2006/main">
            <a:off x="619125" y="3714750"/>
            <a:ext cx="1095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defRPr sz="2100" b="0">
                <a:solidFill>
                  <a:srgbClr val="5D6D76"/>
                </a:solidFill>
                <a:latin typeface="Avenir Next"/>
                <a:ea typeface="Avenir Next"/>
                <a:cs typeface="Avenir Next"/>
              </a:defRPr>
            </a:lvl1pPr>
            <a:lvl2pPr>
              <a:defRPr sz="2100" b="0">
                <a:solidFill>
                  <a:srgbClr val="5D6D76"/>
                </a:solidFill>
                <a:latin typeface="Avenir Next"/>
                <a:ea typeface="Avenir Next"/>
                <a:cs typeface="Avenir Next"/>
              </a:defRPr>
            </a:lvl2pPr>
            <a:lvl3pPr>
              <a:defRPr sz="2100" b="0">
                <a:solidFill>
                  <a:srgbClr val="5D6D76"/>
                </a:solidFill>
                <a:latin typeface="Avenir Next"/>
                <a:ea typeface="Avenir Next"/>
                <a:cs typeface="Avenir Next"/>
              </a:defRPr>
            </a:lvl3pPr>
            <a:lvl4pPr>
              <a:defRPr sz="2100" b="0">
                <a:solidFill>
                  <a:srgbClr val="5D6D76"/>
                </a:solidFill>
                <a:latin typeface="Avenir Next"/>
                <a:ea typeface="Avenir Next"/>
                <a:cs typeface="Avenir Next"/>
              </a:defRPr>
            </a:lvl4pPr>
            <a:lvl5pPr>
              <a:defRPr sz="2100" b="0">
                <a:solidFill>
                  <a:srgbClr val="5D6D76"/>
                </a:solidFill>
                <a:latin typeface="Avenir Next"/>
                <a:ea typeface="Avenir Next"/>
                <a:cs typeface="Avenir Next"/>
              </a:defRPr>
            </a:lvl5pPr>
            <a:lvl6pPr>
              <a:defRPr sz="2100" b="0">
                <a:solidFill>
                  <a:srgbClr val="5D6D76"/>
                </a:solidFill>
                <a:latin typeface="Avenir Next"/>
                <a:ea typeface="Avenir Next"/>
                <a:cs typeface="Avenir Next"/>
              </a:defRPr>
            </a:lvl6pPr>
            <a:lvl7pPr>
              <a:defRPr sz="2100" b="0">
                <a:solidFill>
                  <a:srgbClr val="5D6D76"/>
                </a:solidFill>
                <a:latin typeface="Avenir Next"/>
                <a:ea typeface="Avenir Next"/>
                <a:cs typeface="Avenir Next"/>
              </a:defRPr>
            </a:lvl7pPr>
            <a:lvl8pPr>
              <a:defRPr sz="2100" b="0">
                <a:solidFill>
                  <a:srgbClr val="5D6D76"/>
                </a:solidFill>
                <a:latin typeface="Avenir Next"/>
                <a:ea typeface="Avenir Next"/>
                <a:cs typeface="Avenir Next"/>
              </a:defRPr>
            </a:lvl8pPr>
            <a:lvl9pPr>
              <a:defRPr sz="2100" b="0">
                <a:solidFill>
                  <a:srgbClr val="5D6D76"/>
                </a:solidFill>
                <a:latin typeface="Avenir Next"/>
                <a:ea typeface="Avenir Next"/>
                <a:cs typeface="Avenir Next"/>
              </a:defRPr>
            </a:lvl9pPr>
          </a:lstStyle>
          <a:p xmlns:a="http://schemas.openxmlformats.org/drawingml/2006/main">
            <a:pPr>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Local notebook, scripts, saved figures and output records</a:t>
            </a:r>
          </a:p>
        </p:txBody>
      </p:sp>
      <p:sp>
        <p:nvSpPr>
          <p:cNvPr id="8" name="">
            <a:extLst xmlns:a="http://schemas.openxmlformats.org/drawingml/2006/main">
              <a:ext uri="{FF2B5EF4-FFF2-40B4-BE49-F238E27FC236}">
                <a16:creationId xmlns:a16="http://schemas.microsoft.com/office/drawing/2014/main" id="{2C37702E-8DA4-485F-9F1A-E50250C3108B}"/>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defRPr sz="1725" b="0">
                <a:solidFill>
                  <a:srgbClr val="09253A"/>
                </a:solidFill>
                <a:latin typeface="Avenir Next"/>
                <a:ea typeface="Avenir Next"/>
                <a:cs typeface="Avenir Next"/>
              </a:defRPr>
            </a:lvl1pPr>
            <a:lvl2pPr>
              <a:defRPr sz="1725" b="0">
                <a:solidFill>
                  <a:srgbClr val="09253A"/>
                </a:solidFill>
                <a:latin typeface="Avenir Next"/>
                <a:ea typeface="Avenir Next"/>
                <a:cs typeface="Avenir Next"/>
              </a:defRPr>
            </a:lvl2pPr>
            <a:lvl3pPr>
              <a:defRPr sz="1725" b="0">
                <a:solidFill>
                  <a:srgbClr val="09253A"/>
                </a:solidFill>
                <a:latin typeface="Avenir Next"/>
                <a:ea typeface="Avenir Next"/>
                <a:cs typeface="Avenir Next"/>
              </a:defRPr>
            </a:lvl3pPr>
            <a:lvl4pPr>
              <a:defRPr sz="1725" b="0">
                <a:solidFill>
                  <a:srgbClr val="09253A"/>
                </a:solidFill>
                <a:latin typeface="Avenir Next"/>
                <a:ea typeface="Avenir Next"/>
                <a:cs typeface="Avenir Next"/>
              </a:defRPr>
            </a:lvl4pPr>
            <a:lvl5pPr>
              <a:defRPr sz="1725" b="0">
                <a:solidFill>
                  <a:srgbClr val="09253A"/>
                </a:solidFill>
                <a:latin typeface="Avenir Next"/>
                <a:ea typeface="Avenir Next"/>
                <a:cs typeface="Avenir Next"/>
              </a:defRPr>
            </a:lvl5pPr>
            <a:lvl6pPr>
              <a:defRPr sz="1725" b="0">
                <a:solidFill>
                  <a:srgbClr val="09253A"/>
                </a:solidFill>
                <a:latin typeface="Avenir Next"/>
                <a:ea typeface="Avenir Next"/>
                <a:cs typeface="Avenir Next"/>
              </a:defRPr>
            </a:lvl6pPr>
            <a:lvl7pPr>
              <a:defRPr sz="1725" b="0">
                <a:solidFill>
                  <a:srgbClr val="09253A"/>
                </a:solidFill>
                <a:latin typeface="Avenir Next"/>
                <a:ea typeface="Avenir Next"/>
                <a:cs typeface="Avenir Next"/>
              </a:defRPr>
            </a:lvl7pPr>
            <a:lvl8pPr>
              <a:defRPr sz="1725" b="0">
                <a:solidFill>
                  <a:srgbClr val="09253A"/>
                </a:solidFill>
                <a:latin typeface="Avenir Next"/>
                <a:ea typeface="Avenir Next"/>
                <a:cs typeface="Avenir Next"/>
              </a:defRPr>
            </a:lvl8pPr>
            <a:lvl9pPr>
              <a:defRPr sz="1725" b="0">
                <a:solidFill>
                  <a:srgbClr val="09253A"/>
                </a:solidFill>
                <a:latin typeface="Avenir Next"/>
                <a:ea typeface="Avenir Next"/>
                <a:cs typeface="Avenir Next"/>
              </a:defRPr>
            </a:lvl9pPr>
          </a:lstStyle>
          <a:p xmlns:a="http://schemas.openxmlformats.org/drawingml/2006/main">
            <a:pPr>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Source details, timing and evidence gaps accompany this deck.</a:t>
            </a:r>
          </a:p>
        </p:txBody>
      </p:sp>
    </p:spTree>
    <p:extLst>
      <p:ext uri="{BB962C8B-B14F-4D97-AF65-F5344CB8AC3E}">
        <p14:creationId xmlns:p14="http://schemas.microsoft.com/office/powerpoint/2010/main" val="1078185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2026-10-22T18:02:07.7480000Z</dcterms:created>
  <dcterms:modified xsi:type="dcterms:W3CDTF">2026-10-22T18:02:07.7480000Z</dcterms:modified>
</coreProperties>
</file>