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4ee46912094388" /><Relationship Type="http://schemas.openxmlformats.org/officeDocument/2006/relationships/extended-properties" Target="/docProps/app.xml" Id="Rb9502a5a22374963" /><Relationship Type="http://schemas.openxmlformats.org/officeDocument/2006/relationships/officeDocument" Target="/ppt/presentation.xml" Id="R9ca90a34ece145bc" /></Relationships>
</file>

<file path=ppt/presentation.xml><?xml version="1.0" encoding="utf-8"?>
<p:presentation xmlns:p="http://schemas.openxmlformats.org/presentationml/2006/main">
  <p:sldMasterIdLst>
    <p:sldMasterId xmlns:r="http://schemas.openxmlformats.org/officeDocument/2006/relationships" id="2147483648" r:id="R1b43bdb74d3c4540"/>
  </p:sldMasterIdLst>
  <p:notesMasterIdLst>
    <p:notesMasterId xmlns:r="http://schemas.openxmlformats.org/officeDocument/2006/relationships" r:id="R88111b0cb2f044e7"/>
  </p:notesMasterIdLst>
  <p:sldIdLst>
    <p:sldId xmlns:r="http://schemas.openxmlformats.org/officeDocument/2006/relationships" id="256" r:id="R5ffdbab4f68b4cd5"/>
    <p:sldId xmlns:r="http://schemas.openxmlformats.org/officeDocument/2006/relationships" id="257" r:id="Rba1abdca79044a1c"/>
    <p:sldId xmlns:r="http://schemas.openxmlformats.org/officeDocument/2006/relationships" id="258" r:id="R6a465597574f4af2"/>
    <p:sldId xmlns:r="http://schemas.openxmlformats.org/officeDocument/2006/relationships" id="259" r:id="R081ee1d049b64493"/>
    <p:sldId xmlns:r="http://schemas.openxmlformats.org/officeDocument/2006/relationships" id="260" r:id="R0b483c67ac13402f"/>
    <p:sldId xmlns:r="http://schemas.openxmlformats.org/officeDocument/2006/relationships" id="261" r:id="R5f5360babe544539"/>
    <p:sldId xmlns:r="http://schemas.openxmlformats.org/officeDocument/2006/relationships" id="262" r:id="R72faa9bb16244faf"/>
    <p:sldId xmlns:r="http://schemas.openxmlformats.org/officeDocument/2006/relationships" id="263" r:id="R89c513da1db84038"/>
    <p:sldId xmlns:r="http://schemas.openxmlformats.org/officeDocument/2006/relationships" id="264" r:id="R43fdf235f2a44da5"/>
    <p:sldId xmlns:r="http://schemas.openxmlformats.org/officeDocument/2006/relationships" id="265" r:id="R5d692cc75d0d4268"/>
    <p:sldId xmlns:r="http://schemas.openxmlformats.org/officeDocument/2006/relationships" id="266" r:id="R056d9b5074364df4"/>
    <p:sldId xmlns:r="http://schemas.openxmlformats.org/officeDocument/2006/relationships" id="267" r:id="R86048b27b3254206"/>
    <p:sldId xmlns:r="http://schemas.openxmlformats.org/officeDocument/2006/relationships" id="268" r:id="R4367766d45914662"/>
    <p:sldId xmlns:r="http://schemas.openxmlformats.org/officeDocument/2006/relationships" id="269" r:id="R24e92c0571584ef2"/>
    <p:sldId xmlns:r="http://schemas.openxmlformats.org/officeDocument/2006/relationships" id="270" r:id="Rf15d4ff529e14878"/>
    <p:sldId xmlns:r="http://schemas.openxmlformats.org/officeDocument/2006/relationships" id="271" r:id="Rf6a28428e9214892"/>
    <p:sldId xmlns:r="http://schemas.openxmlformats.org/officeDocument/2006/relationships" id="272" r:id="Rec7910580a32423f"/>
    <p:sldId xmlns:r="http://schemas.openxmlformats.org/officeDocument/2006/relationships" id="273" r:id="R31a20ae9f85443ef"/>
    <p:sldId xmlns:r="http://schemas.openxmlformats.org/officeDocument/2006/relationships" id="274" r:id="R3eb09e304a8c44eb"/>
    <p:sldId xmlns:r="http://schemas.openxmlformats.org/officeDocument/2006/relationships" id="275" r:id="R159ef9f80bbe4abe"/>
    <p:sldId xmlns:r="http://schemas.openxmlformats.org/officeDocument/2006/relationships" id="276" r:id="R98f493b184e74ced"/>
    <p:sldId xmlns:r="http://schemas.openxmlformats.org/officeDocument/2006/relationships" id="277" r:id="Rf8beff29ae6b4369"/>
    <p:sldId xmlns:r="http://schemas.openxmlformats.org/officeDocument/2006/relationships" id="278" r:id="R059c53897b894e40"/>
    <p:sldId xmlns:r="http://schemas.openxmlformats.org/officeDocument/2006/relationships" id="279" r:id="R03408800389b4c66"/>
    <p:sldId xmlns:r="http://schemas.openxmlformats.org/officeDocument/2006/relationships" id="280" r:id="R92f572cb0e0e4c7c"/>
    <p:sldId xmlns:r="http://schemas.openxmlformats.org/officeDocument/2006/relationships" id="281" r:id="Ra75b9449e8d2431a"/>
    <p:sldId xmlns:r="http://schemas.openxmlformats.org/officeDocument/2006/relationships" id="282" r:id="R69c3517572414457"/>
    <p:sldId xmlns:r="http://schemas.openxmlformats.org/officeDocument/2006/relationships" id="283" r:id="Rfe71d6748b584c45"/>
    <p:sldId xmlns:r="http://schemas.openxmlformats.org/officeDocument/2006/relationships" id="284" r:id="R2a737eddae5c4e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7c5c89b7cd04d17" /><Relationship Type="http://schemas.openxmlformats.org/officeDocument/2006/relationships/slideMaster" Target="/ppt/slideMasters/slideMaster1.xml" Id="R1b43bdb74d3c4540" /><Relationship Type="http://schemas.openxmlformats.org/officeDocument/2006/relationships/notesMaster" Target="/ppt/notesMasters/notesMaster1.xml" Id="R88111b0cb2f044e7" /><Relationship Type="http://schemas.openxmlformats.org/officeDocument/2006/relationships/presProps" Target="/ppt/presProps.xml" Id="Rab4a17d9a14e41a5" /><Relationship Type="http://schemas.openxmlformats.org/officeDocument/2006/relationships/tableStyles" Target="/ppt/tableStyles.xml" Id="R27aaa1c10ed54ab7" /><Relationship Type="http://schemas.openxmlformats.org/officeDocument/2006/relationships/slide" Target="/ppt/slides/slide1.xml" Id="R5ffdbab4f68b4cd5" /><Relationship Type="http://schemas.openxmlformats.org/officeDocument/2006/relationships/slide" Target="/ppt/slides/slide2.xml" Id="Rba1abdca79044a1c" /><Relationship Type="http://schemas.openxmlformats.org/officeDocument/2006/relationships/slide" Target="/ppt/slides/slide3.xml" Id="R6a465597574f4af2" /><Relationship Type="http://schemas.openxmlformats.org/officeDocument/2006/relationships/slide" Target="/ppt/slides/slide4.xml" Id="R081ee1d049b64493" /><Relationship Type="http://schemas.openxmlformats.org/officeDocument/2006/relationships/slide" Target="/ppt/slides/slide5.xml" Id="R0b483c67ac13402f" /><Relationship Type="http://schemas.openxmlformats.org/officeDocument/2006/relationships/slide" Target="/ppt/slides/slide6.xml" Id="R5f5360babe544539" /><Relationship Type="http://schemas.openxmlformats.org/officeDocument/2006/relationships/slide" Target="/ppt/slides/slide7.xml" Id="R72faa9bb16244faf" /><Relationship Type="http://schemas.openxmlformats.org/officeDocument/2006/relationships/slide" Target="/ppt/slides/slide8.xml" Id="R89c513da1db84038" /><Relationship Type="http://schemas.openxmlformats.org/officeDocument/2006/relationships/slide" Target="/ppt/slides/slide9.xml" Id="R43fdf235f2a44da5" /><Relationship Type="http://schemas.openxmlformats.org/officeDocument/2006/relationships/slide" Target="/ppt/slides/slide10.xml" Id="R5d692cc75d0d4268" /><Relationship Type="http://schemas.openxmlformats.org/officeDocument/2006/relationships/slide" Target="/ppt/slides/slide11.xml" Id="R056d9b5074364df4" /><Relationship Type="http://schemas.openxmlformats.org/officeDocument/2006/relationships/slide" Target="/ppt/slides/slide12.xml" Id="R86048b27b3254206" /><Relationship Type="http://schemas.openxmlformats.org/officeDocument/2006/relationships/slide" Target="/ppt/slides/slide13.xml" Id="R4367766d45914662" /><Relationship Type="http://schemas.openxmlformats.org/officeDocument/2006/relationships/slide" Target="/ppt/slides/slide14.xml" Id="R24e92c0571584ef2" /><Relationship Type="http://schemas.openxmlformats.org/officeDocument/2006/relationships/slide" Target="/ppt/slides/slide15.xml" Id="Rf15d4ff529e14878" /><Relationship Type="http://schemas.openxmlformats.org/officeDocument/2006/relationships/slide" Target="/ppt/slides/slide16.xml" Id="Rf6a28428e9214892" /><Relationship Type="http://schemas.openxmlformats.org/officeDocument/2006/relationships/slide" Target="/ppt/slides/slide17.xml" Id="Rec7910580a32423f" /><Relationship Type="http://schemas.openxmlformats.org/officeDocument/2006/relationships/slide" Target="/ppt/slides/slide18.xml" Id="R31a20ae9f85443ef" /><Relationship Type="http://schemas.openxmlformats.org/officeDocument/2006/relationships/slide" Target="/ppt/slides/slide19.xml" Id="R3eb09e304a8c44eb" /><Relationship Type="http://schemas.openxmlformats.org/officeDocument/2006/relationships/slide" Target="/ppt/slides/slide20.xml" Id="R159ef9f80bbe4abe" /><Relationship Type="http://schemas.openxmlformats.org/officeDocument/2006/relationships/slide" Target="/ppt/slides/slide21.xml" Id="R98f493b184e74ced" /><Relationship Type="http://schemas.openxmlformats.org/officeDocument/2006/relationships/slide" Target="/ppt/slides/slide22.xml" Id="Rf8beff29ae6b4369" /><Relationship Type="http://schemas.openxmlformats.org/officeDocument/2006/relationships/slide" Target="/ppt/slides/slide23.xml" Id="R059c53897b894e40" /><Relationship Type="http://schemas.openxmlformats.org/officeDocument/2006/relationships/slide" Target="/ppt/slides/slide24.xml" Id="R03408800389b4c66" /><Relationship Type="http://schemas.openxmlformats.org/officeDocument/2006/relationships/slide" Target="/ppt/slides/slide25.xml" Id="R92f572cb0e0e4c7c" /><Relationship Type="http://schemas.openxmlformats.org/officeDocument/2006/relationships/slide" Target="/ppt/slides/slide26.xml" Id="Ra75b9449e8d2431a" /><Relationship Type="http://schemas.openxmlformats.org/officeDocument/2006/relationships/slide" Target="/ppt/slides/slide27.xml" Id="R69c3517572414457" /><Relationship Type="http://schemas.openxmlformats.org/officeDocument/2006/relationships/slide" Target="/ppt/slides/slide28.xml" Id="Rfe71d6748b584c45" /><Relationship Type="http://schemas.openxmlformats.org/officeDocument/2006/relationships/slide" Target="/ppt/slides/slide29.xml" Id="R2a737eddae5c4e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bcc50d2f6f4f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bb2c4d1cf44b36" /><Relationship Type="http://schemas.openxmlformats.org/officeDocument/2006/relationships/notesMaster" Target="/ppt/notesMasters/notesMaster1.xml" Id="Reb525c23cf2d40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670c14ac8644f6" /><Relationship Type="http://schemas.openxmlformats.org/officeDocument/2006/relationships/notesMaster" Target="/ppt/notesMasters/notesMaster1.xml" Id="Rb1abddfc4df249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cc3abe3a8f4d22" /><Relationship Type="http://schemas.openxmlformats.org/officeDocument/2006/relationships/notesMaster" Target="/ppt/notesMasters/notesMaster1.xml" Id="R75a5e5a34d684cb6"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0dae83aa924460" /><Relationship Type="http://schemas.openxmlformats.org/officeDocument/2006/relationships/notesMaster" Target="/ppt/notesMasters/notesMaster1.xml" Id="Rc9f622efcac144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22db3cd079f44440" /><Relationship Type="http://schemas.openxmlformats.org/officeDocument/2006/relationships/notesMaster" Target="/ppt/notesMasters/notesMaster1.xml" Id="Ref7e4ddebf0e4e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b0be718ec04a2d" /><Relationship Type="http://schemas.openxmlformats.org/officeDocument/2006/relationships/notesMaster" Target="/ppt/notesMasters/notesMaster1.xml" Id="R4760511687fa4a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73627ce62c4928" /><Relationship Type="http://schemas.openxmlformats.org/officeDocument/2006/relationships/notesMaster" Target="/ppt/notesMasters/notesMaster1.xml" Id="R06c3d573cdea491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a3d263ba55b43bd" /><Relationship Type="http://schemas.openxmlformats.org/officeDocument/2006/relationships/notesMaster" Target="/ppt/notesMasters/notesMaster1.xml" Id="Rc3d13ddf4c93464f" /></Relationships>
</file>

<file path=ppt/notesSlides/_rels/notesSlide9.xml.rels>&#65279;<?xml version="1.0" encoding="utf-8"?><Relationships xmlns="http://schemas.openxmlformats.org/package/2006/relationships"><Relationship Type="http://schemas.openxmlformats.org/officeDocument/2006/relationships/slide" Target="/ppt/slides/slide9.xml" Id="R6f1630240d4047d1" /><Relationship Type="http://schemas.openxmlformats.org/officeDocument/2006/relationships/notesMaster" Target="/ppt/notesMasters/notesMaster1.xml" Id="Rc1198c46dd45459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e2db4ea8e954865" /><Relationship Type="http://schemas.openxmlformats.org/officeDocument/2006/relationships/notesMaster" Target="/ppt/notesMasters/notesMaster1.xml" Id="R3ec9295c90ef419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d056e8821114212" /><Relationship Type="http://schemas.openxmlformats.org/officeDocument/2006/relationships/notesMaster" Target="/ppt/notesMasters/notesMaster1.xml" Id="R025d0a407ef44e4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d416243a3a54783" /><Relationship Type="http://schemas.openxmlformats.org/officeDocument/2006/relationships/notesMaster" Target="/ppt/notesMasters/notesMaster1.xml" Id="Ra6e5ab23ca1f463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7a023d046e945da" /><Relationship Type="http://schemas.openxmlformats.org/officeDocument/2006/relationships/notesMaster" Target="/ppt/notesMasters/notesMaster1.xml" Id="R728f06cecbc44f5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203e5bdcc414c37" /><Relationship Type="http://schemas.openxmlformats.org/officeDocument/2006/relationships/notesMaster" Target="/ppt/notesMasters/notesMaster1.xml" Id="R9c7905afcebb435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a6cbb1da278479e" /><Relationship Type="http://schemas.openxmlformats.org/officeDocument/2006/relationships/notesMaster" Target="/ppt/notesMasters/notesMaster1.xml" Id="R0f85f236ba22470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2eed5b230c7483e" /><Relationship Type="http://schemas.openxmlformats.org/officeDocument/2006/relationships/notesMaster" Target="/ppt/notesMasters/notesMaster1.xml" Id="Ra26147536203425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92d1c1e3de74dfe" /><Relationship Type="http://schemas.openxmlformats.org/officeDocument/2006/relationships/notesMaster" Target="/ppt/notesMasters/notesMaster1.xml" Id="R80e3d65f5e2847f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e353e5c0bba406d" /><Relationship Type="http://schemas.openxmlformats.org/officeDocument/2006/relationships/notesMaster" Target="/ppt/notesMasters/notesMaster1.xml" Id="R3f2106dc2b7f40c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254c2684dde4926" /><Relationship Type="http://schemas.openxmlformats.org/officeDocument/2006/relationships/notesMaster" Target="/ppt/notesMasters/notesMaster1.xml" Id="R50c0fcf8ace648b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d7cd3b68ee64979" /><Relationship Type="http://schemas.openxmlformats.org/officeDocument/2006/relationships/notesMaster" Target="/ppt/notesMasters/notesMaster1.xml" Id="R6590b30df6b14d8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c57818c704a416e" /><Relationship Type="http://schemas.openxmlformats.org/officeDocument/2006/relationships/notesMaster" Target="/ppt/notesMasters/notesMaster1.xml" Id="R13c127c3e9e24a8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48b3ad0c4f44b2d" /><Relationship Type="http://schemas.openxmlformats.org/officeDocument/2006/relationships/notesMaster" Target="/ppt/notesMasters/notesMaster1.xml" Id="R6cadbffd852548a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a01892a95b14182" /><Relationship Type="http://schemas.openxmlformats.org/officeDocument/2006/relationships/notesMaster" Target="/ppt/notesMasters/notesMaster1.xml" Id="R8745f85614ec4d9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fad1f777e5c41ea" /><Relationship Type="http://schemas.openxmlformats.org/officeDocument/2006/relationships/notesMaster" Target="/ppt/notesMasters/notesMaster1.xml" Id="R9158e0466fd642d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be5b3d55a1a414d" /><Relationship Type="http://schemas.openxmlformats.org/officeDocument/2006/relationships/notesMaster" Target="/ppt/notesMasters/notesMaster1.xml" Id="Rc686d4daa6594e9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22cb94844ed4474" /><Relationship Type="http://schemas.openxmlformats.org/officeDocument/2006/relationships/notesMaster" Target="/ppt/notesMasters/notesMaster1.xml" Id="R0d246803b9b143d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74a02fb3b724084" /><Relationship Type="http://schemas.openxmlformats.org/officeDocument/2006/relationships/notesMaster" Target="/ppt/notesMasters/notesMaster1.xml" Id="Ra849906a49794c1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36b58db69184e9a" /><Relationship Type="http://schemas.openxmlformats.org/officeDocument/2006/relationships/notesMaster" Target="/ppt/notesMasters/notesMaster1.xml" Id="R2c5f51e91dbe4c6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aeff84b47764784" /><Relationship Type="http://schemas.openxmlformats.org/officeDocument/2006/relationships/notesMaster" Target="/ppt/notesMasters/notesMaster1.xml" Id="R974d1f6efb7f4f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Read an existing forest result, then fit a neural network to the same heart-disease task. Forest fitting is not part of the live session.</a:t>
            </a:r>
          </a:p>
          <a:p xmlns:a="http://schemas.openxmlformats.org/drawingml/2006/main">
            <a:r>
              <a:t/>
            </a:r>
          </a:p>
          <a:p xmlns:a="http://schemas.openxmlformats.org/drawingml/2006/main">
            <a:r>
              <a:t>DEMONSTRATION / QUESTION</a:t>
            </a:r>
          </a:p>
          <a:p xmlns:a="http://schemas.openxmlformats.org/drawingml/2006/main">
            <a:r>
              <a:t>Open the root RStudio project and the Part 2 notebook. Confirm the Keras backend before class.</a:t>
            </a:r>
          </a:p>
          <a:p xmlns:a="http://schemas.openxmlformats.org/drawingml/2006/main">
            <a:r>
              <a:t/>
            </a:r>
          </a:p>
          <a:p xmlns:a="http://schemas.openxmlformats.org/drawingml/2006/main">
            <a:r>
              <a:t>TRANSITION</a:t>
            </a:r>
          </a:p>
          <a:p xmlns:a="http://schemas.openxmlformats.org/drawingml/2006/main">
            <a:r>
              <a:t>Introduce the learning sequence.</a:t>
            </a:r>
          </a:p>
          <a:p xmlns:a="http://schemas.openxmlformats.org/drawingml/2006/main">
            <a:r>
              <a:t/>
            </a:r>
          </a:p>
          <a:p xmlns:a="http://schemas.openxmlformats.org/drawingml/2006/main">
            <a:r>
              <a:t>SOURCE</a:t>
            </a:r>
          </a:p>
          <a:p xmlns:a="http://schemas.openxmlformats.org/drawingml/2006/main">
            <a:r>
              <a:t>part2/ml-workflow-2.qmd; part2/README.md</a:t>
            </a:r>
          </a:p>
          <a:p xmlns:a="http://schemas.openxmlformats.org/drawingml/2006/main">
            <a:r>
              <a:t/>
            </a:r>
          </a:p>
          <a:p xmlns:a="http://schemas.openxmlformats.org/drawingml/2006/main">
            <a:r>
              <a:t>SUGGESTED TIME</a:t>
            </a:r>
          </a:p>
          <a:p xmlns:a="http://schemas.openxmlformats.org/drawingml/2006/main">
            <a:r>
              <a:t>0–3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Follow notebook sections 1–7. Most practical time is for neural-network preparation, fitting and evaluation. Trees, extra curves, resampling, tuning and synthetic records are follow-up material.</a:t>
            </a:r>
          </a:p>
          <a:p xmlns:a="http://schemas.openxmlformats.org/drawingml/2006/main">
            <a:r>
              <a:t/>
            </a:r>
          </a:p>
          <a:p xmlns:a="http://schemas.openxmlformats.org/drawingml/2006/main">
            <a:r>
              <a:t>DEMONSTRATION / QUESTION</a:t>
            </a:r>
          </a:p>
          <a:p xmlns:a="http://schemas.openxmlformats.org/drawingml/2006/main">
            <a:r>
              <a:t>Keep RStudio beside the slides. Run the notebook blocks in order.</a:t>
            </a:r>
          </a:p>
          <a:p xmlns:a="http://schemas.openxmlformats.org/drawingml/2006/main">
            <a:r>
              <a:t/>
            </a:r>
          </a:p>
          <a:p xmlns:a="http://schemas.openxmlformats.org/drawingml/2006/main">
            <a:r>
              <a:t>TRANSITION</a:t>
            </a:r>
          </a:p>
          <a:p xmlns:a="http://schemas.openxmlformats.org/drawingml/2006/main">
            <a:r>
              <a:t>Reconnect with Part 1.</a:t>
            </a:r>
          </a:p>
          <a:p xmlns:a="http://schemas.openxmlformats.org/drawingml/2006/main">
            <a:r>
              <a:t/>
            </a:r>
          </a:p>
          <a:p xmlns:a="http://schemas.openxmlformats.org/drawingml/2006/main">
            <a:r>
              <a:t>SOURCE</a:t>
            </a:r>
          </a:p>
          <a:p xmlns:a="http://schemas.openxmlformats.org/drawingml/2006/main">
            <a:r>
              <a:t>part2/ml-workflow-2.qmd; part2/README.md</a:t>
            </a:r>
          </a:p>
          <a:p xmlns:a="http://schemas.openxmlformats.org/drawingml/2006/main">
            <a:r>
              <a:t/>
            </a:r>
          </a:p>
          <a:p xmlns:a="http://schemas.openxmlformats.org/drawingml/2006/main">
            <a:r>
              <a:t>SUGGESTED TIME</a:t>
            </a:r>
          </a:p>
          <a:p xmlns:a="http://schemas.openxmlformats.org/drawingml/2006/main">
            <a:r>
              <a:t>3–5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Part 1 concerned surveillance observations; Part 2 uses one row per patient and existing heart disease. Reuse the ideas of defining an outcome and separating learning from evaluation.</a:t>
            </a:r>
          </a:p>
          <a:p xmlns:a="http://schemas.openxmlformats.org/drawingml/2006/main">
            <a:r>
              <a:t/>
            </a:r>
          </a:p>
          <a:p xmlns:a="http://schemas.openxmlformats.org/drawingml/2006/main">
            <a:r>
              <a:t>DEMONSTRATION / QUESTION</a:t>
            </a:r>
          </a:p>
          <a:p xmlns:a="http://schemas.openxmlformats.org/drawingml/2006/main">
            <a:r>
              <a:t>Ask what one prediction means in each setting.</a:t>
            </a:r>
          </a:p>
          <a:p xmlns:a="http://schemas.openxmlformats.org/drawingml/2006/main">
            <a:r>
              <a:t/>
            </a:r>
          </a:p>
          <a:p xmlns:a="http://schemas.openxmlformats.org/drawingml/2006/main">
            <a:r>
              <a:t>TRANSITION</a:t>
            </a:r>
          </a:p>
          <a:p xmlns:a="http://schemas.openxmlformats.org/drawingml/2006/main">
            <a:r>
              <a:t>Inspect the heart data.</a:t>
            </a:r>
          </a:p>
          <a:p xmlns:a="http://schemas.openxmlformats.org/drawingml/2006/main">
            <a:r>
              <a:t/>
            </a:r>
          </a:p>
          <a:p xmlns:a="http://schemas.openxmlformats.org/drawingml/2006/main">
            <a:r>
              <a:t>SOURCE</a:t>
            </a:r>
          </a:p>
          <a:p xmlns:a="http://schemas.openxmlformats.org/drawingml/2006/main">
            <a:r>
              <a:t>part1/R/workshop.R; part2/ml-workflow-2.qmd §1</a:t>
            </a:r>
          </a:p>
          <a:p xmlns:a="http://schemas.openxmlformats.org/drawingml/2006/main">
            <a:r>
              <a:t/>
            </a:r>
          </a:p>
          <a:p xmlns:a="http://schemas.openxmlformats.org/drawingml/2006/main">
            <a:r>
              <a:t>SUGGESTED TIME</a:t>
            </a:r>
          </a:p>
          <a:p xmlns:a="http://schemas.openxmlformats.org/drawingml/2006/main">
            <a:r>
              <a:t>5–8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There are 270 patients, 13 predictors and the outcome heart_disease. Present is the class we want to detect. This is existing-disease classification, not future cardiovascular risk.</a:t>
            </a:r>
          </a:p>
          <a:p xmlns:a="http://schemas.openxmlformats.org/drawingml/2006/main">
            <a:r>
              <a:t/>
            </a:r>
          </a:p>
          <a:p xmlns:a="http://schemas.openxmlformats.org/drawingml/2006/main">
            <a:r>
              <a:t>DEMONSTRATION / QUESTION</a:t>
            </a:r>
          </a:p>
          <a:p xmlns:a="http://schemas.openxmlformats.org/drawingml/2006/main">
            <a:r>
              <a:t>Run source("R/01-data.R") and table(heart$heart_disease). Ask which column must be excluded from the inputs.</a:t>
            </a:r>
          </a:p>
          <a:p xmlns:a="http://schemas.openxmlformats.org/drawingml/2006/main">
            <a:r>
              <a:t/>
            </a:r>
          </a:p>
          <a:p xmlns:a="http://schemas.openxmlformats.org/drawingml/2006/main">
            <a:r>
              <a:t>TRANSITION</a:t>
            </a:r>
          </a:p>
          <a:p xmlns:a="http://schemas.openxmlformats.org/drawingml/2006/main">
            <a:r>
              <a:t>Read results from the forest already fitted to these patients.</a:t>
            </a:r>
          </a:p>
          <a:p xmlns:a="http://schemas.openxmlformats.org/drawingml/2006/main">
            <a:r>
              <a:t/>
            </a:r>
          </a:p>
          <a:p xmlns:a="http://schemas.openxmlformats.org/drawingml/2006/main">
            <a:r>
              <a:t>SOURCE</a:t>
            </a:r>
          </a:p>
          <a:p xmlns:a="http://schemas.openxmlformats.org/drawingml/2006/main">
            <a:r>
              <a:t>part2/R/01-data.R; part2/data/README.md</a:t>
            </a:r>
          </a:p>
          <a:p xmlns:a="http://schemas.openxmlformats.org/drawingml/2006/main">
            <a:r>
              <a:t/>
            </a:r>
          </a:p>
          <a:p xmlns:a="http://schemas.openxmlformats.org/drawingml/2006/main">
            <a:r>
              <a:t>SUGGESTED TIME</a:t>
            </a:r>
          </a:p>
          <a:p xmlns:a="http://schemas.openxmlformats.org/drawingml/2006/main">
            <a:r>
              <a:t>8–15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A forest combines many decision trees. The recorded run learned from 180 patients and predicted the other 90. The main lesson loads its saved results. Do not run R/02-trees-and-evaluation.R during the live session: it refits models and runs resampling.</a:t>
            </a:r>
          </a:p>
          <a:p xmlns:a="http://schemas.openxmlformats.org/drawingml/2006/main">
            <a:r>
              <a:t/>
            </a:r>
          </a:p>
          <a:p xmlns:a="http://schemas.openxmlformats.org/drawingml/2006/main">
            <a:r>
              <a:t>DEMONSTRATION / QUESTION</a:t>
            </a:r>
          </a:p>
          <a:p xmlns:a="http://schemas.openxmlformats.org/drawingml/2006/main">
            <a:r>
              <a:t>Open the saved confusion matrix through notebook section 2.</a:t>
            </a:r>
          </a:p>
          <a:p xmlns:a="http://schemas.openxmlformats.org/drawingml/2006/main">
            <a:r>
              <a:t/>
            </a:r>
          </a:p>
          <a:p xmlns:a="http://schemas.openxmlformats.org/drawingml/2006/main">
            <a:r>
              <a:t>TRANSITION</a:t>
            </a:r>
          </a:p>
          <a:p xmlns:a="http://schemas.openxmlformats.org/drawingml/2006/main">
            <a:r>
              <a:t>Count correct predictions and the two types of mistake.</a:t>
            </a:r>
          </a:p>
          <a:p xmlns:a="http://schemas.openxmlformats.org/drawingml/2006/main">
            <a:r>
              <a:t/>
            </a:r>
          </a:p>
          <a:p xmlns:a="http://schemas.openxmlformats.org/drawingml/2006/main">
            <a:r>
              <a:t>SOURCE</a:t>
            </a:r>
          </a:p>
          <a:p xmlns:a="http://schemas.openxmlformats.org/drawingml/2006/main">
            <a:r>
              <a:t>part2/outputs/split.csv; part2/outputs/confusion.csv; part2/ml-workflow-2.qmd §2</a:t>
            </a:r>
          </a:p>
          <a:p xmlns:a="http://schemas.openxmlformats.org/drawingml/2006/main">
            <a:r>
              <a:t/>
            </a:r>
          </a:p>
          <a:p xmlns:a="http://schemas.openxmlformats.org/drawingml/2006/main">
            <a:r>
              <a:t>SUGGESTED TIME</a:t>
            </a:r>
          </a:p>
          <a:p xmlns:a="http://schemas.openxmlformats.org/drawingml/2006/main">
            <a:r>
              <a:t>15–19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Rows on this slide are recorded outcomes; columns are predictions. Counts are 30 true positives, 7 false negatives, 8 false positives and 45 true negatives. The notebook displays the transpose: predictions in rows and outcomes in columns. Counts are identical; point out the labels.</a:t>
            </a:r>
          </a:p>
          <a:p xmlns:a="http://schemas.openxmlformats.org/drawingml/2006/main">
            <a:r>
              <a:t/>
            </a:r>
          </a:p>
          <a:p xmlns:a="http://schemas.openxmlformats.org/drawingml/2006/main">
            <a:r>
              <a:t>DEMONSTRATION / QUESTION</a:t>
            </a:r>
          </a:p>
          <a:p xmlns:a="http://schemas.openxmlformats.org/drawingml/2006/main">
            <a:r>
              <a:t>Find the 7 missed cases and the 8 false alarms. Calculate 75 correct predictions out of 90.</a:t>
            </a:r>
          </a:p>
          <a:p xmlns:a="http://schemas.openxmlformats.org/drawingml/2006/main">
            <a:r>
              <a:t/>
            </a:r>
          </a:p>
          <a:p xmlns:a="http://schemas.openxmlformats.org/drawingml/2006/main">
            <a:r>
              <a:t>TRANSITION</a:t>
            </a:r>
          </a:p>
          <a:p xmlns:a="http://schemas.openxmlformats.org/drawingml/2006/main">
            <a:r>
              <a:t>Summarise the counts using three measures.</a:t>
            </a:r>
          </a:p>
          <a:p xmlns:a="http://schemas.openxmlformats.org/drawingml/2006/main">
            <a:r>
              <a:t/>
            </a:r>
          </a:p>
          <a:p xmlns:a="http://schemas.openxmlformats.org/drawingml/2006/main">
            <a:r>
              <a:t>SOURCE</a:t>
            </a:r>
          </a:p>
          <a:p xmlns:a="http://schemas.openxmlformats.org/drawingml/2006/main">
            <a:r>
              <a:t>part2/outputs/confusion.csv; part2/ml-workflow-2.qmd §2</a:t>
            </a:r>
          </a:p>
          <a:p xmlns:a="http://schemas.openxmlformats.org/drawingml/2006/main">
            <a:r>
              <a:t/>
            </a:r>
          </a:p>
          <a:p xmlns:a="http://schemas.openxmlformats.org/drawingml/2006/main">
            <a:r>
              <a:t>SUGGESTED TIME</a:t>
            </a:r>
          </a:p>
          <a:p xmlns:a="http://schemas.openxmlformats.org/drawingml/2006/main">
            <a:r>
              <a:t>19–25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Accuracy covers all patients. Sensitivity is the fraction of patients with disease detected; specificity is the fraction without disease correctly identified. Use only these three measures in the main lesson.</a:t>
            </a:r>
          </a:p>
          <a:p xmlns:a="http://schemas.openxmlformats.org/drawingml/2006/main">
            <a:r>
              <a:t/>
            </a:r>
          </a:p>
          <a:p xmlns:a="http://schemas.openxmlformats.org/drawingml/2006/main">
            <a:r>
              <a:t>DEMONSTRATION / QUESTION</a:t>
            </a:r>
          </a:p>
          <a:p xmlns:a="http://schemas.openxmlformats.org/drawingml/2006/main">
            <a:r>
              <a:t>Ask students to explain the denominator of one measure in their own words.</a:t>
            </a:r>
          </a:p>
          <a:p xmlns:a="http://schemas.openxmlformats.org/drawingml/2006/main">
            <a:r>
              <a:t/>
            </a:r>
          </a:p>
          <a:p xmlns:a="http://schemas.openxmlformats.org/drawingml/2006/main">
            <a:r>
              <a:t>TRANSITION</a:t>
            </a:r>
          </a:p>
          <a:p xmlns:a="http://schemas.openxmlformats.org/drawingml/2006/main">
            <a:r>
              <a:t>Probabilities allow different cut-offs for a positive prediction.</a:t>
            </a:r>
          </a:p>
          <a:p xmlns:a="http://schemas.openxmlformats.org/drawingml/2006/main">
            <a:r>
              <a:t/>
            </a:r>
          </a:p>
          <a:p xmlns:a="http://schemas.openxmlformats.org/drawingml/2006/main">
            <a:r>
              <a:t>SOURCE</a:t>
            </a:r>
          </a:p>
          <a:p xmlns:a="http://schemas.openxmlformats.org/drawingml/2006/main">
            <a:r>
              <a:t>part2/outputs/holdout-measures.csv; part2/outputs/confusion.csv</a:t>
            </a:r>
          </a:p>
          <a:p xmlns:a="http://schemas.openxmlformats.org/drawingml/2006/main">
            <a:r>
              <a:t/>
            </a:r>
          </a:p>
          <a:p xmlns:a="http://schemas.openxmlformats.org/drawingml/2006/main">
            <a:r>
              <a:t>SUGGESTED TIME</a:t>
            </a:r>
          </a:p>
          <a:p xmlns:a="http://schemas.openxmlformats.org/drawingml/2006/main">
            <a:r>
              <a:t>25–30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A threshold is the cut-off for predicting present. The saved ROC plots sensitivity against the false-positive rate. A lower cut-off catches at least as many positives and labels at least as many negatives positive on fixed scores. Use the curve conceptually, without selecting an optimal clinical threshold.</a:t>
            </a:r>
          </a:p>
          <a:p xmlns:a="http://schemas.openxmlformats.org/drawingml/2006/main">
            <a:r>
              <a:t/>
            </a:r>
          </a:p>
          <a:p xmlns:a="http://schemas.openxmlformats.org/drawingml/2006/main">
            <a:r>
              <a:t>DEMONSTRATION / QUESTION</a:t>
            </a:r>
          </a:p>
          <a:p xmlns:a="http://schemas.openxmlformats.org/drawingml/2006/main">
            <a:r>
              <a:t>Discuss missed cases versus false alarms. No forest code is run.</a:t>
            </a:r>
          </a:p>
          <a:p xmlns:a="http://schemas.openxmlformats.org/drawingml/2006/main">
            <a:r>
              <a:t/>
            </a:r>
          </a:p>
          <a:p xmlns:a="http://schemas.openxmlformats.org/drawingml/2006/main">
            <a:r>
              <a:t>TRANSITION</a:t>
            </a:r>
          </a:p>
          <a:p xmlns:a="http://schemas.openxmlformats.org/drawingml/2006/main">
            <a:r>
              <a:t>Fit a different model using the same training and test patients.</a:t>
            </a:r>
          </a:p>
          <a:p xmlns:a="http://schemas.openxmlformats.org/drawingml/2006/main">
            <a:r>
              <a:t/>
            </a:r>
          </a:p>
          <a:p xmlns:a="http://schemas.openxmlformats.org/drawingml/2006/main">
            <a:r>
              <a:t>SOURCE</a:t>
            </a:r>
          </a:p>
          <a:p xmlns:a="http://schemas.openxmlformats.org/drawingml/2006/main">
            <a:r>
              <a:t>part2/figures/04-roc.png; part2/ml-workflow-2.qmd §2</a:t>
            </a:r>
          </a:p>
          <a:p xmlns:a="http://schemas.openxmlformats.org/drawingml/2006/main">
            <a:r>
              <a:t/>
            </a:r>
          </a:p>
          <a:p xmlns:a="http://schemas.openxmlformats.org/drawingml/2006/main">
            <a:r>
              <a:t>SUGGESTED TIME</a:t>
            </a:r>
          </a:p>
          <a:p xmlns:a="http://schemas.openxmlformats.org/drawingml/2006/main">
            <a:r>
              <a:t>30–35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mlr3 stores the data and outcome in a classification task. Present is the positive class. The excerpt shows the task and loading the split file; the complete notebook block constructs split$train and split$test. Both models are evaluated on the same 90 patients.</a:t>
            </a:r>
          </a:p>
          <a:p xmlns:a="http://schemas.openxmlformats.org/drawingml/2006/main">
            <a:r>
              <a:t/>
            </a:r>
          </a:p>
          <a:p xmlns:a="http://schemas.openxmlformats.org/drawingml/2006/main">
            <a:r>
              <a:t>DEMONSTRATION / QUESTION</a:t>
            </a:r>
          </a:p>
          <a:p xmlns:a="http://schemas.openxmlformats.org/drawingml/2006/main">
            <a:r>
              <a:t>Run the full neural-task block in notebook section 3. Inspect length(split$train) and length(split$test).</a:t>
            </a:r>
          </a:p>
          <a:p xmlns:a="http://schemas.openxmlformats.org/drawingml/2006/main">
            <a:r>
              <a:t/>
            </a:r>
          </a:p>
          <a:p xmlns:a="http://schemas.openxmlformats.org/drawingml/2006/main">
            <a:r>
              <a:t>TRANSITION</a:t>
            </a:r>
          </a:p>
          <a:p xmlns:a="http://schemas.openxmlformats.org/drawingml/2006/main">
            <a:r>
              <a:t>Prepare numerical inputs for Keras.</a:t>
            </a:r>
          </a:p>
          <a:p xmlns:a="http://schemas.openxmlformats.org/drawingml/2006/main">
            <a:r>
              <a:t/>
            </a:r>
          </a:p>
          <a:p xmlns:a="http://schemas.openxmlformats.org/drawingml/2006/main">
            <a:r>
              <a:t>SOURCE</a:t>
            </a:r>
          </a:p>
          <a:p xmlns:a="http://schemas.openxmlformats.org/drawingml/2006/main">
            <a:r>
              <a:t>part2/ml-workflow-2.qmd §3; part2/R/03-neural-network.R: neural-task</a:t>
            </a:r>
          </a:p>
          <a:p xmlns:a="http://schemas.openxmlformats.org/drawingml/2006/main">
            <a:r>
              <a:t/>
            </a:r>
          </a:p>
          <a:p xmlns:a="http://schemas.openxmlformats.org/drawingml/2006/main">
            <a:r>
              <a:t>SUGGESTED TIME</a:t>
            </a:r>
          </a:p>
          <a:p xmlns:a="http://schemas.openxmlformats.org/drawingml/2006/main">
            <a:r>
              <a:t>35–43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Keras receives numbers. Six measurements stay numeric, three binary predictors become 0/1, and four other categories expand to 13 indicators: 22 inputs. An indicator marks whether a category applies. Scaling subtracts a mean and divides by a standard deviation; estimate these using the 144 fitting rows only. The other 36 training patients are used for validation.</a:t>
            </a:r>
          </a:p>
          <a:p xmlns:a="http://schemas.openxmlformats.org/drawingml/2006/main">
            <a:r>
              <a:t/>
            </a:r>
          </a:p>
          <a:p xmlns:a="http://schemas.openxmlformats.org/drawingml/2006/main">
            <a:r>
              <a:t>DEMONSTRATION / QUESTION</a:t>
            </a:r>
          </a:p>
          <a:p xmlns:a="http://schemas.openxmlformats.org/drawingml/2006/main">
            <a:r>
              <a:t>Run the complete neural-inputs block, then ncol(x) and table(y). Read the plain-language comments together.</a:t>
            </a:r>
          </a:p>
          <a:p xmlns:a="http://schemas.openxmlformats.org/drawingml/2006/main">
            <a:r>
              <a:t/>
            </a:r>
          </a:p>
          <a:p xmlns:a="http://schemas.openxmlformats.org/drawingml/2006/main">
            <a:r>
              <a:t>TRANSITION</a:t>
            </a:r>
          </a:p>
          <a:p xmlns:a="http://schemas.openxmlformats.org/drawingml/2006/main">
            <a:r>
              <a:t>See how the network combines these inputs.</a:t>
            </a:r>
          </a:p>
          <a:p xmlns:a="http://schemas.openxmlformats.org/drawingml/2006/main">
            <a:r>
              <a:t/>
            </a:r>
          </a:p>
          <a:p xmlns:a="http://schemas.openxmlformats.org/drawingml/2006/main">
            <a:r>
              <a:t>SOURCE</a:t>
            </a:r>
          </a:p>
          <a:p xmlns:a="http://schemas.openxmlformats.org/drawingml/2006/main">
            <a:r>
              <a:t>part2/ml-workflow-2.qmd §4; part2/R/03-neural-network.R: neural-inputs; part2/data/README.md</a:t>
            </a:r>
          </a:p>
          <a:p xmlns:a="http://schemas.openxmlformats.org/drawingml/2006/main">
            <a:r>
              <a:t/>
            </a:r>
          </a:p>
          <a:p xmlns:a="http://schemas.openxmlformats.org/drawingml/2006/main">
            <a:r>
              <a:t>SUGGESTED TIME</a:t>
            </a:r>
          </a:p>
          <a:p xmlns:a="http://schemas.openxmlformats.org/drawingml/2006/main">
            <a:r>
              <a:t>43–55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A neural network learns weighted combinations of the numerical inputs. Hidden layers lie between the inputs and output. The final sigmoid output is a probability between 0 and 1.</a:t>
            </a:r>
          </a:p>
          <a:p xmlns:a="http://schemas.openxmlformats.org/drawingml/2006/main">
            <a:r>
              <a:t/>
            </a:r>
          </a:p>
          <a:p xmlns:a="http://schemas.openxmlformats.org/drawingml/2006/main">
            <a:r>
              <a:t>DEMONSTRATION / QUESTION</a:t>
            </a:r>
          </a:p>
          <a:p xmlns:a="http://schemas.openxmlformats.org/drawingml/2006/main">
            <a:r>
              <a:t>Trace measurements through the layers to the output. Ask what the output means for one patient.</a:t>
            </a:r>
          </a:p>
          <a:p xmlns:a="http://schemas.openxmlformats.org/drawingml/2006/main">
            <a:r>
              <a:t/>
            </a:r>
          </a:p>
          <a:p xmlns:a="http://schemas.openxmlformats.org/drawingml/2006/main">
            <a:r>
              <a:t>TRANSITION</a:t>
            </a:r>
          </a:p>
          <a:p xmlns:a="http://schemas.openxmlformats.org/drawingml/2006/main">
            <a:r>
              <a:t>Count the inputs and units in the network we will build.</a:t>
            </a:r>
          </a:p>
          <a:p xmlns:a="http://schemas.openxmlformats.org/drawingml/2006/main">
            <a:r>
              <a:t/>
            </a:r>
          </a:p>
          <a:p xmlns:a="http://schemas.openxmlformats.org/drawingml/2006/main">
            <a:r>
              <a:t>SOURCE</a:t>
            </a:r>
          </a:p>
          <a:p xmlns:a="http://schemas.openxmlformats.org/drawingml/2006/main">
            <a:r>
              <a:t>part2/ml-workflow-2.qmd §5; part2/R/03-neural-network.R: neural-build</a:t>
            </a:r>
          </a:p>
          <a:p xmlns:a="http://schemas.openxmlformats.org/drawingml/2006/main">
            <a:r>
              <a:t/>
            </a:r>
          </a:p>
          <a:p xmlns:a="http://schemas.openxmlformats.org/drawingml/2006/main">
            <a:r>
              <a:t>SUGGESTED TIME</a:t>
            </a:r>
          </a:p>
          <a:p xmlns:a="http://schemas.openxmlformats.org/drawingml/2006/main">
            <a:r>
              <a:t>55–60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The network uses hidden layers of 64 and 32 units. ReLU sets negative signals to zero and retains positive signals. Dropout temporarily switches off units during fitting to help limit overfitting. Keep the exact architecture in code; students need to understand the role of each layer. Encoding and scaling are workshop reconstruction choices.</a:t>
            </a:r>
          </a:p>
          <a:p xmlns:a="http://schemas.openxmlformats.org/drawingml/2006/main">
            <a:r>
              <a:t/>
            </a:r>
          </a:p>
          <a:p xmlns:a="http://schemas.openxmlformats.org/drawingml/2006/main">
            <a:r>
              <a:t>DEMONSTRATION / QUESTION</a:t>
            </a:r>
          </a:p>
          <a:p xmlns:a="http://schemas.openxmlformats.org/drawingml/2006/main">
            <a:r>
              <a:t>Identify the input width and the single output in the table before running the Keras definition.</a:t>
            </a:r>
          </a:p>
          <a:p xmlns:a="http://schemas.openxmlformats.org/drawingml/2006/main">
            <a:r>
              <a:t/>
            </a:r>
          </a:p>
          <a:p xmlns:a="http://schemas.openxmlformats.org/drawingml/2006/main">
            <a:r>
              <a:t>TRANSITION</a:t>
            </a:r>
          </a:p>
          <a:p xmlns:a="http://schemas.openxmlformats.org/drawingml/2006/main">
            <a:r>
              <a:t>Define this network in R.</a:t>
            </a:r>
          </a:p>
          <a:p xmlns:a="http://schemas.openxmlformats.org/drawingml/2006/main">
            <a:r>
              <a:t/>
            </a:r>
          </a:p>
          <a:p xmlns:a="http://schemas.openxmlformats.org/drawingml/2006/main">
            <a:r>
              <a:t>SOURCE</a:t>
            </a:r>
          </a:p>
          <a:p xmlns:a="http://schemas.openxmlformats.org/drawingml/2006/main">
            <a:r>
              <a:t>part2/ml-workflow-2.qmd §§4–5; part2/R/03-neural-network.R</a:t>
            </a:r>
          </a:p>
          <a:p xmlns:a="http://schemas.openxmlformats.org/drawingml/2006/main">
            <a:r>
              <a:t/>
            </a:r>
          </a:p>
          <a:p xmlns:a="http://schemas.openxmlformats.org/drawingml/2006/main">
            <a:r>
              <a:t>SUGGESTED TIME</a:t>
            </a:r>
          </a:p>
          <a:p xmlns:a="http://schemas.openxmlformats.org/drawingml/2006/main">
            <a:r>
              <a:t>60–64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Keras is used directly to build and train the network; it is not being fitted through an mlr3 learner. The Keras R package and a working Python backend must be ready before class. A seed fixes the random starting point but does not guarantee identical results across environments.</a:t>
            </a:r>
          </a:p>
          <a:p xmlns:a="http://schemas.openxmlformats.org/drawingml/2006/main">
            <a:r>
              <a:t/>
            </a:r>
          </a:p>
          <a:p xmlns:a="http://schemas.openxmlformats.org/drawingml/2006/main">
            <a:r>
              <a:t>DEMONSTRATION / QUESTION</a:t>
            </a:r>
          </a:p>
          <a:p xmlns:a="http://schemas.openxmlformats.org/drawingml/2006/main">
            <a:r>
              <a:t>Run the network definition in the neural-build block, stopping before compile(). Locate the hidden layers and output activation.</a:t>
            </a:r>
          </a:p>
          <a:p xmlns:a="http://schemas.openxmlformats.org/drawingml/2006/main">
            <a:r>
              <a:t/>
            </a:r>
          </a:p>
          <a:p xmlns:a="http://schemas.openxmlformats.org/drawingml/2006/main">
            <a:r>
              <a:t>TRANSITION</a:t>
            </a:r>
          </a:p>
          <a:p xmlns:a="http://schemas.openxmlformats.org/drawingml/2006/main">
            <a:r>
              <a:t>Choose how the network learns.</a:t>
            </a:r>
          </a:p>
          <a:p xmlns:a="http://schemas.openxmlformats.org/drawingml/2006/main">
            <a:r>
              <a:t/>
            </a:r>
          </a:p>
          <a:p xmlns:a="http://schemas.openxmlformats.org/drawingml/2006/main">
            <a:r>
              <a:t>SOURCE</a:t>
            </a:r>
          </a:p>
          <a:p xmlns:a="http://schemas.openxmlformats.org/drawingml/2006/main">
            <a:r>
              <a:t>part2/ml-workflow-2.qmd §5; part2/R/03-neural-network.R: neural-build; part2/README.md</a:t>
            </a:r>
          </a:p>
          <a:p xmlns:a="http://schemas.openxmlformats.org/drawingml/2006/main">
            <a:r>
              <a:t/>
            </a:r>
          </a:p>
          <a:p xmlns:a="http://schemas.openxmlformats.org/drawingml/2006/main">
            <a:r>
              <a:t>SUGGESTED TIME</a:t>
            </a:r>
          </a:p>
          <a:p xmlns:a="http://schemas.openxmlformats.org/drawingml/2006/main">
            <a:r>
              <a:t>64–70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Adam is the optimiser: the method for updating weights. The learning rate controls update size. Binary cross-entropy penalises wrong probabilities; accuracy reports the share of correct class predictions. Explain roles rather than listing many settings.</a:t>
            </a:r>
          </a:p>
          <a:p xmlns:a="http://schemas.openxmlformats.org/drawingml/2006/main">
            <a:r>
              <a:t/>
            </a:r>
          </a:p>
          <a:p xmlns:a="http://schemas.openxmlformats.org/drawingml/2006/main">
            <a:r>
              <a:t>DEMONSTRATION / QUESTION</a:t>
            </a:r>
          </a:p>
          <a:p xmlns:a="http://schemas.openxmlformats.org/drawingml/2006/main">
            <a:r>
              <a:t>Run compile(). Ask which argument specifies the error measure.</a:t>
            </a:r>
          </a:p>
          <a:p xmlns:a="http://schemas.openxmlformats.org/drawingml/2006/main">
            <a:r>
              <a:t/>
            </a:r>
          </a:p>
          <a:p xmlns:a="http://schemas.openxmlformats.org/drawingml/2006/main">
            <a:r>
              <a:t>TRANSITION</a:t>
            </a:r>
          </a:p>
          <a:p xmlns:a="http://schemas.openxmlformats.org/drawingml/2006/main">
            <a:r>
              <a:t>Fit the network and monitor validation loss.</a:t>
            </a:r>
          </a:p>
          <a:p xmlns:a="http://schemas.openxmlformats.org/drawingml/2006/main">
            <a:r>
              <a:t/>
            </a:r>
          </a:p>
          <a:p xmlns:a="http://schemas.openxmlformats.org/drawingml/2006/main">
            <a:r>
              <a:t>SOURCE</a:t>
            </a:r>
          </a:p>
          <a:p xmlns:a="http://schemas.openxmlformats.org/drawingml/2006/main">
            <a:r>
              <a:t>part2/ml-workflow-2.qmd §5; part2/R/03-neural-network.R: neural-build</a:t>
            </a:r>
          </a:p>
          <a:p xmlns:a="http://schemas.openxmlformats.org/drawingml/2006/main">
            <a:r>
              <a:t/>
            </a:r>
          </a:p>
          <a:p xmlns:a="http://schemas.openxmlformats.org/drawingml/2006/main">
            <a:r>
              <a:t>SUGGESTED TIME</a:t>
            </a:r>
          </a:p>
          <a:p xmlns:a="http://schemas.openxmlformats.org/drawingml/2006/main">
            <a:r>
              <a:t>70–75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An epoch is one pass through the fitting data. Batches group 32 rows for weight updates. Validation loss uses the final 20% of supplied training rows, excluded from fitting updates. Early stopping waits 10 epochs without improvement and restores the best validation weights. Training is now a main live activity.</a:t>
            </a:r>
          </a:p>
          <a:p xmlns:a="http://schemas.openxmlformats.org/drawingml/2006/main">
            <a:r>
              <a:t/>
            </a:r>
          </a:p>
          <a:p xmlns:a="http://schemas.openxmlformats.org/drawingml/2006/main">
            <a:r>
              <a:t>DEMONSTRATION / QUESTION</a:t>
            </a:r>
          </a:p>
          <a:p xmlns:a="http://schemas.openxmlformats.org/drawingml/2006/main">
            <a:r>
              <a:t>Run the fit() block. Let students watch the reported loss and validation loss. If their backend is unavailable, use the clearly labelled saved curve and results while others complete fitting.</a:t>
            </a:r>
          </a:p>
          <a:p xmlns:a="http://schemas.openxmlformats.org/drawingml/2006/main">
            <a:r>
              <a:t/>
            </a:r>
          </a:p>
          <a:p xmlns:a="http://schemas.openxmlformats.org/drawingml/2006/main">
            <a:r>
              <a:t>TRANSITION</a:t>
            </a:r>
          </a:p>
          <a:p xmlns:a="http://schemas.openxmlformats.org/drawingml/2006/main">
            <a:r>
              <a:t>Inspect the history from the completed run.</a:t>
            </a:r>
          </a:p>
          <a:p xmlns:a="http://schemas.openxmlformats.org/drawingml/2006/main">
            <a:r>
              <a:t/>
            </a:r>
          </a:p>
          <a:p xmlns:a="http://schemas.openxmlformats.org/drawingml/2006/main">
            <a:r>
              <a:t>SOURCE</a:t>
            </a:r>
          </a:p>
          <a:p xmlns:a="http://schemas.openxmlformats.org/drawingml/2006/main">
            <a:r>
              <a:t>part2/ml-workflow-2.qmd §6; part2/R/03-neural-network.R: neural-fit; https://keras.io/guides/training_with_built_in_methods/</a:t>
            </a:r>
          </a:p>
          <a:p xmlns:a="http://schemas.openxmlformats.org/drawingml/2006/main">
            <a:r>
              <a:t/>
            </a:r>
          </a:p>
          <a:p xmlns:a="http://schemas.openxmlformats.org/drawingml/2006/main">
            <a:r>
              <a:t>SUGGESTED TIME</a:t>
            </a:r>
          </a:p>
          <a:p xmlns:a="http://schemas.openxmlformats.org/drawingml/2006/main">
            <a:r>
              <a:t>75–88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Plot your own training history with plot(training). The figure on this slide is the saved run, which stopped after 27 epochs. Lower loss means smaller prediction error. Falling training loss alongside rising validation loss suggests overfitting. Your run may differ.</a:t>
            </a:r>
          </a:p>
          <a:p xmlns:a="http://schemas.openxmlformats.org/drawingml/2006/main">
            <a:r>
              <a:t/>
            </a:r>
          </a:p>
          <a:p xmlns:a="http://schemas.openxmlformats.org/drawingml/2006/main">
            <a:r>
              <a:t>DEMONSTRATION / QUESTION</a:t>
            </a:r>
          </a:p>
          <a:p xmlns:a="http://schemas.openxmlformats.org/drawingml/2006/main">
            <a:r>
              <a:t>Run plot(training). Ask why validation patients are needed as well as test patients.</a:t>
            </a:r>
          </a:p>
          <a:p xmlns:a="http://schemas.openxmlformats.org/drawingml/2006/main">
            <a:r>
              <a:t/>
            </a:r>
          </a:p>
          <a:p xmlns:a="http://schemas.openxmlformats.org/drawingml/2006/main">
            <a:r>
              <a:t>TRANSITION</a:t>
            </a:r>
          </a:p>
          <a:p xmlns:a="http://schemas.openxmlformats.org/drawingml/2006/main">
            <a:r>
              <a:t>Predict the untouched test patients and evaluate with mlr3.</a:t>
            </a:r>
          </a:p>
          <a:p xmlns:a="http://schemas.openxmlformats.org/drawingml/2006/main">
            <a:r>
              <a:t/>
            </a:r>
          </a:p>
          <a:p xmlns:a="http://schemas.openxmlformats.org/drawingml/2006/main">
            <a:r>
              <a:t>SOURCE</a:t>
            </a:r>
          </a:p>
          <a:p xmlns:a="http://schemas.openxmlformats.org/drawingml/2006/main">
            <a:r>
              <a:t>part2/ml-workflow-2.qmd §6; part2/figures/05-neural-loss.png; part2/outputs/neural-loss.csv</a:t>
            </a:r>
          </a:p>
          <a:p xmlns:a="http://schemas.openxmlformats.org/drawingml/2006/main">
            <a:r>
              <a:t/>
            </a:r>
          </a:p>
          <a:p xmlns:a="http://schemas.openxmlformats.org/drawingml/2006/main">
            <a:r>
              <a:t>SUGGESTED TIME</a:t>
            </a:r>
          </a:p>
          <a:p xmlns:a="http://schemas.openxmlformats.org/drawingml/2006/main">
            <a:r>
              <a:t>88–95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The network returns probabilities; 0.5 is the example cut-off. PredictionClassif stores row numbers, the true labels, predicted classes and class probabilities. Supplying the true labels for the test rows avoids including the full dataset. Accuracy, sensitivity and specificity use the same definitions as the forest.</a:t>
            </a:r>
          </a:p>
          <a:p xmlns:a="http://schemas.openxmlformats.org/drawingml/2006/main">
            <a:r>
              <a:t/>
            </a:r>
          </a:p>
          <a:p xmlns:a="http://schemas.openxmlformats.org/drawingml/2006/main">
            <a:r>
              <a:t>DEMONSTRATION / QUESTION</a:t>
            </a:r>
          </a:p>
          <a:p xmlns:a="http://schemas.openxmlformats.org/drawingml/2006/main">
            <a:r>
              <a:t>Run neural-predict in notebook section 7. Explain one cell in network_pred$confusion and read the three scores. The script keeps results in R; the later neural-save section replaces saved files only if explicitly run.</a:t>
            </a:r>
          </a:p>
          <a:p xmlns:a="http://schemas.openxmlformats.org/drawingml/2006/main">
            <a:r>
              <a:t/>
            </a:r>
          </a:p>
          <a:p xmlns:a="http://schemas.openxmlformats.org/drawingml/2006/main">
            <a:r>
              <a:t>TRANSITION</a:t>
            </a:r>
          </a:p>
          <a:p xmlns:a="http://schemas.openxmlformats.org/drawingml/2006/main">
            <a:r>
              <a:t>Compare your result with the clearly labelled saved reference.</a:t>
            </a:r>
          </a:p>
          <a:p xmlns:a="http://schemas.openxmlformats.org/drawingml/2006/main">
            <a:r>
              <a:t/>
            </a:r>
          </a:p>
          <a:p xmlns:a="http://schemas.openxmlformats.org/drawingml/2006/main">
            <a:r>
              <a:t>SOURCE</a:t>
            </a:r>
          </a:p>
          <a:p xmlns:a="http://schemas.openxmlformats.org/drawingml/2006/main">
            <a:r>
              <a:t>part2/ml-workflow-2.qmd §7; part2/R/03-neural-network.R: neural-predict; https://mlr3.mlr-org.com/reference/PredictionClassif.html</a:t>
            </a:r>
          </a:p>
          <a:p xmlns:a="http://schemas.openxmlformats.org/drawingml/2006/main">
            <a:r>
              <a:t/>
            </a:r>
          </a:p>
          <a:p xmlns:a="http://schemas.openxmlformats.org/drawingml/2006/main">
            <a:r>
              <a:t>SUGGESTED TIME</a:t>
            </a:r>
          </a:p>
          <a:p xmlns:a="http://schemas.openxmlformats.org/drawingml/2006/main">
            <a:r>
              <a:t>95–105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Both saved runs use the same 90 test patients. The forest has 75 correct, 7 missed cases and 8 false alarms; the network has 77 correct, 8 missed cases and 5 false alarms. Higher accuracy does not mean better sensitivity. A difference of two correct predictions in one split does not establish that one method is generally better. Distinguish saved scores from each student's new run.</a:t>
            </a:r>
          </a:p>
          <a:p xmlns:a="http://schemas.openxmlformats.org/drawingml/2006/main">
            <a:r>
              <a:t/>
            </a:r>
          </a:p>
          <a:p xmlns:a="http://schemas.openxmlformats.org/drawingml/2006/main">
            <a:r>
              <a:t>DEMONSTRATION / QUESTION</a:t>
            </a:r>
          </a:p>
          <a:p xmlns:a="http://schemas.openxmlformats.org/drawingml/2006/main">
            <a:r>
              <a:t>Ask which model detects more cases and which raises fewer false alarms. Discuss whether one accuracy score settles the choice.</a:t>
            </a:r>
          </a:p>
          <a:p xmlns:a="http://schemas.openxmlformats.org/drawingml/2006/main">
            <a:r>
              <a:t/>
            </a:r>
          </a:p>
          <a:p xmlns:a="http://schemas.openxmlformats.org/drawingml/2006/main">
            <a:r>
              <a:t>TRANSITION</a:t>
            </a:r>
          </a:p>
          <a:p xmlns:a="http://schemas.openxmlformats.org/drawingml/2006/main">
            <a:r>
              <a:t>Summarise the learning sequence and invite questions.</a:t>
            </a:r>
          </a:p>
          <a:p xmlns:a="http://schemas.openxmlformats.org/drawingml/2006/main">
            <a:r>
              <a:t/>
            </a:r>
          </a:p>
          <a:p xmlns:a="http://schemas.openxmlformats.org/drawingml/2006/main">
            <a:r>
              <a:t>SOURCE</a:t>
            </a:r>
          </a:p>
          <a:p xmlns:a="http://schemas.openxmlformats.org/drawingml/2006/main">
            <a:r>
              <a:t>part2/outputs/confusion.csv; part2/outputs/holdout-measures.csv; part2/outputs/neural-predictions.csv; part2/ml-workflow-2.qmd §7</a:t>
            </a:r>
          </a:p>
          <a:p xmlns:a="http://schemas.openxmlformats.org/drawingml/2006/main">
            <a:r>
              <a:t/>
            </a:r>
          </a:p>
          <a:p xmlns:a="http://schemas.openxmlformats.org/drawingml/2006/main">
            <a:r>
              <a:t>SUGGESTED TIME</a:t>
            </a:r>
          </a:p>
          <a:p xmlns:a="http://schemas.openxmlformats.org/drawingml/2006/main">
            <a:r>
              <a:t>105–115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The main sequence is saved forest interpretation, live neural-network fitting, then evaluation with mlr3. The forest is not retrained. The small dataset and one train/test split limit conclusions; no clinical validation or causal finding is established. All remaining slides are optional follow-up.</a:t>
            </a:r>
          </a:p>
          <a:p xmlns:a="http://schemas.openxmlformats.org/drawingml/2006/main">
            <a:r>
              <a:t/>
            </a:r>
          </a:p>
          <a:p xmlns:a="http://schemas.openxmlformats.org/drawingml/2006/main">
            <a:r>
              <a:t>DEMONSTRATION / QUESTION</a:t>
            </a:r>
          </a:p>
          <a:p xmlns:a="http://schemas.openxmlformats.org/drawingml/2006/main">
            <a:r>
              <a:t>Ask students to explain one lesson they can reuse in another prediction problem.</a:t>
            </a:r>
          </a:p>
          <a:p xmlns:a="http://schemas.openxmlformats.org/drawingml/2006/main">
            <a:r>
              <a:t/>
            </a:r>
          </a:p>
          <a:p xmlns:a="http://schemas.openxmlformats.org/drawingml/2006/main">
            <a:r>
              <a:t>TRANSITION</a:t>
            </a:r>
          </a:p>
          <a:p xmlns:a="http://schemas.openxmlformats.org/drawingml/2006/main">
            <a:r>
              <a:t>End the main session; use the appendix only for follow-up questions.</a:t>
            </a:r>
          </a:p>
          <a:p xmlns:a="http://schemas.openxmlformats.org/drawingml/2006/main">
            <a:r>
              <a:t/>
            </a:r>
          </a:p>
          <a:p xmlns:a="http://schemas.openxmlformats.org/drawingml/2006/main">
            <a:r>
              <a:t>SOURCE</a:t>
            </a:r>
          </a:p>
          <a:p xmlns:a="http://schemas.openxmlformats.org/drawingml/2006/main">
            <a:r>
              <a:t>part2/ml-workflow-2.qmd §§1–7; part2/README.md</a:t>
            </a:r>
          </a:p>
          <a:p xmlns:a="http://schemas.openxmlformats.org/drawingml/2006/main">
            <a:r>
              <a:t/>
            </a:r>
          </a:p>
          <a:p xmlns:a="http://schemas.openxmlformats.org/drawingml/2006/main">
            <a:r>
              <a:t>SUGGESTED TIME</a:t>
            </a:r>
          </a:p>
          <a:p xmlns:a="http://schemas.openxmlformats.org/drawingml/2006/main">
            <a:r>
              <a:t>115–120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Read the root question on the saved tree and trace one path. A tree recursively separates patients into groups that are more similar in outcome. A leaf is a terminal group. The proportions and row percentages describe this fitted sample. Fitted accuracy is not a new-patient performance estimate.</a:t>
            </a:r>
          </a:p>
          <a:p xmlns:a="http://schemas.openxmlformats.org/drawingml/2006/main">
            <a:r>
              <a:t/>
            </a:r>
          </a:p>
          <a:p xmlns:a="http://schemas.openxmlformats.org/drawingml/2006/main">
            <a:r>
              <a:t>DEMONSTRATION / QUESTION</a:t>
            </a:r>
          </a:p>
          <a:p xmlns:a="http://schemas.openxmlformats.org/drawingml/2006/main">
            <a:r>
              <a:t>Optional follow-up: run the cart expression in R/02-trees-and-evaluation.R. Trace one branch together, then let participants choose another.</a:t>
            </a:r>
          </a:p>
          <a:p xmlns:a="http://schemas.openxmlformats.org/drawingml/2006/main">
            <a:r>
              <a:t/>
            </a:r>
          </a:p>
          <a:p xmlns:a="http://schemas.openxmlformats.org/drawingml/2006/main">
            <a:r>
              <a:t>TRANSITION</a:t>
            </a:r>
          </a:p>
          <a:p xmlns:a="http://schemas.openxmlformats.org/drawingml/2006/main">
            <a:r>
              <a:t>Compare the extra flexibility of a deep tree with pruning.</a:t>
            </a:r>
          </a:p>
          <a:p xmlns:a="http://schemas.openxmlformats.org/drawingml/2006/main">
            <a:r>
              <a:t/>
            </a:r>
          </a:p>
          <a:p xmlns:a="http://schemas.openxmlformats.org/drawingml/2006/main">
            <a:r>
              <a:t>SOURCE</a:t>
            </a:r>
          </a:p>
          <a:p xmlns:a="http://schemas.openxmlformats.org/drawingml/2006/main">
            <a:r>
              <a:t>Part 2 follow-up materials; R/02-trees-and-evaluation.R, article-trees; figures/01-tree.png.</a:t>
            </a:r>
          </a:p>
          <a:p xmlns:a="http://schemas.openxmlformats.org/drawingml/2006/main">
            <a:r>
              <a:t/>
            </a:r>
          </a:p>
          <a:p xmlns:a="http://schemas.openxmlformats.org/drawingml/2006/main">
            <a:r>
              <a:t>SUGGESTED TIME</a:t>
            </a:r>
          </a:p>
          <a:p xmlns:a="http://schemas.openxmlformats.org/drawingml/2006/main">
            <a:r>
              <a:t>Optional follow-up; outside the two-hour main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The left illustration is newly rendered from the supplied deep-tree fitting expression using the prepared local data. It is a fitting illustration, not another evaluation result. The right figure is the supplied pruned tree. Small leaf labels in the deep overview are for structure only; inspect the full image or R plot during the demonstration. minsplit sets the minimum observations required to attempt a split.</a:t>
            </a:r>
          </a:p>
          <a:p xmlns:a="http://schemas.openxmlformats.org/drawingml/2006/main">
            <a:r>
              <a:t/>
            </a:r>
          </a:p>
          <a:p xmlns:a="http://schemas.openxmlformats.org/drawingml/2006/main">
            <a:r>
              <a:t>DEMONSTRATION / QUESTION</a:t>
            </a:r>
          </a:p>
          <a:p xmlns:a="http://schemas.openxmlformats.org/drawingml/2006/main">
            <a:r>
              <a:t>Optional follow-up: fit deep_cart and pruned_cart separately. Ask: which structure would be easier to explain?</a:t>
            </a:r>
          </a:p>
          <a:p xmlns:a="http://schemas.openxmlformats.org/drawingml/2006/main">
            <a:r>
              <a:t/>
            </a:r>
          </a:p>
          <a:p xmlns:a="http://schemas.openxmlformats.org/drawingml/2006/main">
            <a:r>
              <a:t>TRANSITION</a:t>
            </a:r>
          </a:p>
          <a:p xmlns:a="http://schemas.openxmlformats.org/drawingml/2006/main">
            <a:r>
              <a:t>The complexity plot helps explain why branches may be removed.</a:t>
            </a:r>
          </a:p>
          <a:p xmlns:a="http://schemas.openxmlformats.org/drawingml/2006/main">
            <a:r>
              <a:t/>
            </a:r>
          </a:p>
          <a:p xmlns:a="http://schemas.openxmlformats.org/drawingml/2006/main">
            <a:r>
              <a:t>SOURCE</a:t>
            </a:r>
          </a:p>
          <a:p xmlns:a="http://schemas.openxmlformats.org/drawingml/2006/main">
            <a:r>
              <a:t>Part 2 follow-up materials; R/02-trees-and-evaluation.R; deep_cart and pruned_cart.</a:t>
            </a:r>
          </a:p>
          <a:p xmlns:a="http://schemas.openxmlformats.org/drawingml/2006/main">
            <a:r>
              <a:t/>
            </a:r>
          </a:p>
          <a:p xmlns:a="http://schemas.openxmlformats.org/drawingml/2006/main">
            <a:r>
              <a:t>SUGGESTED TIME</a:t>
            </a:r>
          </a:p>
          <a:p xmlns:a="http://schemas.openxmlformats.org/drawingml/2006/main">
            <a:r>
              <a:t>Optional follow-up; outside the two-hour main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Explain the relative cross-validation error and tree-size axes. Complexity parameter cp controls the tradeoff between fit and complexity. The fixed 0.031 is retained for replication, not claimed to be universally optimal or selected by our test set. The initial trees use all rows, so even their internal complexity assessment is not the held-out evaluation introduced later.</a:t>
            </a:r>
          </a:p>
          <a:p xmlns:a="http://schemas.openxmlformats.org/drawingml/2006/main">
            <a:r>
              <a:t/>
            </a:r>
          </a:p>
          <a:p xmlns:a="http://schemas.openxmlformats.org/drawingml/2006/main">
            <a:r>
              <a:t>DEMONSTRATION / QUESTION</a:t>
            </a:r>
          </a:p>
          <a:p xmlns:a="http://schemas.openxmlformats.org/drawingml/2006/main">
            <a:r>
              <a:t>Ask participants to locate cp in prune(). Discuss whether the smallest training error settles the question.</a:t>
            </a:r>
          </a:p>
          <a:p xmlns:a="http://schemas.openxmlformats.org/drawingml/2006/main">
            <a:r>
              <a:t/>
            </a:r>
          </a:p>
          <a:p xmlns:a="http://schemas.openxmlformats.org/drawingml/2006/main">
            <a:r>
              <a:t>TRANSITION</a:t>
            </a:r>
          </a:p>
          <a:p xmlns:a="http://schemas.openxmlformats.org/drawingml/2006/main">
            <a:r>
              <a:t>A neural network offers a different way to learn patterns.</a:t>
            </a:r>
          </a:p>
          <a:p xmlns:a="http://schemas.openxmlformats.org/drawingml/2006/main">
            <a:r>
              <a:t/>
            </a:r>
          </a:p>
          <a:p xmlns:a="http://schemas.openxmlformats.org/drawingml/2006/main">
            <a:r>
              <a:t>SOURCE</a:t>
            </a:r>
          </a:p>
          <a:p xmlns:a="http://schemas.openxmlformats.org/drawingml/2006/main">
            <a:r>
              <a:t>Part 2 follow-up materials; R/02-trees-and-evaluation.R; figures/02-complexity.png.</a:t>
            </a:r>
          </a:p>
          <a:p xmlns:a="http://schemas.openxmlformats.org/drawingml/2006/main">
            <a:r>
              <a:t/>
            </a:r>
          </a:p>
          <a:p xmlns:a="http://schemas.openxmlformats.org/drawingml/2006/main">
            <a:r>
              <a:t>SUGGESTED TIME</a:t>
            </a:r>
          </a:p>
          <a:p xmlns:a="http://schemas.openxmlformats.org/drawingml/2006/main">
            <a:r>
              <a:t>Optional follow-up; outside the two-hour main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Recall asks what fraction of actual positives we detect. Precision asks what fraction of predicted positives really have present disease. Read several points as thresholds change. Neither curve measures causal effects, calibration or clinical benefit. Avoid comparing precision across datasets without considering prevalence.</a:t>
            </a:r>
          </a:p>
          <a:p xmlns:a="http://schemas.openxmlformats.org/drawingml/2006/main">
            <a:r>
              <a:t/>
            </a:r>
          </a:p>
          <a:p xmlns:a="http://schemas.openxmlformats.org/drawingml/2006/main">
            <a:r>
              <a:t>DEMONSTRATION / QUESTION</a:t>
            </a:r>
          </a:p>
          <a:p xmlns:a="http://schemas.openxmlformats.org/drawingml/2006/main">
            <a:r>
              <a:t>Ask participants to restate precision in patient terms.</a:t>
            </a:r>
          </a:p>
          <a:p xmlns:a="http://schemas.openxmlformats.org/drawingml/2006/main">
            <a:r>
              <a:t/>
            </a:r>
          </a:p>
          <a:p xmlns:a="http://schemas.openxmlformats.org/drawingml/2006/main">
            <a:r>
              <a:t>TRANSITION</a:t>
            </a:r>
          </a:p>
          <a:p xmlns:a="http://schemas.openxmlformats.org/drawingml/2006/main">
            <a:r>
              <a:t>Choose an operating threshold with explicit error consequences.</a:t>
            </a:r>
          </a:p>
          <a:p xmlns:a="http://schemas.openxmlformats.org/drawingml/2006/main">
            <a:r>
              <a:t/>
            </a:r>
          </a:p>
          <a:p xmlns:a="http://schemas.openxmlformats.org/drawingml/2006/main">
            <a:r>
              <a:t>SOURCE</a:t>
            </a:r>
          </a:p>
          <a:p xmlns:a="http://schemas.openxmlformats.org/drawingml/2006/main">
            <a:r>
              <a:t>Part 2 follow-up materials; figures/04-prc.png; outputs/holdout-measures.csv.</a:t>
            </a:r>
          </a:p>
          <a:p xmlns:a="http://schemas.openxmlformats.org/drawingml/2006/main">
            <a:r>
              <a:t/>
            </a:r>
          </a:p>
          <a:p xmlns:a="http://schemas.openxmlformats.org/drawingml/2006/main">
            <a:r>
              <a:t>SUGGESTED TIME</a:t>
            </a:r>
          </a:p>
          <a:p xmlns:a="http://schemas.openxmlformats.org/drawingml/2006/main">
            <a:r>
              <a:t>Optional follow-up; outside the two-hour main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The saved plot shows classification error across thresholds, not separate sensitivity and specificity curves. Lowering the threshold labels more patients present, so sensitivity cannot decrease and specificity cannot increase on fixed scores. Error rate alone weighs the two mistakes equally. Use validation/training data and intended consequences to select a threshold, then assess it on untouched data. Exploring this test plot is educational; selecting from it would require new independent evaluation.</a:t>
            </a:r>
          </a:p>
          <a:p xmlns:a="http://schemas.openxmlformats.org/drawingml/2006/main">
            <a:r>
              <a:t/>
            </a:r>
          </a:p>
          <a:p xmlns:a="http://schemas.openxmlformats.org/drawingml/2006/main">
            <a:r>
              <a:t>DEMONSTRATION / QUESTION</a:t>
            </a:r>
          </a:p>
          <a:p xmlns:a="http://schemas.openxmlformats.org/drawingml/2006/main">
            <a:r>
              <a:t>Discuss a lower threshold without claiming an optimal value. Give participants time to explain the tradeoff.</a:t>
            </a:r>
          </a:p>
          <a:p xmlns:a="http://schemas.openxmlformats.org/drawingml/2006/main">
            <a:r>
              <a:t/>
            </a:r>
          </a:p>
          <a:p xmlns:a="http://schemas.openxmlformats.org/drawingml/2006/main">
            <a:r>
              <a:t>TRANSITION</a:t>
            </a:r>
          </a:p>
          <a:p xmlns:a="http://schemas.openxmlformats.org/drawingml/2006/main">
            <a:r>
              <a:t>Return to the complete workflow and its limits.</a:t>
            </a:r>
          </a:p>
          <a:p xmlns:a="http://schemas.openxmlformats.org/drawingml/2006/main">
            <a:r>
              <a:t/>
            </a:r>
          </a:p>
          <a:p xmlns:a="http://schemas.openxmlformats.org/drawingml/2006/main">
            <a:r>
              <a:t>SOURCE</a:t>
            </a:r>
          </a:p>
          <a:p xmlns:a="http://schemas.openxmlformats.org/drawingml/2006/main">
            <a:r>
              <a:t>Part 2 follow-up materials; figures/04-threshold.png; R/02-trees-and-evaluation.R.</a:t>
            </a:r>
          </a:p>
          <a:p xmlns:a="http://schemas.openxmlformats.org/drawingml/2006/main">
            <a:r>
              <a:t/>
            </a:r>
          </a:p>
          <a:p xmlns:a="http://schemas.openxmlformats.org/drawingml/2006/main">
            <a:r>
              <a:t>SUGGESTED TIME</a:t>
            </a:r>
          </a:p>
          <a:p xmlns:a="http://schemas.openxmlformats.org/drawingml/2006/main">
            <a:r>
              <a:t>Optional follow-up; outside the two-hour main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Resampling estimates variation across data partitions. The supplied extension uses a 100-tree forest. Bootstrap samples repeat some training patients; evaluation uses observations kept out according to the resampling design. Keep dependent patients, places or times together if the setting requires it.</a:t>
            </a:r>
          </a:p>
          <a:p xmlns:a="http://schemas.openxmlformats.org/drawingml/2006/main">
            <a:r>
              <a:t/>
            </a:r>
          </a:p>
          <a:p xmlns:a="http://schemas.openxmlformats.org/drawingml/2006/main">
            <a:r>
              <a:t>DEMONSTRATION / QUESTION</a:t>
            </a:r>
          </a:p>
          <a:p xmlns:a="http://schemas.openxmlformats.org/drawingml/2006/main">
            <a:r>
              <a:t>Optional: inspect the three resampling objects.</a:t>
            </a:r>
          </a:p>
          <a:p xmlns:a="http://schemas.openxmlformats.org/drawingml/2006/main">
            <a:r>
              <a:t/>
            </a:r>
          </a:p>
          <a:p xmlns:a="http://schemas.openxmlformats.org/drawingml/2006/main">
            <a:r>
              <a:t>TRANSITION</a:t>
            </a:r>
          </a:p>
          <a:p xmlns:a="http://schemas.openxmlformats.org/drawingml/2006/main">
            <a:r>
              <a:t>Tuning adds a selection step within training data.</a:t>
            </a:r>
          </a:p>
          <a:p xmlns:a="http://schemas.openxmlformats.org/drawingml/2006/main">
            <a:r>
              <a:t/>
            </a:r>
          </a:p>
          <a:p xmlns:a="http://schemas.openxmlformats.org/drawingml/2006/main">
            <a:r>
              <a:t>SOURCE</a:t>
            </a:r>
          </a:p>
          <a:p xmlns:a="http://schemas.openxmlformats.org/drawingml/2006/main">
            <a:r>
              <a:t>Part 2 follow-up materials; R/02-trees-and-evaluation.R, article-resampling; outputs/resampling-summary.csv and cv3.csv.</a:t>
            </a:r>
          </a:p>
          <a:p xmlns:a="http://schemas.openxmlformats.org/drawingml/2006/main">
            <a:r>
              <a:t/>
            </a:r>
          </a:p>
          <a:p xmlns:a="http://schemas.openxmlformats.org/drawingml/2006/main">
            <a:r>
              <a:t>SUGGESTED TIME</a:t>
            </a:r>
          </a:p>
          <a:p xmlns:a="http://schemas.openxmlformats.org/drawingml/2006/main">
            <a:r>
              <a:t>Optional follow-up; outside the two-hour main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Random search completed 500 configurations and Bayesian tuning 30, each with ten-fold inner CV. A smoke run is a small execution check, not the requested full analysis. The resolution-10 grid can reach 10,000 configurations. Full nested CV specifies 10 outer and 10 inner folds and 100 evaluations per inner search. The nested script uses outer folds for evaluation; in ordinary search modes the fixed test set remains outside selection.</a:t>
            </a:r>
          </a:p>
          <a:p xmlns:a="http://schemas.openxmlformats.org/drawingml/2006/main">
            <a:r>
              <a:t/>
            </a:r>
          </a:p>
          <a:p xmlns:a="http://schemas.openxmlformats.org/drawingml/2006/main">
            <a:r>
              <a:t>DEMONSTRATION / QUESTION</a:t>
            </a:r>
          </a:p>
          <a:p xmlns:a="http://schemas.openxmlformats.org/drawingml/2006/main">
            <a:r>
              <a:t>Optional: trace train_task and compare nested versus ordinary search branches.</a:t>
            </a:r>
          </a:p>
          <a:p xmlns:a="http://schemas.openxmlformats.org/drawingml/2006/main">
            <a:r>
              <a:t/>
            </a:r>
          </a:p>
          <a:p xmlns:a="http://schemas.openxmlformats.org/drawingml/2006/main">
            <a:r>
              <a:t>TRANSITION</a:t>
            </a:r>
          </a:p>
          <a:p xmlns:a="http://schemas.openxmlformats.org/drawingml/2006/main">
            <a:r>
              <a:t>Interpretation asks what a fitted model has learned.</a:t>
            </a:r>
          </a:p>
          <a:p xmlns:a="http://schemas.openxmlformats.org/drawingml/2006/main">
            <a:r>
              <a:t/>
            </a:r>
          </a:p>
          <a:p xmlns:a="http://schemas.openxmlformats.org/drawingml/2006/main">
            <a:r>
              <a:t>SOURCE</a:t>
            </a:r>
          </a:p>
          <a:p xmlns:a="http://schemas.openxmlformats.org/drawingml/2006/main">
            <a:r>
              <a:t>Part 2 follow-up materials; R/04-tuning.R; outputs/VALIDATION.md.</a:t>
            </a:r>
          </a:p>
          <a:p xmlns:a="http://schemas.openxmlformats.org/drawingml/2006/main">
            <a:r>
              <a:t/>
            </a:r>
          </a:p>
          <a:p xmlns:a="http://schemas.openxmlformats.org/drawingml/2006/main">
            <a:r>
              <a:t>SUGGESTED TIME</a:t>
            </a:r>
          </a:p>
          <a:p xmlns:a="http://schemas.openxmlformats.org/drawingml/2006/main">
            <a:r>
              <a:t>Optional follow-up; outside the two-hour main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Predictive associations do not establish intervention effects. Correlated features may share or mask importance. Effects can extrapolate into implausible combinations and local explanations depend on method and reference choice. No executable iml example appears in the supplied paper record, and this workshop section remains conceptual.</a:t>
            </a:r>
          </a:p>
          <a:p xmlns:a="http://schemas.openxmlformats.org/drawingml/2006/main">
            <a:r>
              <a:t/>
            </a:r>
          </a:p>
          <a:p xmlns:a="http://schemas.openxmlformats.org/drawingml/2006/main">
            <a:r>
              <a:t>DEMONSTRATION / QUESTION</a:t>
            </a:r>
          </a:p>
          <a:p xmlns:a="http://schemas.openxmlformats.org/drawingml/2006/main">
            <a:r>
              <a:t>Optional: ask what an explanation can and cannot tell us about causation.</a:t>
            </a:r>
          </a:p>
          <a:p xmlns:a="http://schemas.openxmlformats.org/drawingml/2006/main">
            <a:r>
              <a:t/>
            </a:r>
          </a:p>
          <a:p xmlns:a="http://schemas.openxmlformats.org/drawingml/2006/main">
            <a:r>
              <a:t>TRANSITION</a:t>
            </a:r>
          </a:p>
          <a:p xmlns:a="http://schemas.openxmlformats.org/drawingml/2006/main">
            <a:r>
              <a:t>Generated observations need their own interpretation.</a:t>
            </a:r>
          </a:p>
          <a:p xmlns:a="http://schemas.openxmlformats.org/drawingml/2006/main">
            <a:r>
              <a:t/>
            </a:r>
          </a:p>
          <a:p xmlns:a="http://schemas.openxmlformats.org/drawingml/2006/main">
            <a:r>
              <a:t>SOURCE</a:t>
            </a:r>
          </a:p>
          <a:p xmlns:a="http://schemas.openxmlformats.org/drawingml/2006/main">
            <a:r>
              <a:t>Part 2 follow-up materials; replication-notes.md, article §5 status.</a:t>
            </a:r>
          </a:p>
          <a:p xmlns:a="http://schemas.openxmlformats.org/drawingml/2006/main">
            <a:r>
              <a:t/>
            </a:r>
          </a:p>
          <a:p xmlns:a="http://schemas.openxmlformats.org/drawingml/2006/main">
            <a:r>
              <a:t>SUGGESTED TIME</a:t>
            </a:r>
          </a:p>
          <a:p xmlns:a="http://schemas.openxmlformats.org/drawingml/2006/main">
            <a:r>
              <a:t>Optional follow-up; outside the two-hour main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The synthetic-data script learns a generator, estimates the data distribution, then samples 270 artificial records. These do not add observed patients. Keep them separate from the main model comparison.</a:t>
            </a:r>
          </a:p>
          <a:p xmlns:a="http://schemas.openxmlformats.org/drawingml/2006/main">
            <a:r>
              <a:t/>
            </a:r>
          </a:p>
          <a:p xmlns:a="http://schemas.openxmlformats.org/drawingml/2006/main">
            <a:r>
              <a:t>DEMONSTRATION / QUESTION</a:t>
            </a:r>
          </a:p>
          <a:p xmlns:a="http://schemas.openxmlformats.org/drawingml/2006/main">
            <a:r>
              <a:t>Optional: run R/05-synthetic-data.R and compare summary(heart$age) with summary(synthetic_heart$age), plus outcome proportions.</a:t>
            </a:r>
          </a:p>
          <a:p xmlns:a="http://schemas.openxmlformats.org/drawingml/2006/main">
            <a:r>
              <a:t/>
            </a:r>
          </a:p>
          <a:p xmlns:a="http://schemas.openxmlformats.org/drawingml/2006/main">
            <a:r>
              <a:t>TRANSITION</a:t>
            </a:r>
          </a:p>
          <a:p xmlns:a="http://schemas.openxmlformats.org/drawingml/2006/main">
            <a:r>
              <a:t>Return to sources or finish.</a:t>
            </a:r>
          </a:p>
          <a:p xmlns:a="http://schemas.openxmlformats.org/drawingml/2006/main">
            <a:r>
              <a:t/>
            </a:r>
          </a:p>
          <a:p xmlns:a="http://schemas.openxmlformats.org/drawingml/2006/main">
            <a:r>
              <a:t>SOURCE</a:t>
            </a:r>
          </a:p>
          <a:p xmlns:a="http://schemas.openxmlformats.org/drawingml/2006/main">
            <a:r>
              <a:t>part2/R/05-synthetic-data.R; part2/ml-workflow-2.qmd: Where to go next</a:t>
            </a:r>
          </a:p>
          <a:p xmlns:a="http://schemas.openxmlformats.org/drawingml/2006/main">
            <a:r>
              <a:t/>
            </a:r>
          </a:p>
          <a:p xmlns:a="http://schemas.openxmlformats.org/drawingml/2006/main">
            <a:r>
              <a:t>SUGGESTED TIME</a:t>
            </a:r>
          </a:p>
          <a:p xmlns:a="http://schemas.openxmlformats.org/drawingml/2006/main">
            <a:r>
              <a:t>Optional follow-up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a:t>
            </a:r>
          </a:p>
          <a:p xmlns:a="http://schemas.openxmlformats.org/drawingml/2006/main">
            <a:r>
              <a:t>Article settings and locally observed results are different evidence categories. Source links: https://arxiv.org/html/2602.16352v1 and https://www.openml.org/d/53. Reproducibility files save split membership, seeds and session information. The local encoding and scaling are explicit reconstructions. Main performance numbers are from supplied CSV files. No new full training, tuning or external validation was performed to make this deck.</a:t>
            </a:r>
          </a:p>
          <a:p xmlns:a="http://schemas.openxmlformats.org/drawingml/2006/main">
            <a:r>
              <a:t/>
            </a:r>
          </a:p>
          <a:p xmlns:a="http://schemas.openxmlformats.org/drawingml/2006/main">
            <a:r>
              <a:t>DEMONSTRATION / QUESTION</a:t>
            </a:r>
          </a:p>
          <a:p xmlns:a="http://schemas.openxmlformats.org/drawingml/2006/main">
            <a:r>
              <a:t>Point to SOURCE-AND-TEACHING-NOTES.md for exact file mapping and gaps.</a:t>
            </a:r>
          </a:p>
          <a:p xmlns:a="http://schemas.openxmlformats.org/drawingml/2006/main">
            <a:r>
              <a:t/>
            </a:r>
          </a:p>
          <a:p xmlns:a="http://schemas.openxmlformats.org/drawingml/2006/main">
            <a:r>
              <a:t>TRANSITION</a:t>
            </a:r>
          </a:p>
          <a:p xmlns:a="http://schemas.openxmlformats.org/drawingml/2006/main">
            <a:r>
              <a:t>End or return to participant questions.</a:t>
            </a:r>
          </a:p>
          <a:p xmlns:a="http://schemas.openxmlformats.org/drawingml/2006/main">
            <a:r>
              <a:t/>
            </a:r>
          </a:p>
          <a:p xmlns:a="http://schemas.openxmlformats.org/drawingml/2006/main">
            <a:r>
              <a:t>SOURCE</a:t>
            </a:r>
          </a:p>
          <a:p xmlns:a="http://schemas.openxmlformats.org/drawingml/2006/main">
            <a:r>
              <a:t>part2/ml-workflow-2.qmd; data/README.md; references/replication-notes.md; outputs/VALIDATION.md.</a:t>
            </a:r>
          </a:p>
          <a:p xmlns:a="http://schemas.openxmlformats.org/drawingml/2006/main">
            <a:r>
              <a:t/>
            </a:r>
          </a:p>
          <a:p xmlns:a="http://schemas.openxmlformats.org/drawingml/2006/main">
            <a:r>
              <a:t>SUGGESTED TIME</a:t>
            </a:r>
          </a:p>
          <a:p xmlns:a="http://schemas.openxmlformats.org/drawingml/2006/main">
            <a:r>
              <a:t>Optional follow-up; outside the two-hour main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d79077741042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ae10cab7858442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2f21a14c145428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500ce25294b4dc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3466b562d9945a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96c62fe428442e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F51708-FEB8-42EC-AA9B-28F2427BB22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EADDED4-CC8A-4295-A66F-AFA68CF2B71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13B4356-FFF0-45FD-9B9B-F2A6B296ACD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ADC22F-9EF4-417D-8105-2CE7FAD7CD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6A50CE0-8BD6-4186-B39F-323918CA91F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FE31DB3-5F5F-49A4-88FF-AEDCCBF7FC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03E3DD-8EEC-4C7E-B2A2-FB4AB7DAE5A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B28E68E-B8FD-44EC-9717-E73EF9DBB60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4811A8-8443-474F-9AAF-BBFD441672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1103B9-F68B-4C6D-93BF-BFD9F5587F5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1f789ca85e40cc" /><Relationship Type="http://schemas.openxmlformats.org/officeDocument/2006/relationships/slideLayout" Target="/ppt/slideLayouts/slideLayout1.xml" Id="R2ad1182cbb82461a" /><Relationship Type="http://schemas.openxmlformats.org/officeDocument/2006/relationships/slideLayout" Target="/ppt/slideLayouts/slideLayout2.xml" Id="R5e535577b3124a92" /><Relationship Type="http://schemas.openxmlformats.org/officeDocument/2006/relationships/slideLayout" Target="/ppt/slideLayouts/slideLayout3.xml" Id="Rc17e678b508842df" /><Relationship Type="http://schemas.openxmlformats.org/officeDocument/2006/relationships/slideLayout" Target="/ppt/slideLayouts/slideLayout4.xml" Id="Rae1a9d5f85a74468" /><Relationship Type="http://schemas.openxmlformats.org/officeDocument/2006/relationships/slideLayout" Target="/ppt/slideLayouts/slideLayout5.xml" Id="R3f8f3ecfeb4c46e1" /><Relationship Type="http://schemas.openxmlformats.org/officeDocument/2006/relationships/slideLayout" Target="/ppt/slideLayouts/slideLayout6.xml" Id="R6431ca0a49cd42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d1182cbb82461a"/>
    <p:sldLayoutId xmlns:r="http://schemas.openxmlformats.org/officeDocument/2006/relationships" id="2147483650" r:id="R5e535577b3124a92"/>
    <p:sldLayoutId xmlns:r="http://schemas.openxmlformats.org/officeDocument/2006/relationships" id="2147483651" r:id="Rc17e678b508842df"/>
    <p:sldLayoutId xmlns:r="http://schemas.openxmlformats.org/officeDocument/2006/relationships" id="2147483652" r:id="Rae1a9d5f85a74468"/>
    <p:sldLayoutId xmlns:r="http://schemas.openxmlformats.org/officeDocument/2006/relationships" id="2147483653" r:id="R3f8f3ecfeb4c46e1"/>
    <p:sldLayoutId xmlns:r="http://schemas.openxmlformats.org/officeDocument/2006/relationships" id="2147483654" r:id="R6431ca0a49cd42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4367dfbfeab4843" /><Relationship Type="http://schemas.openxmlformats.org/officeDocument/2006/relationships/image" Target="/ppt/media/image.png" Id="Rdb377ab893f94bfd" /><Relationship Type="http://schemas.openxmlformats.org/officeDocument/2006/relationships/notesSlide" Target="/ppt/notesSlides/notesSlide1.xml" Id="Recb0b6add6f04d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5f9999525f34795" /><Relationship Type="http://schemas.openxmlformats.org/officeDocument/2006/relationships/notesSlide" Target="/ppt/notesSlides/notesSlide2.xml" Id="R8baa0020162b47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889f6f88d9c4b6f" /><Relationship Type="http://schemas.openxmlformats.org/officeDocument/2006/relationships/notesSlide" Target="/ppt/notesSlides/notesSlide3.xml" Id="Ref3f536047f543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6a5e9e0101b47af" /><Relationship Type="http://schemas.openxmlformats.org/officeDocument/2006/relationships/notesSlide" Target="/ppt/notesSlides/notesSlide4.xml" Id="Rd2056f454a0140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9afccdca0674262" /><Relationship Type="http://schemas.openxmlformats.org/officeDocument/2006/relationships/notesSlide" Target="/ppt/notesSlides/notesSlide5.xml" Id="R2d80838f37634b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1f164b68e0540ff" /><Relationship Type="http://schemas.openxmlformats.org/officeDocument/2006/relationships/notesSlide" Target="/ppt/notesSlides/notesSlide6.xml" Id="Rde7dfe14beae4c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5b27e3400804360" /><Relationship Type="http://schemas.openxmlformats.org/officeDocument/2006/relationships/notesSlide" Target="/ppt/notesSlides/notesSlide7.xml" Id="Rf9961c1dbc3a4d3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471bc0feaba48fd" /><Relationship Type="http://schemas.openxmlformats.org/officeDocument/2006/relationships/image" Target="/ppt/media/image2.png" Id="Rc96f616917174e4a" /><Relationship Type="http://schemas.openxmlformats.org/officeDocument/2006/relationships/notesSlide" Target="/ppt/notesSlides/notesSlide8.xml" Id="R6c6a8f9735854ba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29e0739739e4829" /><Relationship Type="http://schemas.openxmlformats.org/officeDocument/2006/relationships/notesSlide" Target="/ppt/notesSlides/notesSlide9.xml" Id="R68bdd7efd7ec4f7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31fac685eca4344" /><Relationship Type="http://schemas.openxmlformats.org/officeDocument/2006/relationships/notesSlide" Target="/ppt/notesSlides/notesSlide10.xml" Id="R01d29ac1c0ce4f4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efc3902c23f4d06" /><Relationship Type="http://schemas.openxmlformats.org/officeDocument/2006/relationships/notesSlide" Target="/ppt/notesSlides/notesSlide11.xml" Id="Ra43c78c3cab846f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1784fb0df9c4a6d" /><Relationship Type="http://schemas.openxmlformats.org/officeDocument/2006/relationships/notesSlide" Target="/ppt/notesSlides/notesSlide12.xml" Id="R067e1ca5df9e46a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9d51b63bf31464d" /><Relationship Type="http://schemas.openxmlformats.org/officeDocument/2006/relationships/notesSlide" Target="/ppt/notesSlides/notesSlide13.xml" Id="R49047c150ab142e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e1f183e4461466d" /><Relationship Type="http://schemas.openxmlformats.org/officeDocument/2006/relationships/notesSlide" Target="/ppt/notesSlides/notesSlide14.xml" Id="Rebb4139d79304c0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e2bcd9ce6374efa" /><Relationship Type="http://schemas.openxmlformats.org/officeDocument/2006/relationships/notesSlide" Target="/ppt/notesSlides/notesSlide15.xml" Id="Ra39bdae4e414463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f986257511e47c9" /><Relationship Type="http://schemas.openxmlformats.org/officeDocument/2006/relationships/image" Target="/ppt/media/image3.png" Id="R50ad75df84714699" /><Relationship Type="http://schemas.openxmlformats.org/officeDocument/2006/relationships/notesSlide" Target="/ppt/notesSlides/notesSlide16.xml" Id="Rb9b82d5bfa5b462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298d9f87cb34863" /><Relationship Type="http://schemas.openxmlformats.org/officeDocument/2006/relationships/notesSlide" Target="/ppt/notesSlides/notesSlide17.xml" Id="Rff0c9bb883cc475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42e147eaa084184" /><Relationship Type="http://schemas.openxmlformats.org/officeDocument/2006/relationships/notesSlide" Target="/ppt/notesSlides/notesSlide18.xml" Id="R18f2dc228b894da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6bd41e2af0b4a99" /><Relationship Type="http://schemas.openxmlformats.org/officeDocument/2006/relationships/notesSlide" Target="/ppt/notesSlides/notesSlide19.xml" Id="R86c9e7bb27e141e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e6d475034b54864" /><Relationship Type="http://schemas.openxmlformats.org/officeDocument/2006/relationships/image" Target="/ppt/media/image4.png" Id="R10148c3df3644c52" /><Relationship Type="http://schemas.openxmlformats.org/officeDocument/2006/relationships/notesSlide" Target="/ppt/notesSlides/notesSlide20.xml" Id="R456c10525a6b491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cd95b1d49a94028" /><Relationship Type="http://schemas.openxmlformats.org/officeDocument/2006/relationships/image" Target="/ppt/media/image5.png" Id="R66187bee3f5b4981" /><Relationship Type="http://schemas.openxmlformats.org/officeDocument/2006/relationships/image" Target="/ppt/media/image6.png" Id="R1757d980f2c74a0d" /><Relationship Type="http://schemas.openxmlformats.org/officeDocument/2006/relationships/notesSlide" Target="/ppt/notesSlides/notesSlide21.xml" Id="Rbdd181ddb1614b1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56ed5ff55ad470c" /><Relationship Type="http://schemas.openxmlformats.org/officeDocument/2006/relationships/image" Target="/ppt/media/image7.png" Id="R8c48409e2e2d4c12" /><Relationship Type="http://schemas.openxmlformats.org/officeDocument/2006/relationships/notesSlide" Target="/ppt/notesSlides/notesSlide22.xml" Id="Rac6c397678364d3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8cf1c77f59b41c0" /><Relationship Type="http://schemas.openxmlformats.org/officeDocument/2006/relationships/image" Target="/ppt/media/image8.png" Id="R0f1ad495a52e41c8" /><Relationship Type="http://schemas.openxmlformats.org/officeDocument/2006/relationships/notesSlide" Target="/ppt/notesSlides/notesSlide23.xml" Id="R1b521aeab6764e8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72c3a22526046a1" /><Relationship Type="http://schemas.openxmlformats.org/officeDocument/2006/relationships/image" Target="/ppt/media/image9.png" Id="Rf91530eaf4b14dfe" /><Relationship Type="http://schemas.openxmlformats.org/officeDocument/2006/relationships/notesSlide" Target="/ppt/notesSlides/notesSlide24.xml" Id="Rdf43286110044c4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6d3818000d3e4920" /><Relationship Type="http://schemas.openxmlformats.org/officeDocument/2006/relationships/notesSlide" Target="/ppt/notesSlides/notesSlide25.xml" Id="R15aeba93ed1c452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3bc5ff5e1e14ae3" /><Relationship Type="http://schemas.openxmlformats.org/officeDocument/2006/relationships/notesSlide" Target="/ppt/notesSlides/notesSlide26.xml" Id="R8e61379f9a1e425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e47a7924e433415d" /><Relationship Type="http://schemas.openxmlformats.org/officeDocument/2006/relationships/notesSlide" Target="/ppt/notesSlides/notesSlide27.xml" Id="R7609d0649fe7472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e72f87842894f34" /><Relationship Type="http://schemas.openxmlformats.org/officeDocument/2006/relationships/notesSlide" Target="/ppt/notesSlides/notesSlide28.xml" Id="Rd174690ca9d2492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3b319fe8f7542dd" /><Relationship Type="http://schemas.openxmlformats.org/officeDocument/2006/relationships/notesSlide" Target="/ppt/notesSlides/notesSlide29.xml" Id="R858dd834f3fb459a" /></Relationships>
</file>

<file path=ppt/slides/slide1.xml><?xml version="1.0" encoding="utf-8"?>
<p:sld xmlns:p="http://schemas.openxmlformats.org/presentationml/2006/main">
  <p:cSld>
    <p:bg>
      <p:bgPr>
        <a:solidFill xmlns:a="http://schemas.openxmlformats.org/drawingml/2006/main">
          <a:srgbClr val="061C2B"/>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A69B6166-B4BD-4EAE-977C-8BE145C81BCF}"/>
              </a:ext>
            </a:extLst>
          </p:cNvPr>
          <p:cNvPicPr>
            <a:picLocks xmlns:a="http://schemas.openxmlformats.org/drawingml/2006/main" noChangeAspect="1"/>
          </p:cNvPicPr>
          <p:nvPr/>
        </p:nvPicPr>
        <p:blipFill>
          <a:blip xmlns:r="http://schemas.openxmlformats.org/officeDocument/2006/relationships" xmlns:a="http://schemas.openxmlformats.org/drawingml/2006/main" r:embed="Rdb377ab893f94bf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4683F1C-5FA3-4AFF-BAF7-B374516EB8F8}"/>
              </a:ext>
            </a:extLst>
          </p:cNvPr>
          <p:cNvSpPr>
            <a:spLocks xmlns:a="http://schemas.openxmlformats.org/drawingml/2006/main" noGrp="1"/>
          </p:cNvSpPr>
          <p:nvPr/>
        </p:nvSpPr>
        <p:spPr>
          <a:xfrm xmlns:a="http://schemas.openxmlformats.org/drawingml/2006/main">
            <a:off x="723900" y="1381125"/>
            <a:ext cx="633412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FFFFFF"/>
                </a:solidFill>
                <a:latin typeface="Avenir Next"/>
                <a:ea typeface="Avenir Next"/>
                <a:cs typeface="Avenir Next"/>
              </a:defRPr>
            </a:defPPr>
            <a:lvl1pPr>
              <a:buNone/>
              <a:defRPr sz="3900" b="1">
                <a:solidFill>
                  <a:srgbClr val="FFFFFF"/>
                </a:solidFill>
                <a:latin typeface="Avenir Next"/>
                <a:ea typeface="Avenir Next"/>
                <a:cs typeface="Avenir Next"/>
              </a:defRPr>
            </a:lvl1pPr>
            <a:lvl2pPr>
              <a:buNone/>
              <a:defRPr sz="3900" b="1">
                <a:solidFill>
                  <a:srgbClr val="FFFFFF"/>
                </a:solidFill>
                <a:latin typeface="Avenir Next"/>
                <a:ea typeface="Avenir Next"/>
                <a:cs typeface="Avenir Next"/>
              </a:defRPr>
            </a:lvl2pPr>
            <a:lvl3pPr>
              <a:buNone/>
              <a:defRPr sz="3900" b="1">
                <a:solidFill>
                  <a:srgbClr val="FFFFFF"/>
                </a:solidFill>
                <a:latin typeface="Avenir Next"/>
                <a:ea typeface="Avenir Next"/>
                <a:cs typeface="Avenir Next"/>
              </a:defRPr>
            </a:lvl3pPr>
            <a:lvl4pPr>
              <a:buNone/>
              <a:defRPr sz="3900" b="1">
                <a:solidFill>
                  <a:srgbClr val="FFFFFF"/>
                </a:solidFill>
                <a:latin typeface="Avenir Next"/>
                <a:ea typeface="Avenir Next"/>
                <a:cs typeface="Avenir Next"/>
              </a:defRPr>
            </a:lvl4pPr>
            <a:lvl5pPr>
              <a:buNone/>
              <a:defRPr sz="3900" b="1">
                <a:solidFill>
                  <a:srgbClr val="FFFFFF"/>
                </a:solidFill>
                <a:latin typeface="Avenir Next"/>
                <a:ea typeface="Avenir Next"/>
                <a:cs typeface="Avenir Next"/>
              </a:defRPr>
            </a:lvl5pPr>
            <a:lvl6pPr>
              <a:buNone/>
              <a:defRPr sz="3900" b="1">
                <a:solidFill>
                  <a:srgbClr val="FFFFFF"/>
                </a:solidFill>
                <a:latin typeface="Avenir Next"/>
                <a:ea typeface="Avenir Next"/>
                <a:cs typeface="Avenir Next"/>
              </a:defRPr>
            </a:lvl6pPr>
            <a:lvl7pPr>
              <a:buNone/>
              <a:defRPr sz="3900" b="1">
                <a:solidFill>
                  <a:srgbClr val="FFFFFF"/>
                </a:solidFill>
                <a:latin typeface="Avenir Next"/>
                <a:ea typeface="Avenir Next"/>
                <a:cs typeface="Avenir Next"/>
              </a:defRPr>
            </a:lvl7pPr>
            <a:lvl8pPr>
              <a:buNone/>
              <a:defRPr sz="3900" b="1">
                <a:solidFill>
                  <a:srgbClr val="FFFFFF"/>
                </a:solidFill>
                <a:latin typeface="Avenir Next"/>
                <a:ea typeface="Avenir Next"/>
                <a:cs typeface="Avenir Next"/>
              </a:defRPr>
            </a:lvl8pPr>
            <a:lvl9pPr>
              <a:buNone/>
              <a:defRPr sz="3900" b="1">
                <a:solidFill>
                  <a:srgbClr val="FFFFFF"/>
                </a:solidFill>
                <a:latin typeface="Avenir Next"/>
                <a:ea typeface="Avenir Next"/>
                <a:cs typeface="Avenir Next"/>
              </a:defRPr>
            </a:lvl9pPr>
          </a:lstStyle>
          <a:p xmlns:a="http://schemas.openxmlformats.org/drawingml/2006/main">
            <a:pPr>
              <a:buNone/>
              <a:defRPr sz="3900" b="1">
                <a:solidFill>
                  <a:srgbClr val="FFFFFF"/>
                </a:solidFill>
                <a:latin typeface="Avenir Next"/>
                <a:ea typeface="Avenir Next"/>
                <a:cs typeface="Avenir Next"/>
              </a:defRPr>
            </a:pPr>
            <a:r>
              <a:rPr sz="3900" b="1">
                <a:solidFill>
                  <a:srgbClr val="FFFFFF"/>
                </a:solidFill>
                <a:latin typeface="Avenir Next"/>
                <a:ea typeface="Avenir Next"/>
                <a:cs typeface="Avenir Next"/>
              </a:rPr>
              <a:t>Machine Learning</a:t>
            </a:r>
          </a:p>
          <a:p xmlns:a="http://schemas.openxmlformats.org/drawingml/2006/main">
            <a:pPr>
              <a:buNone/>
              <a:defRPr sz="3900" b="1">
                <a:solidFill>
                  <a:srgbClr val="FFFFFF"/>
                </a:solidFill>
                <a:latin typeface="Avenir Next"/>
                <a:ea typeface="Avenir Next"/>
                <a:cs typeface="Avenir Next"/>
              </a:defRPr>
            </a:pPr>
            <a:r>
              <a:rPr sz="3900" b="1">
                <a:solidFill>
                  <a:srgbClr val="FFFFFF"/>
                </a:solidFill>
                <a:latin typeface="Avenir Next"/>
                <a:ea typeface="Avenir Next"/>
                <a:cs typeface="Avenir Next"/>
              </a:rPr>
              <a:t>in Epidemiology</a:t>
            </a:r>
          </a:p>
          <a:p xmlns:a="http://schemas.openxmlformats.org/drawingml/2006/main">
            <a:pPr>
              <a:buNone/>
              <a:defRPr sz="3900" b="1">
                <a:solidFill>
                  <a:srgbClr val="FFFFFF"/>
                </a:solidFill>
                <a:latin typeface="Avenir Next"/>
                <a:ea typeface="Avenir Next"/>
                <a:cs typeface="Avenir Next"/>
              </a:defRPr>
            </a:pPr>
            <a:r>
              <a:rPr sz="3900" b="1">
                <a:solidFill>
                  <a:srgbClr val="FFFFFF"/>
                </a:solidFill>
                <a:latin typeface="Avenir Next"/>
                <a:ea typeface="Avenir Next"/>
                <a:cs typeface="Avenir Next"/>
              </a:rPr>
              <a:t>with R — Part 2</a:t>
            </a:r>
          </a:p>
        </p:txBody>
      </p:sp>
      <p:sp>
        <p:nvSpPr>
          <p:cNvPr id="3" name="">
            <a:extLst xmlns:a="http://schemas.openxmlformats.org/drawingml/2006/main">
              <a:ext uri="{FF2B5EF4-FFF2-40B4-BE49-F238E27FC236}">
                <a16:creationId xmlns:a16="http://schemas.microsoft.com/office/drawing/2014/main" id="{F54CA718-7770-4BB5-A96A-386986A8E4AF}"/>
              </a:ext>
            </a:extLst>
          </p:cNvPr>
          <p:cNvSpPr>
            <a:spLocks xmlns:a="http://schemas.openxmlformats.org/drawingml/2006/main" noGrp="1"/>
          </p:cNvSpPr>
          <p:nvPr/>
        </p:nvSpPr>
        <p:spPr>
          <a:xfrm xmlns:a="http://schemas.openxmlformats.org/drawingml/2006/main">
            <a:off x="762000" y="4095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63D6CE"/>
                </a:solidFill>
                <a:latin typeface="Avenir Next"/>
                <a:ea typeface="Avenir Next"/>
                <a:cs typeface="Avenir Next"/>
              </a:defRPr>
            </a:defPPr>
            <a:lvl1pPr>
              <a:buNone/>
              <a:defRPr sz="2325" b="0">
                <a:solidFill>
                  <a:srgbClr val="63D6CE"/>
                </a:solidFill>
                <a:latin typeface="Avenir Next"/>
                <a:ea typeface="Avenir Next"/>
                <a:cs typeface="Avenir Next"/>
              </a:defRPr>
            </a:lvl1pPr>
            <a:lvl2pPr>
              <a:buNone/>
              <a:defRPr sz="2325" b="0">
                <a:solidFill>
                  <a:srgbClr val="63D6CE"/>
                </a:solidFill>
                <a:latin typeface="Avenir Next"/>
                <a:ea typeface="Avenir Next"/>
                <a:cs typeface="Avenir Next"/>
              </a:defRPr>
            </a:lvl2pPr>
            <a:lvl3pPr>
              <a:buNone/>
              <a:defRPr sz="2325" b="0">
                <a:solidFill>
                  <a:srgbClr val="63D6CE"/>
                </a:solidFill>
                <a:latin typeface="Avenir Next"/>
                <a:ea typeface="Avenir Next"/>
                <a:cs typeface="Avenir Next"/>
              </a:defRPr>
            </a:lvl3pPr>
            <a:lvl4pPr>
              <a:buNone/>
              <a:defRPr sz="2325" b="0">
                <a:solidFill>
                  <a:srgbClr val="63D6CE"/>
                </a:solidFill>
                <a:latin typeface="Avenir Next"/>
                <a:ea typeface="Avenir Next"/>
                <a:cs typeface="Avenir Next"/>
              </a:defRPr>
            </a:lvl4pPr>
            <a:lvl5pPr>
              <a:buNone/>
              <a:defRPr sz="2325" b="0">
                <a:solidFill>
                  <a:srgbClr val="63D6CE"/>
                </a:solidFill>
                <a:latin typeface="Avenir Next"/>
                <a:ea typeface="Avenir Next"/>
                <a:cs typeface="Avenir Next"/>
              </a:defRPr>
            </a:lvl5pPr>
            <a:lvl6pPr>
              <a:buNone/>
              <a:defRPr sz="2325" b="0">
                <a:solidFill>
                  <a:srgbClr val="63D6CE"/>
                </a:solidFill>
                <a:latin typeface="Avenir Next"/>
                <a:ea typeface="Avenir Next"/>
                <a:cs typeface="Avenir Next"/>
              </a:defRPr>
            </a:lvl6pPr>
            <a:lvl7pPr>
              <a:buNone/>
              <a:defRPr sz="2325" b="0">
                <a:solidFill>
                  <a:srgbClr val="63D6CE"/>
                </a:solidFill>
                <a:latin typeface="Avenir Next"/>
                <a:ea typeface="Avenir Next"/>
                <a:cs typeface="Avenir Next"/>
              </a:defRPr>
            </a:lvl7pPr>
            <a:lvl8pPr>
              <a:buNone/>
              <a:defRPr sz="2325" b="0">
                <a:solidFill>
                  <a:srgbClr val="63D6CE"/>
                </a:solidFill>
                <a:latin typeface="Avenir Next"/>
                <a:ea typeface="Avenir Next"/>
                <a:cs typeface="Avenir Next"/>
              </a:defRPr>
            </a:lvl8pPr>
            <a:lvl9pPr>
              <a:buNone/>
              <a:defRPr sz="2325" b="0">
                <a:solidFill>
                  <a:srgbClr val="63D6CE"/>
                </a:solidFill>
                <a:latin typeface="Avenir Next"/>
                <a:ea typeface="Avenir Next"/>
                <a:cs typeface="Avenir Next"/>
              </a:defRPr>
            </a:lvl9pPr>
          </a:lstStyle>
          <a:p xmlns:a="http://schemas.openxmlformats.org/drawingml/2006/main">
            <a:pPr>
              <a:buNone/>
              <a:defRPr sz="2325" b="0">
                <a:solidFill>
                  <a:srgbClr val="63D6CE"/>
                </a:solidFill>
                <a:latin typeface="Avenir Next"/>
                <a:ea typeface="Avenir Next"/>
                <a:cs typeface="Avenir Next"/>
              </a:defRPr>
            </a:pPr>
            <a:r>
              <a:rPr sz="2325" b="0">
                <a:solidFill>
                  <a:srgbClr val="63D6CE"/>
                </a:solidFill>
                <a:latin typeface="Avenir Next"/>
                <a:ea typeface="Avenir Next"/>
                <a:cs typeface="Avenir Next"/>
              </a:rPr>
              <a:t>Heart data and neural networks</a:t>
            </a:r>
          </a:p>
        </p:txBody>
      </p:sp>
      <p:sp>
        <p:nvSpPr>
          <p:cNvPr id="4" name="">
            <a:extLst xmlns:a="http://schemas.openxmlformats.org/drawingml/2006/main">
              <a:ext uri="{FF2B5EF4-FFF2-40B4-BE49-F238E27FC236}">
                <a16:creationId xmlns:a16="http://schemas.microsoft.com/office/drawing/2014/main" id="{96300991-FE8C-4E05-BCFE-7F505CF3BBE2}"/>
              </a:ext>
            </a:extLst>
          </p:cNvPr>
          <p:cNvSpPr>
            <a:spLocks xmlns:a="http://schemas.openxmlformats.org/drawingml/2006/main" noGrp="1"/>
          </p:cNvSpPr>
          <p:nvPr/>
        </p:nvSpPr>
        <p:spPr>
          <a:xfrm xmlns:a="http://schemas.openxmlformats.org/drawingml/2006/main">
            <a:off x="762000" y="5381625"/>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FFFFFF"/>
                </a:solidFill>
                <a:latin typeface="Avenir Next"/>
                <a:ea typeface="Avenir Next"/>
                <a:cs typeface="Avenir Next"/>
              </a:defRPr>
            </a:defPPr>
            <a:lvl1pPr>
              <a:buNone/>
              <a:defRPr sz="1875" b="0">
                <a:solidFill>
                  <a:srgbClr val="FFFFFF"/>
                </a:solidFill>
                <a:latin typeface="Avenir Next"/>
                <a:ea typeface="Avenir Next"/>
                <a:cs typeface="Avenir Next"/>
              </a:defRPr>
            </a:lvl1pPr>
            <a:lvl2pPr>
              <a:buNone/>
              <a:defRPr sz="1875" b="0">
                <a:solidFill>
                  <a:srgbClr val="FFFFFF"/>
                </a:solidFill>
                <a:latin typeface="Avenir Next"/>
                <a:ea typeface="Avenir Next"/>
                <a:cs typeface="Avenir Next"/>
              </a:defRPr>
            </a:lvl2pPr>
            <a:lvl3pPr>
              <a:buNone/>
              <a:defRPr sz="1875" b="0">
                <a:solidFill>
                  <a:srgbClr val="FFFFFF"/>
                </a:solidFill>
                <a:latin typeface="Avenir Next"/>
                <a:ea typeface="Avenir Next"/>
                <a:cs typeface="Avenir Next"/>
              </a:defRPr>
            </a:lvl3pPr>
            <a:lvl4pPr>
              <a:buNone/>
              <a:defRPr sz="1875" b="0">
                <a:solidFill>
                  <a:srgbClr val="FFFFFF"/>
                </a:solidFill>
                <a:latin typeface="Avenir Next"/>
                <a:ea typeface="Avenir Next"/>
                <a:cs typeface="Avenir Next"/>
              </a:defRPr>
            </a:lvl4pPr>
            <a:lvl5pPr>
              <a:buNone/>
              <a:defRPr sz="1875" b="0">
                <a:solidFill>
                  <a:srgbClr val="FFFFFF"/>
                </a:solidFill>
                <a:latin typeface="Avenir Next"/>
                <a:ea typeface="Avenir Next"/>
                <a:cs typeface="Avenir Next"/>
              </a:defRPr>
            </a:lvl5pPr>
            <a:lvl6pPr>
              <a:buNone/>
              <a:defRPr sz="1875" b="0">
                <a:solidFill>
                  <a:srgbClr val="FFFFFF"/>
                </a:solidFill>
                <a:latin typeface="Avenir Next"/>
                <a:ea typeface="Avenir Next"/>
                <a:cs typeface="Avenir Next"/>
              </a:defRPr>
            </a:lvl6pPr>
            <a:lvl7pPr>
              <a:buNone/>
              <a:defRPr sz="1875" b="0">
                <a:solidFill>
                  <a:srgbClr val="FFFFFF"/>
                </a:solidFill>
                <a:latin typeface="Avenir Next"/>
                <a:ea typeface="Avenir Next"/>
                <a:cs typeface="Avenir Next"/>
              </a:defRPr>
            </a:lvl7pPr>
            <a:lvl8pPr>
              <a:buNone/>
              <a:defRPr sz="1875" b="0">
                <a:solidFill>
                  <a:srgbClr val="FFFFFF"/>
                </a:solidFill>
                <a:latin typeface="Avenir Next"/>
                <a:ea typeface="Avenir Next"/>
                <a:cs typeface="Avenir Next"/>
              </a:defRPr>
            </a:lvl8pPr>
            <a:lvl9pPr>
              <a:buNone/>
              <a:defRPr sz="1875" b="0">
                <a:solidFill>
                  <a:srgbClr val="FFFFFF"/>
                </a:solidFill>
                <a:latin typeface="Avenir Next"/>
                <a:ea typeface="Avenir Next"/>
                <a:cs typeface="Avenir Next"/>
              </a:defRPr>
            </a:lvl9pPr>
          </a:lstStyle>
          <a:p xmlns:a="http://schemas.openxmlformats.org/drawingml/2006/main">
            <a:pPr>
              <a:buNone/>
              <a:defRPr sz="1875" b="0">
                <a:solidFill>
                  <a:srgbClr val="FFFFFF"/>
                </a:solidFill>
                <a:latin typeface="Avenir Next"/>
                <a:ea typeface="Avenir Next"/>
                <a:cs typeface="Avenir Next"/>
              </a:defRPr>
            </a:pPr>
            <a:r>
              <a:rPr sz="1875" b="0">
                <a:solidFill>
                  <a:srgbClr val="FFFFFF"/>
                </a:solidFill>
                <a:latin typeface="Avenir Next"/>
                <a:ea typeface="Avenir Next"/>
                <a:cs typeface="Avenir Next"/>
              </a:rPr>
              <a:t>Federica Gazzelloni</a:t>
            </a:r>
          </a:p>
        </p:txBody>
      </p:sp>
      <p:sp>
        <p:nvSpPr>
          <p:cNvPr id="5" name="">
            <a:extLst xmlns:a="http://schemas.openxmlformats.org/drawingml/2006/main">
              <a:ext uri="{FF2B5EF4-FFF2-40B4-BE49-F238E27FC236}">
                <a16:creationId xmlns:a16="http://schemas.microsoft.com/office/drawing/2014/main" id="{B14E6C98-243F-43AD-AD68-53F9A350FC3D}"/>
              </a:ext>
            </a:extLst>
          </p:cNvPr>
          <p:cNvSpPr>
            <a:spLocks xmlns:a="http://schemas.openxmlformats.org/drawingml/2006/main" noGrp="1"/>
          </p:cNvSpPr>
          <p:nvPr/>
        </p:nvSpPr>
        <p:spPr>
          <a:xfrm xmlns:a="http://schemas.openxmlformats.org/drawingml/2006/main">
            <a:off x="762000" y="5829300"/>
            <a:ext cx="762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FFFFFF"/>
                </a:solidFill>
                <a:latin typeface="Avenir Next"/>
                <a:ea typeface="Avenir Next"/>
                <a:cs typeface="Avenir Next"/>
              </a:defRPr>
            </a:defPPr>
            <a:lvl1pPr>
              <a:buNone/>
              <a:defRPr sz="1575" b="0">
                <a:solidFill>
                  <a:srgbClr val="FFFFFF"/>
                </a:solidFill>
                <a:latin typeface="Avenir Next"/>
                <a:ea typeface="Avenir Next"/>
                <a:cs typeface="Avenir Next"/>
              </a:defRPr>
            </a:lvl1pPr>
            <a:lvl2pPr>
              <a:buNone/>
              <a:defRPr sz="1575" b="0">
                <a:solidFill>
                  <a:srgbClr val="FFFFFF"/>
                </a:solidFill>
                <a:latin typeface="Avenir Next"/>
                <a:ea typeface="Avenir Next"/>
                <a:cs typeface="Avenir Next"/>
              </a:defRPr>
            </a:lvl2pPr>
            <a:lvl3pPr>
              <a:buNone/>
              <a:defRPr sz="1575" b="0">
                <a:solidFill>
                  <a:srgbClr val="FFFFFF"/>
                </a:solidFill>
                <a:latin typeface="Avenir Next"/>
                <a:ea typeface="Avenir Next"/>
                <a:cs typeface="Avenir Next"/>
              </a:defRPr>
            </a:lvl3pPr>
            <a:lvl4pPr>
              <a:buNone/>
              <a:defRPr sz="1575" b="0">
                <a:solidFill>
                  <a:srgbClr val="FFFFFF"/>
                </a:solidFill>
                <a:latin typeface="Avenir Next"/>
                <a:ea typeface="Avenir Next"/>
                <a:cs typeface="Avenir Next"/>
              </a:defRPr>
            </a:lvl4pPr>
            <a:lvl5pPr>
              <a:buNone/>
              <a:defRPr sz="1575" b="0">
                <a:solidFill>
                  <a:srgbClr val="FFFFFF"/>
                </a:solidFill>
                <a:latin typeface="Avenir Next"/>
                <a:ea typeface="Avenir Next"/>
                <a:cs typeface="Avenir Next"/>
              </a:defRPr>
            </a:lvl5pPr>
            <a:lvl6pPr>
              <a:buNone/>
              <a:defRPr sz="1575" b="0">
                <a:solidFill>
                  <a:srgbClr val="FFFFFF"/>
                </a:solidFill>
                <a:latin typeface="Avenir Next"/>
                <a:ea typeface="Avenir Next"/>
                <a:cs typeface="Avenir Next"/>
              </a:defRPr>
            </a:lvl6pPr>
            <a:lvl7pPr>
              <a:buNone/>
              <a:defRPr sz="1575" b="0">
                <a:solidFill>
                  <a:srgbClr val="FFFFFF"/>
                </a:solidFill>
                <a:latin typeface="Avenir Next"/>
                <a:ea typeface="Avenir Next"/>
                <a:cs typeface="Avenir Next"/>
              </a:defRPr>
            </a:lvl7pPr>
            <a:lvl8pPr>
              <a:buNone/>
              <a:defRPr sz="1575" b="0">
                <a:solidFill>
                  <a:srgbClr val="FFFFFF"/>
                </a:solidFill>
                <a:latin typeface="Avenir Next"/>
                <a:ea typeface="Avenir Next"/>
                <a:cs typeface="Avenir Next"/>
              </a:defRPr>
            </a:lvl8pPr>
            <a:lvl9pPr>
              <a:buNone/>
              <a:defRPr sz="1575" b="0">
                <a:solidFill>
                  <a:srgbClr val="FFFFFF"/>
                </a:solidFill>
                <a:latin typeface="Avenir Next"/>
                <a:ea typeface="Avenir Next"/>
                <a:cs typeface="Avenir Next"/>
              </a:defRPr>
            </a:lvl9pPr>
          </a:lstStyle>
          <a:p xmlns:a="http://schemas.openxmlformats.org/drawingml/2006/main">
            <a:pPr>
              <a:buNone/>
              <a:defRPr sz="1575" b="0">
                <a:solidFill>
                  <a:srgbClr val="FFFFFF"/>
                </a:solidFill>
                <a:latin typeface="Avenir Next"/>
                <a:ea typeface="Avenir Next"/>
                <a:cs typeface="Avenir Next"/>
              </a:defRPr>
            </a:pPr>
            <a:r>
              <a:rPr sz="1575" b="0">
                <a:solidFill>
                  <a:srgbClr val="FFFFFF"/>
                </a:solidFill>
                <a:latin typeface="Avenir Next"/>
                <a:ea typeface="Avenir Next"/>
                <a:cs typeface="Avenir Next"/>
              </a:rPr>
              <a:t>23 October 2026</a:t>
            </a:r>
          </a:p>
          <a:p xmlns:a="http://schemas.openxmlformats.org/drawingml/2006/main">
            <a:pPr>
              <a:buNone/>
              <a:defRPr sz="1575" b="0">
                <a:solidFill>
                  <a:srgbClr val="FFFFFF"/>
                </a:solidFill>
                <a:latin typeface="Avenir Next"/>
                <a:ea typeface="Avenir Next"/>
                <a:cs typeface="Avenir Next"/>
              </a:defRPr>
            </a:pPr>
            <a:r>
              <a:rPr sz="1575" b="0">
                <a:solidFill>
                  <a:srgbClr val="FFFFFF"/>
                </a:solidFill>
                <a:latin typeface="Avenir Next"/>
                <a:ea typeface="Avenir Next"/>
                <a:cs typeface="Avenir Next"/>
              </a:rPr>
              <a:t>Two-hour online, hands-on R workshop</a:t>
            </a:r>
          </a:p>
        </p:txBody>
      </p:sp>
    </p:spTree>
    <p:extLst>
      <p:ext uri="{BB962C8B-B14F-4D97-AF65-F5344CB8AC3E}">
        <p14:creationId xmlns:p14="http://schemas.microsoft.com/office/powerpoint/2010/main" val="13724244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88783FA-8B54-4A12-BC35-C7EDD8D7185C}"/>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01</a:t>
            </a:r>
          </a:p>
        </p:txBody>
      </p:sp>
      <p:sp>
        <p:nvSpPr>
          <p:cNvPr id="2" name="">
            <a:extLst xmlns:a="http://schemas.openxmlformats.org/drawingml/2006/main">
              <a:ext uri="{FF2B5EF4-FFF2-40B4-BE49-F238E27FC236}">
                <a16:creationId xmlns:a16="http://schemas.microsoft.com/office/drawing/2014/main" id="{40E223DA-112E-41D6-A435-88F8B6D4F495}"/>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Learning objectives and session route</a:t>
            </a:r>
          </a:p>
        </p:txBody>
      </p:sp>
      <p:sp>
        <p:nvSpPr>
          <p:cNvPr id="3" name="">
            <a:extLst xmlns:a="http://schemas.openxmlformats.org/drawingml/2006/main">
              <a:ext uri="{FF2B5EF4-FFF2-40B4-BE49-F238E27FC236}">
                <a16:creationId xmlns:a16="http://schemas.microsoft.com/office/drawing/2014/main" id="{6ACB65FB-C179-4AF9-910E-B881232CF70C}"/>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1F1BD909-F8AB-49AA-9197-481194AEC4EC}"/>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sp>
        <p:nvSpPr>
          <p:cNvPr id="5" name="">
            <a:extLst xmlns:a="http://schemas.openxmlformats.org/drawingml/2006/main">
              <a:ext uri="{FF2B5EF4-FFF2-40B4-BE49-F238E27FC236}">
                <a16:creationId xmlns:a16="http://schemas.microsoft.com/office/drawing/2014/main" id="{0390220F-1BE6-418F-BFEF-6ECDC5012F41}"/>
              </a:ext>
            </a:extLst>
          </p:cNvPr>
          <p:cNvSpPr>
            <a:spLocks xmlns:a="http://schemas.openxmlformats.org/drawingml/2006/main" noGrp="1"/>
          </p:cNvSpPr>
          <p:nvPr/>
        </p:nvSpPr>
        <p:spPr>
          <a:xfrm xmlns:a="http://schemas.openxmlformats.org/drawingml/2006/main">
            <a:off x="619125" y="12858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D6D76"/>
                </a:solidFill>
                <a:latin typeface="Avenir Next"/>
                <a:ea typeface="Avenir Next"/>
                <a:cs typeface="Avenir Next"/>
              </a:defRPr>
            </a:defPPr>
            <a:lvl1pPr>
              <a:buNone/>
              <a:defRPr sz="2100" b="0">
                <a:solidFill>
                  <a:srgbClr val="5D6D76"/>
                </a:solidFill>
                <a:latin typeface="Avenir Next"/>
                <a:ea typeface="Avenir Next"/>
                <a:cs typeface="Avenir Next"/>
              </a:defRPr>
            </a:lvl1pPr>
            <a:lvl2pPr>
              <a:buNone/>
              <a:defRPr sz="2100" b="0">
                <a:solidFill>
                  <a:srgbClr val="5D6D76"/>
                </a:solidFill>
                <a:latin typeface="Avenir Next"/>
                <a:ea typeface="Avenir Next"/>
                <a:cs typeface="Avenir Next"/>
              </a:defRPr>
            </a:lvl2pPr>
            <a:lvl3pPr>
              <a:buNone/>
              <a:defRPr sz="2100" b="0">
                <a:solidFill>
                  <a:srgbClr val="5D6D76"/>
                </a:solidFill>
                <a:latin typeface="Avenir Next"/>
                <a:ea typeface="Avenir Next"/>
                <a:cs typeface="Avenir Next"/>
              </a:defRPr>
            </a:lvl3pPr>
            <a:lvl4pPr>
              <a:buNone/>
              <a:defRPr sz="2100" b="0">
                <a:solidFill>
                  <a:srgbClr val="5D6D76"/>
                </a:solidFill>
                <a:latin typeface="Avenir Next"/>
                <a:ea typeface="Avenir Next"/>
                <a:cs typeface="Avenir Next"/>
              </a:defRPr>
            </a:lvl4pPr>
            <a:lvl5pPr>
              <a:buNone/>
              <a:defRPr sz="2100" b="0">
                <a:solidFill>
                  <a:srgbClr val="5D6D76"/>
                </a:solidFill>
                <a:latin typeface="Avenir Next"/>
                <a:ea typeface="Avenir Next"/>
                <a:cs typeface="Avenir Next"/>
              </a:defRPr>
            </a:lvl5pPr>
            <a:lvl6pPr>
              <a:buNone/>
              <a:defRPr sz="2100" b="0">
                <a:solidFill>
                  <a:srgbClr val="5D6D76"/>
                </a:solidFill>
                <a:latin typeface="Avenir Next"/>
                <a:ea typeface="Avenir Next"/>
                <a:cs typeface="Avenir Next"/>
              </a:defRPr>
            </a:lvl6pPr>
            <a:lvl7pPr>
              <a:buNone/>
              <a:defRPr sz="2100" b="0">
                <a:solidFill>
                  <a:srgbClr val="5D6D76"/>
                </a:solidFill>
                <a:latin typeface="Avenir Next"/>
                <a:ea typeface="Avenir Next"/>
                <a:cs typeface="Avenir Next"/>
              </a:defRPr>
            </a:lvl7pPr>
            <a:lvl8pPr>
              <a:buNone/>
              <a:defRPr sz="2100" b="0">
                <a:solidFill>
                  <a:srgbClr val="5D6D76"/>
                </a:solidFill>
                <a:latin typeface="Avenir Next"/>
                <a:ea typeface="Avenir Next"/>
                <a:cs typeface="Avenir Next"/>
              </a:defRPr>
            </a:lvl8pPr>
            <a:lvl9pPr>
              <a:buNone/>
              <a:defRPr sz="2100" b="0">
                <a:solidFill>
                  <a:srgbClr val="5D6D76"/>
                </a:solidFill>
                <a:latin typeface="Avenir Next"/>
                <a:ea typeface="Avenir Next"/>
                <a:cs typeface="Avenir Next"/>
              </a:defRPr>
            </a:lvl9pPr>
          </a:lstStyle>
          <a:p xmlns:a="http://schemas.openxmlformats.org/drawingml/2006/main">
            <a:pPr>
              <a:buNone/>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Meet the heart data</a:t>
            </a:r>
          </a:p>
        </p:txBody>
      </p:sp>
      <p:sp>
        <p:nvSpPr>
          <p:cNvPr id="6" name="">
            <a:extLst xmlns:a="http://schemas.openxmlformats.org/drawingml/2006/main">
              <a:ext uri="{FF2B5EF4-FFF2-40B4-BE49-F238E27FC236}">
                <a16:creationId xmlns:a16="http://schemas.microsoft.com/office/drawing/2014/main" id="{2C9FF84F-9213-40CF-8C7E-E0911A2A7A15}"/>
              </a:ext>
            </a:extLst>
          </p:cNvPr>
          <p:cNvSpPr>
            <a:spLocks xmlns:a="http://schemas.openxmlformats.org/drawingml/2006/main" noGrp="1"/>
          </p:cNvSpPr>
          <p:nvPr/>
        </p:nvSpPr>
        <p:spPr>
          <a:xfrm xmlns:a="http://schemas.openxmlformats.org/drawingml/2006/main">
            <a:off x="619125" y="20669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D6D76"/>
                </a:solidFill>
                <a:latin typeface="Avenir Next"/>
                <a:ea typeface="Avenir Next"/>
                <a:cs typeface="Avenir Next"/>
              </a:defRPr>
            </a:defPPr>
            <a:lvl1pPr>
              <a:buNone/>
              <a:defRPr sz="2100" b="0">
                <a:solidFill>
                  <a:srgbClr val="5D6D76"/>
                </a:solidFill>
                <a:latin typeface="Avenir Next"/>
                <a:ea typeface="Avenir Next"/>
                <a:cs typeface="Avenir Next"/>
              </a:defRPr>
            </a:lvl1pPr>
            <a:lvl2pPr>
              <a:buNone/>
              <a:defRPr sz="2100" b="0">
                <a:solidFill>
                  <a:srgbClr val="5D6D76"/>
                </a:solidFill>
                <a:latin typeface="Avenir Next"/>
                <a:ea typeface="Avenir Next"/>
                <a:cs typeface="Avenir Next"/>
              </a:defRPr>
            </a:lvl2pPr>
            <a:lvl3pPr>
              <a:buNone/>
              <a:defRPr sz="2100" b="0">
                <a:solidFill>
                  <a:srgbClr val="5D6D76"/>
                </a:solidFill>
                <a:latin typeface="Avenir Next"/>
                <a:ea typeface="Avenir Next"/>
                <a:cs typeface="Avenir Next"/>
              </a:defRPr>
            </a:lvl3pPr>
            <a:lvl4pPr>
              <a:buNone/>
              <a:defRPr sz="2100" b="0">
                <a:solidFill>
                  <a:srgbClr val="5D6D76"/>
                </a:solidFill>
                <a:latin typeface="Avenir Next"/>
                <a:ea typeface="Avenir Next"/>
                <a:cs typeface="Avenir Next"/>
              </a:defRPr>
            </a:lvl4pPr>
            <a:lvl5pPr>
              <a:buNone/>
              <a:defRPr sz="2100" b="0">
                <a:solidFill>
                  <a:srgbClr val="5D6D76"/>
                </a:solidFill>
                <a:latin typeface="Avenir Next"/>
                <a:ea typeface="Avenir Next"/>
                <a:cs typeface="Avenir Next"/>
              </a:defRPr>
            </a:lvl5pPr>
            <a:lvl6pPr>
              <a:buNone/>
              <a:defRPr sz="2100" b="0">
                <a:solidFill>
                  <a:srgbClr val="5D6D76"/>
                </a:solidFill>
                <a:latin typeface="Avenir Next"/>
                <a:ea typeface="Avenir Next"/>
                <a:cs typeface="Avenir Next"/>
              </a:defRPr>
            </a:lvl6pPr>
            <a:lvl7pPr>
              <a:buNone/>
              <a:defRPr sz="2100" b="0">
                <a:solidFill>
                  <a:srgbClr val="5D6D76"/>
                </a:solidFill>
                <a:latin typeface="Avenir Next"/>
                <a:ea typeface="Avenir Next"/>
                <a:cs typeface="Avenir Next"/>
              </a:defRPr>
            </a:lvl7pPr>
            <a:lvl8pPr>
              <a:buNone/>
              <a:defRPr sz="2100" b="0">
                <a:solidFill>
                  <a:srgbClr val="5D6D76"/>
                </a:solidFill>
                <a:latin typeface="Avenir Next"/>
                <a:ea typeface="Avenir Next"/>
                <a:cs typeface="Avenir Next"/>
              </a:defRPr>
            </a:lvl8pPr>
            <a:lvl9pPr>
              <a:buNone/>
              <a:defRPr sz="2100" b="0">
                <a:solidFill>
                  <a:srgbClr val="5D6D76"/>
                </a:solidFill>
                <a:latin typeface="Avenir Next"/>
                <a:ea typeface="Avenir Next"/>
                <a:cs typeface="Avenir Next"/>
              </a:defRPr>
            </a:lvl9pPr>
          </a:lstStyle>
          <a:p xmlns:a="http://schemas.openxmlformats.org/drawingml/2006/main">
            <a:pPr>
              <a:buNone/>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Read the saved random forest results</a:t>
            </a:r>
          </a:p>
        </p:txBody>
      </p:sp>
      <p:sp>
        <p:nvSpPr>
          <p:cNvPr id="7" name="">
            <a:extLst xmlns:a="http://schemas.openxmlformats.org/drawingml/2006/main">
              <a:ext uri="{FF2B5EF4-FFF2-40B4-BE49-F238E27FC236}">
                <a16:creationId xmlns:a16="http://schemas.microsoft.com/office/drawing/2014/main" id="{96F1BB4A-4236-4FFE-9BA5-E2E28910C29D}"/>
              </a:ext>
            </a:extLst>
          </p:cNvPr>
          <p:cNvSpPr>
            <a:spLocks xmlns:a="http://schemas.openxmlformats.org/drawingml/2006/main" noGrp="1"/>
          </p:cNvSpPr>
          <p:nvPr/>
        </p:nvSpPr>
        <p:spPr>
          <a:xfrm xmlns:a="http://schemas.openxmlformats.org/drawingml/2006/main">
            <a:off x="619125" y="28479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D6D76"/>
                </a:solidFill>
                <a:latin typeface="Avenir Next"/>
                <a:ea typeface="Avenir Next"/>
                <a:cs typeface="Avenir Next"/>
              </a:defRPr>
            </a:defPPr>
            <a:lvl1pPr>
              <a:buNone/>
              <a:defRPr sz="2100" b="0">
                <a:solidFill>
                  <a:srgbClr val="5D6D76"/>
                </a:solidFill>
                <a:latin typeface="Avenir Next"/>
                <a:ea typeface="Avenir Next"/>
                <a:cs typeface="Avenir Next"/>
              </a:defRPr>
            </a:lvl1pPr>
            <a:lvl2pPr>
              <a:buNone/>
              <a:defRPr sz="2100" b="0">
                <a:solidFill>
                  <a:srgbClr val="5D6D76"/>
                </a:solidFill>
                <a:latin typeface="Avenir Next"/>
                <a:ea typeface="Avenir Next"/>
                <a:cs typeface="Avenir Next"/>
              </a:defRPr>
            </a:lvl2pPr>
            <a:lvl3pPr>
              <a:buNone/>
              <a:defRPr sz="2100" b="0">
                <a:solidFill>
                  <a:srgbClr val="5D6D76"/>
                </a:solidFill>
                <a:latin typeface="Avenir Next"/>
                <a:ea typeface="Avenir Next"/>
                <a:cs typeface="Avenir Next"/>
              </a:defRPr>
            </a:lvl3pPr>
            <a:lvl4pPr>
              <a:buNone/>
              <a:defRPr sz="2100" b="0">
                <a:solidFill>
                  <a:srgbClr val="5D6D76"/>
                </a:solidFill>
                <a:latin typeface="Avenir Next"/>
                <a:ea typeface="Avenir Next"/>
                <a:cs typeface="Avenir Next"/>
              </a:defRPr>
            </a:lvl4pPr>
            <a:lvl5pPr>
              <a:buNone/>
              <a:defRPr sz="2100" b="0">
                <a:solidFill>
                  <a:srgbClr val="5D6D76"/>
                </a:solidFill>
                <a:latin typeface="Avenir Next"/>
                <a:ea typeface="Avenir Next"/>
                <a:cs typeface="Avenir Next"/>
              </a:defRPr>
            </a:lvl5pPr>
            <a:lvl6pPr>
              <a:buNone/>
              <a:defRPr sz="2100" b="0">
                <a:solidFill>
                  <a:srgbClr val="5D6D76"/>
                </a:solidFill>
                <a:latin typeface="Avenir Next"/>
                <a:ea typeface="Avenir Next"/>
                <a:cs typeface="Avenir Next"/>
              </a:defRPr>
            </a:lvl6pPr>
            <a:lvl7pPr>
              <a:buNone/>
              <a:defRPr sz="2100" b="0">
                <a:solidFill>
                  <a:srgbClr val="5D6D76"/>
                </a:solidFill>
                <a:latin typeface="Avenir Next"/>
                <a:ea typeface="Avenir Next"/>
                <a:cs typeface="Avenir Next"/>
              </a:defRPr>
            </a:lvl7pPr>
            <a:lvl8pPr>
              <a:buNone/>
              <a:defRPr sz="2100" b="0">
                <a:solidFill>
                  <a:srgbClr val="5D6D76"/>
                </a:solidFill>
                <a:latin typeface="Avenir Next"/>
                <a:ea typeface="Avenir Next"/>
                <a:cs typeface="Avenir Next"/>
              </a:defRPr>
            </a:lvl8pPr>
            <a:lvl9pPr>
              <a:buNone/>
              <a:defRPr sz="2100" b="0">
                <a:solidFill>
                  <a:srgbClr val="5D6D76"/>
                </a:solidFill>
                <a:latin typeface="Avenir Next"/>
                <a:ea typeface="Avenir Next"/>
                <a:cs typeface="Avenir Next"/>
              </a:defRPr>
            </a:lvl9pPr>
          </a:lstStyle>
          <a:p xmlns:a="http://schemas.openxmlformats.org/drawingml/2006/main">
            <a:pPr>
              <a:buNone/>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Prepare inputs and build a network with Keras</a:t>
            </a:r>
          </a:p>
        </p:txBody>
      </p:sp>
      <p:sp>
        <p:nvSpPr>
          <p:cNvPr id="8" name="">
            <a:extLst xmlns:a="http://schemas.openxmlformats.org/drawingml/2006/main">
              <a:ext uri="{FF2B5EF4-FFF2-40B4-BE49-F238E27FC236}">
                <a16:creationId xmlns:a16="http://schemas.microsoft.com/office/drawing/2014/main" id="{4E8C40B7-61FF-4953-A284-C9461920D259}"/>
              </a:ext>
            </a:extLst>
          </p:cNvPr>
          <p:cNvSpPr>
            <a:spLocks xmlns:a="http://schemas.openxmlformats.org/drawingml/2006/main" noGrp="1"/>
          </p:cNvSpPr>
          <p:nvPr/>
        </p:nvSpPr>
        <p:spPr>
          <a:xfrm xmlns:a="http://schemas.openxmlformats.org/drawingml/2006/main">
            <a:off x="619125" y="36290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D6D76"/>
                </a:solidFill>
                <a:latin typeface="Avenir Next"/>
                <a:ea typeface="Avenir Next"/>
                <a:cs typeface="Avenir Next"/>
              </a:defRPr>
            </a:defPPr>
            <a:lvl1pPr>
              <a:buNone/>
              <a:defRPr sz="2100" b="0">
                <a:solidFill>
                  <a:srgbClr val="5D6D76"/>
                </a:solidFill>
                <a:latin typeface="Avenir Next"/>
                <a:ea typeface="Avenir Next"/>
                <a:cs typeface="Avenir Next"/>
              </a:defRPr>
            </a:lvl1pPr>
            <a:lvl2pPr>
              <a:buNone/>
              <a:defRPr sz="2100" b="0">
                <a:solidFill>
                  <a:srgbClr val="5D6D76"/>
                </a:solidFill>
                <a:latin typeface="Avenir Next"/>
                <a:ea typeface="Avenir Next"/>
                <a:cs typeface="Avenir Next"/>
              </a:defRPr>
            </a:lvl2pPr>
            <a:lvl3pPr>
              <a:buNone/>
              <a:defRPr sz="2100" b="0">
                <a:solidFill>
                  <a:srgbClr val="5D6D76"/>
                </a:solidFill>
                <a:latin typeface="Avenir Next"/>
                <a:ea typeface="Avenir Next"/>
                <a:cs typeface="Avenir Next"/>
              </a:defRPr>
            </a:lvl3pPr>
            <a:lvl4pPr>
              <a:buNone/>
              <a:defRPr sz="2100" b="0">
                <a:solidFill>
                  <a:srgbClr val="5D6D76"/>
                </a:solidFill>
                <a:latin typeface="Avenir Next"/>
                <a:ea typeface="Avenir Next"/>
                <a:cs typeface="Avenir Next"/>
              </a:defRPr>
            </a:lvl4pPr>
            <a:lvl5pPr>
              <a:buNone/>
              <a:defRPr sz="2100" b="0">
                <a:solidFill>
                  <a:srgbClr val="5D6D76"/>
                </a:solidFill>
                <a:latin typeface="Avenir Next"/>
                <a:ea typeface="Avenir Next"/>
                <a:cs typeface="Avenir Next"/>
              </a:defRPr>
            </a:lvl5pPr>
            <a:lvl6pPr>
              <a:buNone/>
              <a:defRPr sz="2100" b="0">
                <a:solidFill>
                  <a:srgbClr val="5D6D76"/>
                </a:solidFill>
                <a:latin typeface="Avenir Next"/>
                <a:ea typeface="Avenir Next"/>
                <a:cs typeface="Avenir Next"/>
              </a:defRPr>
            </a:lvl6pPr>
            <a:lvl7pPr>
              <a:buNone/>
              <a:defRPr sz="2100" b="0">
                <a:solidFill>
                  <a:srgbClr val="5D6D76"/>
                </a:solidFill>
                <a:latin typeface="Avenir Next"/>
                <a:ea typeface="Avenir Next"/>
                <a:cs typeface="Avenir Next"/>
              </a:defRPr>
            </a:lvl7pPr>
            <a:lvl8pPr>
              <a:buNone/>
              <a:defRPr sz="2100" b="0">
                <a:solidFill>
                  <a:srgbClr val="5D6D76"/>
                </a:solidFill>
                <a:latin typeface="Avenir Next"/>
                <a:ea typeface="Avenir Next"/>
                <a:cs typeface="Avenir Next"/>
              </a:defRPr>
            </a:lvl8pPr>
            <a:lvl9pPr>
              <a:buNone/>
              <a:defRPr sz="2100" b="0">
                <a:solidFill>
                  <a:srgbClr val="5D6D76"/>
                </a:solidFill>
                <a:latin typeface="Avenir Next"/>
                <a:ea typeface="Avenir Next"/>
                <a:cs typeface="Avenir Next"/>
              </a:defRPr>
            </a:lvl9pPr>
          </a:lstStyle>
          <a:p xmlns:a="http://schemas.openxmlformats.org/drawingml/2006/main">
            <a:pPr>
              <a:buNone/>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Fit the network and evaluate it with mlr3</a:t>
            </a:r>
          </a:p>
        </p:txBody>
      </p:sp>
      <p:sp>
        <p:nvSpPr>
          <p:cNvPr id="9" name="">
            <a:extLst xmlns:a="http://schemas.openxmlformats.org/drawingml/2006/main">
              <a:ext uri="{FF2B5EF4-FFF2-40B4-BE49-F238E27FC236}">
                <a16:creationId xmlns:a16="http://schemas.microsoft.com/office/drawing/2014/main" id="{24E56E54-9B77-4404-8E11-87CA88E540D8}"/>
              </a:ext>
            </a:extLst>
          </p:cNvPr>
          <p:cNvSpPr>
            <a:spLocks xmlns:a="http://schemas.openxmlformats.org/drawingml/2006/main" noGrp="1"/>
          </p:cNvSpPr>
          <p:nvPr/>
        </p:nvSpPr>
        <p:spPr>
          <a:xfrm xmlns:a="http://schemas.openxmlformats.org/drawingml/2006/main">
            <a:off x="619125" y="44100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D6D76"/>
                </a:solidFill>
                <a:latin typeface="Avenir Next"/>
                <a:ea typeface="Avenir Next"/>
                <a:cs typeface="Avenir Next"/>
              </a:defRPr>
            </a:defPPr>
            <a:lvl1pPr>
              <a:buNone/>
              <a:defRPr sz="2100" b="0">
                <a:solidFill>
                  <a:srgbClr val="5D6D76"/>
                </a:solidFill>
                <a:latin typeface="Avenir Next"/>
                <a:ea typeface="Avenir Next"/>
                <a:cs typeface="Avenir Next"/>
              </a:defRPr>
            </a:lvl1pPr>
            <a:lvl2pPr>
              <a:buNone/>
              <a:defRPr sz="2100" b="0">
                <a:solidFill>
                  <a:srgbClr val="5D6D76"/>
                </a:solidFill>
                <a:latin typeface="Avenir Next"/>
                <a:ea typeface="Avenir Next"/>
                <a:cs typeface="Avenir Next"/>
              </a:defRPr>
            </a:lvl2pPr>
            <a:lvl3pPr>
              <a:buNone/>
              <a:defRPr sz="2100" b="0">
                <a:solidFill>
                  <a:srgbClr val="5D6D76"/>
                </a:solidFill>
                <a:latin typeface="Avenir Next"/>
                <a:ea typeface="Avenir Next"/>
                <a:cs typeface="Avenir Next"/>
              </a:defRPr>
            </a:lvl3pPr>
            <a:lvl4pPr>
              <a:buNone/>
              <a:defRPr sz="2100" b="0">
                <a:solidFill>
                  <a:srgbClr val="5D6D76"/>
                </a:solidFill>
                <a:latin typeface="Avenir Next"/>
                <a:ea typeface="Avenir Next"/>
                <a:cs typeface="Avenir Next"/>
              </a:defRPr>
            </a:lvl4pPr>
            <a:lvl5pPr>
              <a:buNone/>
              <a:defRPr sz="2100" b="0">
                <a:solidFill>
                  <a:srgbClr val="5D6D76"/>
                </a:solidFill>
                <a:latin typeface="Avenir Next"/>
                <a:ea typeface="Avenir Next"/>
                <a:cs typeface="Avenir Next"/>
              </a:defRPr>
            </a:lvl5pPr>
            <a:lvl6pPr>
              <a:buNone/>
              <a:defRPr sz="2100" b="0">
                <a:solidFill>
                  <a:srgbClr val="5D6D76"/>
                </a:solidFill>
                <a:latin typeface="Avenir Next"/>
                <a:ea typeface="Avenir Next"/>
                <a:cs typeface="Avenir Next"/>
              </a:defRPr>
            </a:lvl6pPr>
            <a:lvl7pPr>
              <a:buNone/>
              <a:defRPr sz="2100" b="0">
                <a:solidFill>
                  <a:srgbClr val="5D6D76"/>
                </a:solidFill>
                <a:latin typeface="Avenir Next"/>
                <a:ea typeface="Avenir Next"/>
                <a:cs typeface="Avenir Next"/>
              </a:defRPr>
            </a:lvl7pPr>
            <a:lvl8pPr>
              <a:buNone/>
              <a:defRPr sz="2100" b="0">
                <a:solidFill>
                  <a:srgbClr val="5D6D76"/>
                </a:solidFill>
                <a:latin typeface="Avenir Next"/>
                <a:ea typeface="Avenir Next"/>
                <a:cs typeface="Avenir Next"/>
              </a:defRPr>
            </a:lvl8pPr>
            <a:lvl9pPr>
              <a:buNone/>
              <a:defRPr sz="2100" b="0">
                <a:solidFill>
                  <a:srgbClr val="5D6D76"/>
                </a:solidFill>
                <a:latin typeface="Avenir Next"/>
                <a:ea typeface="Avenir Next"/>
                <a:cs typeface="Avenir Next"/>
              </a:defRPr>
            </a:lvl9pPr>
          </a:lstStyle>
          <a:p xmlns:a="http://schemas.openxmlformats.org/drawingml/2006/main">
            <a:pPr>
              <a:buNone/>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Compare mistakes and discuss the results</a:t>
            </a:r>
          </a:p>
        </p:txBody>
      </p:sp>
      <p:sp>
        <p:nvSpPr>
          <p:cNvPr id="10" name="">
            <a:extLst xmlns:a="http://schemas.openxmlformats.org/drawingml/2006/main">
              <a:ext uri="{FF2B5EF4-FFF2-40B4-BE49-F238E27FC236}">
                <a16:creationId xmlns:a16="http://schemas.microsoft.com/office/drawing/2014/main" id="{42E2B03C-A264-4707-95F1-33033F4D8FE6}"/>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Explain the forest results, fit a neural network, and interpret its predictions.</a:t>
            </a:r>
          </a:p>
        </p:txBody>
      </p:sp>
    </p:spTree>
    <p:extLst>
      <p:ext uri="{BB962C8B-B14F-4D97-AF65-F5344CB8AC3E}">
        <p14:creationId xmlns:p14="http://schemas.microsoft.com/office/powerpoint/2010/main" val="127733866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36667E3-3A3F-4E20-BB9C-4E5CFB655BB1}"/>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02</a:t>
            </a:r>
          </a:p>
        </p:txBody>
      </p:sp>
      <p:sp>
        <p:nvSpPr>
          <p:cNvPr id="2" name="">
            <a:extLst xmlns:a="http://schemas.openxmlformats.org/drawingml/2006/main">
              <a:ext uri="{FF2B5EF4-FFF2-40B4-BE49-F238E27FC236}">
                <a16:creationId xmlns:a16="http://schemas.microsoft.com/office/drawing/2014/main" id="{82DA36AC-25E5-41A7-999A-DA5513E46701}"/>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West Nile surveillance and heart disease</a:t>
            </a:r>
          </a:p>
        </p:txBody>
      </p:sp>
      <p:sp>
        <p:nvSpPr>
          <p:cNvPr id="3" name="">
            <a:extLst xmlns:a="http://schemas.openxmlformats.org/drawingml/2006/main">
              <a:ext uri="{FF2B5EF4-FFF2-40B4-BE49-F238E27FC236}">
                <a16:creationId xmlns:a16="http://schemas.microsoft.com/office/drawing/2014/main" id="{E4EEE53B-49C9-4B2A-ACE4-A00A0389A830}"/>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16593FF7-41F7-4B32-88C0-45BE363FB762}"/>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graphicFrame>
        <p:nvGraphicFramePr>
          <p:cNvPr id="5" name="">
            <a:extLst xmlns:a="http://schemas.openxmlformats.org/drawingml/2006/main">
              <a:ext uri="{FF2B5EF4-FFF2-40B4-BE49-F238E27FC236}">
                <a16:creationId xmlns:a16="http://schemas.microsoft.com/office/drawing/2014/main" id="{7F35C2C0-2DE3-4FEB-9191-D2DC9E8B0812}"/>
              </a:ext>
            </a:extLst>
          </p:cNvPr>
          <p:cNvGraphicFramePr/>
          <p:nvPr/>
        </p:nvGraphicFramePr>
        <p:xfrm>
          <a:off xmlns:a="http://schemas.openxmlformats.org/drawingml/2006/main" x="619125" y="1476375"/>
          <a:ext xmlns:a="http://schemas.openxmlformats.org/drawingml/2006/main" cx="10953750" cy="3095625"/>
        </p:xfrm>
        <a:graphic xmlns:a="http://schemas.openxmlformats.org/drawingml/2006/main">
          <a:graphicData uri="http://schemas.openxmlformats.org/drawingml/2006/table">
            <a:tbl>
              <a:tblPr/>
              <a:tblGrid>
                <a:gridCol w="5476875"/>
                <a:gridCol w="5476875"/>
              </a:tblGrid>
              <a:tr h="773906">
                <a:tc>
                  <a:txBody>
                    <a:bodyPr/>
                    <a:lstStyle/>
                    <a:p>
                      <a:r>
                        <a:rPr sz="1800" b="1">
                          <a:solidFill>
                            <a:srgbClr val="FFFFFF"/>
                          </a:solidFill>
                          <a:latin typeface="Avenir Next"/>
                          <a:ea typeface="Avenir Next"/>
                          <a:cs typeface="Avenir Next"/>
                        </a:rPr>
                        <a:t>Part 1</a:t>
                      </a:r>
                    </a:p>
                  </a:txBody>
                  <a:tcPr marL="91440" marR="91440" marT="45720" marB="45720">
                    <a:solidFill>
                      <a:srgbClr val="09253A"/>
                    </a:solidFill>
                  </a:tcPr>
                </a:tc>
                <a:tc>
                  <a:txBody>
                    <a:bodyPr/>
                    <a:lstStyle/>
                    <a:p>
                      <a:r>
                        <a:rPr sz="1800" b="1">
                          <a:solidFill>
                            <a:srgbClr val="FFFFFF"/>
                          </a:solidFill>
                          <a:latin typeface="Avenir Next"/>
                          <a:ea typeface="Avenir Next"/>
                          <a:cs typeface="Avenir Next"/>
                        </a:rPr>
                        <a:t>Part 2</a:t>
                      </a:r>
                    </a:p>
                  </a:txBody>
                  <a:tcPr marL="91440" marR="91440" marT="45720" marB="45720">
                    <a:solidFill>
                      <a:srgbClr val="09253A"/>
                    </a:solidFill>
                  </a:tcPr>
                </a:tc>
              </a:tr>
              <a:tr h="773906">
                <a:tc>
                  <a:txBody>
                    <a:bodyPr/>
                    <a:lstStyle/>
                    <a:p>
                      <a:r>
                        <a:rPr sz="1800" b="0">
                          <a:solidFill>
                            <a:srgbClr val="09253A"/>
                          </a:solidFill>
                          <a:latin typeface="Avenir Next"/>
                          <a:ea typeface="Avenir Next"/>
                          <a:cs typeface="Avenir Next"/>
                        </a:rPr>
                        <a:t>West Nile surveillance</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Clinical measurements</a:t>
                      </a:r>
                    </a:p>
                  </a:txBody>
                  <a:tcPr marL="91440" marR="91440" marT="45720" marB="45720">
                    <a:solidFill>
                      <a:srgbClr val="F7F2E8"/>
                    </a:solidFill>
                  </a:tcPr>
                </a:tc>
              </a:tr>
              <a:tr h="773906">
                <a:tc>
                  <a:txBody>
                    <a:bodyPr/>
                    <a:lstStyle/>
                    <a:p>
                      <a:r>
                        <a:rPr sz="1800" b="0">
                          <a:solidFill>
                            <a:srgbClr val="09253A"/>
                          </a:solidFill>
                          <a:latin typeface="Avenir Next"/>
                          <a:ea typeface="Avenir Next"/>
                          <a:cs typeface="Avenir Next"/>
                        </a:rPr>
                        <a:t>Define a prediction unit and outcome</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One patient and existing disease</a:t>
                      </a:r>
                    </a:p>
                  </a:txBody>
                  <a:tcPr marL="91440" marR="91440" marT="45720" marB="45720">
                    <a:solidFill>
                      <a:srgbClr val="FFFFFF"/>
                    </a:solidFill>
                  </a:tcPr>
                </a:tc>
              </a:tr>
              <a:tr h="773906">
                <a:tc>
                  <a:txBody>
                    <a:bodyPr/>
                    <a:lstStyle/>
                    <a:p>
                      <a:r>
                        <a:rPr sz="1800" b="0">
                          <a:solidFill>
                            <a:srgbClr val="09253A"/>
                          </a:solidFill>
                          <a:latin typeface="Avenir Next"/>
                          <a:ea typeface="Avenir Next"/>
                          <a:cs typeface="Avenir Next"/>
                        </a:rPr>
                        <a:t>Preparation and evaluation</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The same workflow, new learners</a:t>
                      </a:r>
                    </a:p>
                  </a:txBody>
                  <a:tcPr marL="91440" marR="91440" marT="45720" marB="45720">
                    <a:solidFill>
                      <a:srgbClr val="F7F2E8"/>
                    </a:solidFill>
                  </a:tcPr>
                </a:tc>
              </a:tr>
            </a:tbl>
          </a:graphicData>
        </a:graphic>
      </p:graphicFrame>
      <p:sp>
        <p:nvSpPr>
          <p:cNvPr id="6" name="">
            <a:extLst xmlns:a="http://schemas.openxmlformats.org/drawingml/2006/main">
              <a:ext uri="{FF2B5EF4-FFF2-40B4-BE49-F238E27FC236}">
                <a16:creationId xmlns:a16="http://schemas.microsoft.com/office/drawing/2014/main" id="{D96925AD-CA12-43DA-B37B-8C7944F0FFDB}"/>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Use the same learning and evaluation ideas with a new dataset.</a:t>
            </a:r>
          </a:p>
        </p:txBody>
      </p:sp>
    </p:spTree>
    <p:extLst>
      <p:ext uri="{BB962C8B-B14F-4D97-AF65-F5344CB8AC3E}">
        <p14:creationId xmlns:p14="http://schemas.microsoft.com/office/powerpoint/2010/main" val="9940939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962D0FA-2E6A-4875-B46D-BBD7A6791936}"/>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03</a:t>
            </a:r>
          </a:p>
        </p:txBody>
      </p:sp>
      <p:sp>
        <p:nvSpPr>
          <p:cNvPr id="2" name="">
            <a:extLst xmlns:a="http://schemas.openxmlformats.org/drawingml/2006/main">
              <a:ext uri="{FF2B5EF4-FFF2-40B4-BE49-F238E27FC236}">
                <a16:creationId xmlns:a16="http://schemas.microsoft.com/office/drawing/2014/main" id="{0C2C247A-1E5A-4D17-B449-75AE0174EBA3}"/>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Meet the heart-disease data</a:t>
            </a:r>
          </a:p>
        </p:txBody>
      </p:sp>
      <p:sp>
        <p:nvSpPr>
          <p:cNvPr id="3" name="">
            <a:extLst xmlns:a="http://schemas.openxmlformats.org/drawingml/2006/main">
              <a:ext uri="{FF2B5EF4-FFF2-40B4-BE49-F238E27FC236}">
                <a16:creationId xmlns:a16="http://schemas.microsoft.com/office/drawing/2014/main" id="{02779400-4E2D-4DF8-BC2C-EB034A1C9A2D}"/>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57C681BF-AE98-4B3D-B93D-853624BE6B99}"/>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sp>
        <p:nvSpPr>
          <p:cNvPr id="5" name="">
            <a:extLst xmlns:a="http://schemas.openxmlformats.org/drawingml/2006/main">
              <a:ext uri="{FF2B5EF4-FFF2-40B4-BE49-F238E27FC236}">
                <a16:creationId xmlns:a16="http://schemas.microsoft.com/office/drawing/2014/main" id="{C6E0E12B-F920-40D2-BBF8-A46F485B7CB2}"/>
              </a:ext>
            </a:extLst>
          </p:cNvPr>
          <p:cNvSpPr>
            <a:spLocks xmlns:a="http://schemas.openxmlformats.org/drawingml/2006/main" noGrp="1"/>
          </p:cNvSpPr>
          <p:nvPr/>
        </p:nvSpPr>
        <p:spPr>
          <a:xfrm xmlns:a="http://schemas.openxmlformats.org/drawingml/2006/main">
            <a:off x="619125" y="138112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850" b="1">
                <a:solidFill>
                  <a:srgbClr val="0D8B8B"/>
                </a:solidFill>
                <a:latin typeface="Avenir Next"/>
                <a:ea typeface="Avenir Next"/>
                <a:cs typeface="Avenir Next"/>
              </a:defRPr>
            </a:defPPr>
            <a:lvl1pPr>
              <a:buNone/>
              <a:defRPr sz="5850" b="1">
                <a:solidFill>
                  <a:srgbClr val="0D8B8B"/>
                </a:solidFill>
                <a:latin typeface="Avenir Next"/>
                <a:ea typeface="Avenir Next"/>
                <a:cs typeface="Avenir Next"/>
              </a:defRPr>
            </a:lvl1pPr>
            <a:lvl2pPr>
              <a:buNone/>
              <a:defRPr sz="5850" b="1">
                <a:solidFill>
                  <a:srgbClr val="0D8B8B"/>
                </a:solidFill>
                <a:latin typeface="Avenir Next"/>
                <a:ea typeface="Avenir Next"/>
                <a:cs typeface="Avenir Next"/>
              </a:defRPr>
            </a:lvl2pPr>
            <a:lvl3pPr>
              <a:buNone/>
              <a:defRPr sz="5850" b="1">
                <a:solidFill>
                  <a:srgbClr val="0D8B8B"/>
                </a:solidFill>
                <a:latin typeface="Avenir Next"/>
                <a:ea typeface="Avenir Next"/>
                <a:cs typeface="Avenir Next"/>
              </a:defRPr>
            </a:lvl3pPr>
            <a:lvl4pPr>
              <a:buNone/>
              <a:defRPr sz="5850" b="1">
                <a:solidFill>
                  <a:srgbClr val="0D8B8B"/>
                </a:solidFill>
                <a:latin typeface="Avenir Next"/>
                <a:ea typeface="Avenir Next"/>
                <a:cs typeface="Avenir Next"/>
              </a:defRPr>
            </a:lvl4pPr>
            <a:lvl5pPr>
              <a:buNone/>
              <a:defRPr sz="5850" b="1">
                <a:solidFill>
                  <a:srgbClr val="0D8B8B"/>
                </a:solidFill>
                <a:latin typeface="Avenir Next"/>
                <a:ea typeface="Avenir Next"/>
                <a:cs typeface="Avenir Next"/>
              </a:defRPr>
            </a:lvl5pPr>
            <a:lvl6pPr>
              <a:buNone/>
              <a:defRPr sz="5850" b="1">
                <a:solidFill>
                  <a:srgbClr val="0D8B8B"/>
                </a:solidFill>
                <a:latin typeface="Avenir Next"/>
                <a:ea typeface="Avenir Next"/>
                <a:cs typeface="Avenir Next"/>
              </a:defRPr>
            </a:lvl6pPr>
            <a:lvl7pPr>
              <a:buNone/>
              <a:defRPr sz="5850" b="1">
                <a:solidFill>
                  <a:srgbClr val="0D8B8B"/>
                </a:solidFill>
                <a:latin typeface="Avenir Next"/>
                <a:ea typeface="Avenir Next"/>
                <a:cs typeface="Avenir Next"/>
              </a:defRPr>
            </a:lvl7pPr>
            <a:lvl8pPr>
              <a:buNone/>
              <a:defRPr sz="5850" b="1">
                <a:solidFill>
                  <a:srgbClr val="0D8B8B"/>
                </a:solidFill>
                <a:latin typeface="Avenir Next"/>
                <a:ea typeface="Avenir Next"/>
                <a:cs typeface="Avenir Next"/>
              </a:defRPr>
            </a:lvl8pPr>
            <a:lvl9pPr>
              <a:buNone/>
              <a:defRPr sz="5850" b="1">
                <a:solidFill>
                  <a:srgbClr val="0D8B8B"/>
                </a:solidFill>
                <a:latin typeface="Avenir Next"/>
                <a:ea typeface="Avenir Next"/>
                <a:cs typeface="Avenir Next"/>
              </a:defRPr>
            </a:lvl9pPr>
          </a:lstStyle>
          <a:p xmlns:a="http://schemas.openxmlformats.org/drawingml/2006/main">
            <a:pPr>
              <a:buNone/>
              <a:defRPr sz="5850" b="1">
                <a:solidFill>
                  <a:srgbClr val="0D8B8B"/>
                </a:solidFill>
                <a:latin typeface="Avenir Next"/>
                <a:ea typeface="Avenir Next"/>
                <a:cs typeface="Avenir Next"/>
              </a:defRPr>
            </a:pPr>
            <a:r>
              <a:rPr sz="5850" b="1">
                <a:solidFill>
                  <a:srgbClr val="0D8B8B"/>
                </a:solidFill>
                <a:latin typeface="Avenir Next"/>
                <a:ea typeface="Avenir Next"/>
                <a:cs typeface="Avenir Next"/>
              </a:rPr>
              <a:t>270</a:t>
            </a:r>
          </a:p>
        </p:txBody>
      </p:sp>
      <p:sp>
        <p:nvSpPr>
          <p:cNvPr id="6" name="">
            <a:extLst xmlns:a="http://schemas.openxmlformats.org/drawingml/2006/main">
              <a:ext uri="{FF2B5EF4-FFF2-40B4-BE49-F238E27FC236}">
                <a16:creationId xmlns:a16="http://schemas.microsoft.com/office/drawing/2014/main" id="{C1C93782-BF58-4215-A1D0-26B12253F119}"/>
              </a:ext>
            </a:extLst>
          </p:cNvPr>
          <p:cNvSpPr>
            <a:spLocks xmlns:a="http://schemas.openxmlformats.org/drawingml/2006/main" noGrp="1"/>
          </p:cNvSpPr>
          <p:nvPr/>
        </p:nvSpPr>
        <p:spPr>
          <a:xfrm xmlns:a="http://schemas.openxmlformats.org/drawingml/2006/main">
            <a:off x="619125" y="233362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09253A"/>
                </a:solidFill>
                <a:latin typeface="Avenir Next"/>
                <a:ea typeface="Avenir Next"/>
                <a:cs typeface="Avenir Next"/>
              </a:defRPr>
            </a:defPPr>
            <a:lvl1pPr>
              <a:buNone/>
              <a:defRPr sz="2325" b="0">
                <a:solidFill>
                  <a:srgbClr val="09253A"/>
                </a:solidFill>
                <a:latin typeface="Avenir Next"/>
                <a:ea typeface="Avenir Next"/>
                <a:cs typeface="Avenir Next"/>
              </a:defRPr>
            </a:lvl1pPr>
            <a:lvl2pPr>
              <a:buNone/>
              <a:defRPr sz="2325" b="0">
                <a:solidFill>
                  <a:srgbClr val="09253A"/>
                </a:solidFill>
                <a:latin typeface="Avenir Next"/>
                <a:ea typeface="Avenir Next"/>
                <a:cs typeface="Avenir Next"/>
              </a:defRPr>
            </a:lvl2pPr>
            <a:lvl3pPr>
              <a:buNone/>
              <a:defRPr sz="2325" b="0">
                <a:solidFill>
                  <a:srgbClr val="09253A"/>
                </a:solidFill>
                <a:latin typeface="Avenir Next"/>
                <a:ea typeface="Avenir Next"/>
                <a:cs typeface="Avenir Next"/>
              </a:defRPr>
            </a:lvl3pPr>
            <a:lvl4pPr>
              <a:buNone/>
              <a:defRPr sz="2325" b="0">
                <a:solidFill>
                  <a:srgbClr val="09253A"/>
                </a:solidFill>
                <a:latin typeface="Avenir Next"/>
                <a:ea typeface="Avenir Next"/>
                <a:cs typeface="Avenir Next"/>
              </a:defRPr>
            </a:lvl4pPr>
            <a:lvl5pPr>
              <a:buNone/>
              <a:defRPr sz="2325" b="0">
                <a:solidFill>
                  <a:srgbClr val="09253A"/>
                </a:solidFill>
                <a:latin typeface="Avenir Next"/>
                <a:ea typeface="Avenir Next"/>
                <a:cs typeface="Avenir Next"/>
              </a:defRPr>
            </a:lvl5pPr>
            <a:lvl6pPr>
              <a:buNone/>
              <a:defRPr sz="2325" b="0">
                <a:solidFill>
                  <a:srgbClr val="09253A"/>
                </a:solidFill>
                <a:latin typeface="Avenir Next"/>
                <a:ea typeface="Avenir Next"/>
                <a:cs typeface="Avenir Next"/>
              </a:defRPr>
            </a:lvl6pPr>
            <a:lvl7pPr>
              <a:buNone/>
              <a:defRPr sz="2325" b="0">
                <a:solidFill>
                  <a:srgbClr val="09253A"/>
                </a:solidFill>
                <a:latin typeface="Avenir Next"/>
                <a:ea typeface="Avenir Next"/>
                <a:cs typeface="Avenir Next"/>
              </a:defRPr>
            </a:lvl7pPr>
            <a:lvl8pPr>
              <a:buNone/>
              <a:defRPr sz="2325" b="0">
                <a:solidFill>
                  <a:srgbClr val="09253A"/>
                </a:solidFill>
                <a:latin typeface="Avenir Next"/>
                <a:ea typeface="Avenir Next"/>
                <a:cs typeface="Avenir Next"/>
              </a:defRPr>
            </a:lvl8pPr>
            <a:lvl9pPr>
              <a:buNone/>
              <a:defRPr sz="2325" b="0">
                <a:solidFill>
                  <a:srgbClr val="09253A"/>
                </a:solidFill>
                <a:latin typeface="Avenir Next"/>
                <a:ea typeface="Avenir Next"/>
                <a:cs typeface="Avenir Next"/>
              </a:defRPr>
            </a:lvl9pPr>
          </a:lstStyle>
          <a:p xmlns:a="http://schemas.openxmlformats.org/drawingml/2006/main">
            <a:pPr>
              <a:buNone/>
              <a:defRPr sz="2325" b="0">
                <a:solidFill>
                  <a:srgbClr val="09253A"/>
                </a:solidFill>
                <a:latin typeface="Avenir Next"/>
                <a:ea typeface="Avenir Next"/>
                <a:cs typeface="Avenir Next"/>
              </a:defRPr>
            </a:pPr>
            <a:r>
              <a:rPr sz="2325" b="0">
                <a:solidFill>
                  <a:srgbClr val="09253A"/>
                </a:solidFill>
                <a:latin typeface="Avenir Next"/>
                <a:ea typeface="Avenir Next"/>
                <a:cs typeface="Avenir Next"/>
              </a:rPr>
              <a:t>patients</a:t>
            </a:r>
          </a:p>
        </p:txBody>
      </p:sp>
      <p:sp>
        <p:nvSpPr>
          <p:cNvPr id="7" name="">
            <a:extLst xmlns:a="http://schemas.openxmlformats.org/drawingml/2006/main">
              <a:ext uri="{FF2B5EF4-FFF2-40B4-BE49-F238E27FC236}">
                <a16:creationId xmlns:a16="http://schemas.microsoft.com/office/drawing/2014/main" id="{52EB94ED-926E-4489-B782-AB7F4E131737}"/>
              </a:ext>
            </a:extLst>
          </p:cNvPr>
          <p:cNvSpPr>
            <a:spLocks xmlns:a="http://schemas.openxmlformats.org/drawingml/2006/main" noGrp="1"/>
          </p:cNvSpPr>
          <p:nvPr/>
        </p:nvSpPr>
        <p:spPr>
          <a:xfrm xmlns:a="http://schemas.openxmlformats.org/drawingml/2006/main">
            <a:off x="4476750" y="138112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850" b="1">
                <a:solidFill>
                  <a:srgbClr val="0D8B8B"/>
                </a:solidFill>
                <a:latin typeface="Avenir Next"/>
                <a:ea typeface="Avenir Next"/>
                <a:cs typeface="Avenir Next"/>
              </a:defRPr>
            </a:defPPr>
            <a:lvl1pPr>
              <a:buNone/>
              <a:defRPr sz="5850" b="1">
                <a:solidFill>
                  <a:srgbClr val="0D8B8B"/>
                </a:solidFill>
                <a:latin typeface="Avenir Next"/>
                <a:ea typeface="Avenir Next"/>
                <a:cs typeface="Avenir Next"/>
              </a:defRPr>
            </a:lvl1pPr>
            <a:lvl2pPr>
              <a:buNone/>
              <a:defRPr sz="5850" b="1">
                <a:solidFill>
                  <a:srgbClr val="0D8B8B"/>
                </a:solidFill>
                <a:latin typeface="Avenir Next"/>
                <a:ea typeface="Avenir Next"/>
                <a:cs typeface="Avenir Next"/>
              </a:defRPr>
            </a:lvl2pPr>
            <a:lvl3pPr>
              <a:buNone/>
              <a:defRPr sz="5850" b="1">
                <a:solidFill>
                  <a:srgbClr val="0D8B8B"/>
                </a:solidFill>
                <a:latin typeface="Avenir Next"/>
                <a:ea typeface="Avenir Next"/>
                <a:cs typeface="Avenir Next"/>
              </a:defRPr>
            </a:lvl3pPr>
            <a:lvl4pPr>
              <a:buNone/>
              <a:defRPr sz="5850" b="1">
                <a:solidFill>
                  <a:srgbClr val="0D8B8B"/>
                </a:solidFill>
                <a:latin typeface="Avenir Next"/>
                <a:ea typeface="Avenir Next"/>
                <a:cs typeface="Avenir Next"/>
              </a:defRPr>
            </a:lvl4pPr>
            <a:lvl5pPr>
              <a:buNone/>
              <a:defRPr sz="5850" b="1">
                <a:solidFill>
                  <a:srgbClr val="0D8B8B"/>
                </a:solidFill>
                <a:latin typeface="Avenir Next"/>
                <a:ea typeface="Avenir Next"/>
                <a:cs typeface="Avenir Next"/>
              </a:defRPr>
            </a:lvl5pPr>
            <a:lvl6pPr>
              <a:buNone/>
              <a:defRPr sz="5850" b="1">
                <a:solidFill>
                  <a:srgbClr val="0D8B8B"/>
                </a:solidFill>
                <a:latin typeface="Avenir Next"/>
                <a:ea typeface="Avenir Next"/>
                <a:cs typeface="Avenir Next"/>
              </a:defRPr>
            </a:lvl6pPr>
            <a:lvl7pPr>
              <a:buNone/>
              <a:defRPr sz="5850" b="1">
                <a:solidFill>
                  <a:srgbClr val="0D8B8B"/>
                </a:solidFill>
                <a:latin typeface="Avenir Next"/>
                <a:ea typeface="Avenir Next"/>
                <a:cs typeface="Avenir Next"/>
              </a:defRPr>
            </a:lvl7pPr>
            <a:lvl8pPr>
              <a:buNone/>
              <a:defRPr sz="5850" b="1">
                <a:solidFill>
                  <a:srgbClr val="0D8B8B"/>
                </a:solidFill>
                <a:latin typeface="Avenir Next"/>
                <a:ea typeface="Avenir Next"/>
                <a:cs typeface="Avenir Next"/>
              </a:defRPr>
            </a:lvl8pPr>
            <a:lvl9pPr>
              <a:buNone/>
              <a:defRPr sz="5850" b="1">
                <a:solidFill>
                  <a:srgbClr val="0D8B8B"/>
                </a:solidFill>
                <a:latin typeface="Avenir Next"/>
                <a:ea typeface="Avenir Next"/>
                <a:cs typeface="Avenir Next"/>
              </a:defRPr>
            </a:lvl9pPr>
          </a:lstStyle>
          <a:p xmlns:a="http://schemas.openxmlformats.org/drawingml/2006/main">
            <a:pPr>
              <a:buNone/>
              <a:defRPr sz="5850" b="1">
                <a:solidFill>
                  <a:srgbClr val="0D8B8B"/>
                </a:solidFill>
                <a:latin typeface="Avenir Next"/>
                <a:ea typeface="Avenir Next"/>
                <a:cs typeface="Avenir Next"/>
              </a:defRPr>
            </a:pPr>
            <a:r>
              <a:rPr sz="5850" b="1">
                <a:solidFill>
                  <a:srgbClr val="0D8B8B"/>
                </a:solidFill>
                <a:latin typeface="Avenir Next"/>
                <a:ea typeface="Avenir Next"/>
                <a:cs typeface="Avenir Next"/>
              </a:rPr>
              <a:t>13</a:t>
            </a:r>
          </a:p>
        </p:txBody>
      </p:sp>
      <p:sp>
        <p:nvSpPr>
          <p:cNvPr id="8" name="">
            <a:extLst xmlns:a="http://schemas.openxmlformats.org/drawingml/2006/main">
              <a:ext uri="{FF2B5EF4-FFF2-40B4-BE49-F238E27FC236}">
                <a16:creationId xmlns:a16="http://schemas.microsoft.com/office/drawing/2014/main" id="{BD92B60D-7D9A-4C99-A531-D92A31D29FCF}"/>
              </a:ext>
            </a:extLst>
          </p:cNvPr>
          <p:cNvSpPr>
            <a:spLocks xmlns:a="http://schemas.openxmlformats.org/drawingml/2006/main" noGrp="1"/>
          </p:cNvSpPr>
          <p:nvPr/>
        </p:nvSpPr>
        <p:spPr>
          <a:xfrm xmlns:a="http://schemas.openxmlformats.org/drawingml/2006/main">
            <a:off x="4476750" y="233362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09253A"/>
                </a:solidFill>
                <a:latin typeface="Avenir Next"/>
                <a:ea typeface="Avenir Next"/>
                <a:cs typeface="Avenir Next"/>
              </a:defRPr>
            </a:defPPr>
            <a:lvl1pPr>
              <a:buNone/>
              <a:defRPr sz="2325" b="0">
                <a:solidFill>
                  <a:srgbClr val="09253A"/>
                </a:solidFill>
                <a:latin typeface="Avenir Next"/>
                <a:ea typeface="Avenir Next"/>
                <a:cs typeface="Avenir Next"/>
              </a:defRPr>
            </a:lvl1pPr>
            <a:lvl2pPr>
              <a:buNone/>
              <a:defRPr sz="2325" b="0">
                <a:solidFill>
                  <a:srgbClr val="09253A"/>
                </a:solidFill>
                <a:latin typeface="Avenir Next"/>
                <a:ea typeface="Avenir Next"/>
                <a:cs typeface="Avenir Next"/>
              </a:defRPr>
            </a:lvl2pPr>
            <a:lvl3pPr>
              <a:buNone/>
              <a:defRPr sz="2325" b="0">
                <a:solidFill>
                  <a:srgbClr val="09253A"/>
                </a:solidFill>
                <a:latin typeface="Avenir Next"/>
                <a:ea typeface="Avenir Next"/>
                <a:cs typeface="Avenir Next"/>
              </a:defRPr>
            </a:lvl3pPr>
            <a:lvl4pPr>
              <a:buNone/>
              <a:defRPr sz="2325" b="0">
                <a:solidFill>
                  <a:srgbClr val="09253A"/>
                </a:solidFill>
                <a:latin typeface="Avenir Next"/>
                <a:ea typeface="Avenir Next"/>
                <a:cs typeface="Avenir Next"/>
              </a:defRPr>
            </a:lvl4pPr>
            <a:lvl5pPr>
              <a:buNone/>
              <a:defRPr sz="2325" b="0">
                <a:solidFill>
                  <a:srgbClr val="09253A"/>
                </a:solidFill>
                <a:latin typeface="Avenir Next"/>
                <a:ea typeface="Avenir Next"/>
                <a:cs typeface="Avenir Next"/>
              </a:defRPr>
            </a:lvl5pPr>
            <a:lvl6pPr>
              <a:buNone/>
              <a:defRPr sz="2325" b="0">
                <a:solidFill>
                  <a:srgbClr val="09253A"/>
                </a:solidFill>
                <a:latin typeface="Avenir Next"/>
                <a:ea typeface="Avenir Next"/>
                <a:cs typeface="Avenir Next"/>
              </a:defRPr>
            </a:lvl6pPr>
            <a:lvl7pPr>
              <a:buNone/>
              <a:defRPr sz="2325" b="0">
                <a:solidFill>
                  <a:srgbClr val="09253A"/>
                </a:solidFill>
                <a:latin typeface="Avenir Next"/>
                <a:ea typeface="Avenir Next"/>
                <a:cs typeface="Avenir Next"/>
              </a:defRPr>
            </a:lvl7pPr>
            <a:lvl8pPr>
              <a:buNone/>
              <a:defRPr sz="2325" b="0">
                <a:solidFill>
                  <a:srgbClr val="09253A"/>
                </a:solidFill>
                <a:latin typeface="Avenir Next"/>
                <a:ea typeface="Avenir Next"/>
                <a:cs typeface="Avenir Next"/>
              </a:defRPr>
            </a:lvl8pPr>
            <a:lvl9pPr>
              <a:buNone/>
              <a:defRPr sz="2325" b="0">
                <a:solidFill>
                  <a:srgbClr val="09253A"/>
                </a:solidFill>
                <a:latin typeface="Avenir Next"/>
                <a:ea typeface="Avenir Next"/>
                <a:cs typeface="Avenir Next"/>
              </a:defRPr>
            </a:lvl9pPr>
          </a:lstStyle>
          <a:p xmlns:a="http://schemas.openxmlformats.org/drawingml/2006/main">
            <a:pPr>
              <a:buNone/>
              <a:defRPr sz="2325" b="0">
                <a:solidFill>
                  <a:srgbClr val="09253A"/>
                </a:solidFill>
                <a:latin typeface="Avenir Next"/>
                <a:ea typeface="Avenir Next"/>
                <a:cs typeface="Avenir Next"/>
              </a:defRPr>
            </a:pPr>
            <a:r>
              <a:rPr sz="2325" b="0">
                <a:solidFill>
                  <a:srgbClr val="09253A"/>
                </a:solidFill>
                <a:latin typeface="Avenir Next"/>
                <a:ea typeface="Avenir Next"/>
                <a:cs typeface="Avenir Next"/>
              </a:rPr>
              <a:t>original predictors</a:t>
            </a:r>
          </a:p>
        </p:txBody>
      </p:sp>
      <p:sp>
        <p:nvSpPr>
          <p:cNvPr id="9" name="">
            <a:extLst xmlns:a="http://schemas.openxmlformats.org/drawingml/2006/main">
              <a:ext uri="{FF2B5EF4-FFF2-40B4-BE49-F238E27FC236}">
                <a16:creationId xmlns:a16="http://schemas.microsoft.com/office/drawing/2014/main" id="{B4069402-0C52-42C1-93BF-0D41206027D2}"/>
              </a:ext>
            </a:extLst>
          </p:cNvPr>
          <p:cNvSpPr>
            <a:spLocks xmlns:a="http://schemas.openxmlformats.org/drawingml/2006/main" noGrp="1"/>
          </p:cNvSpPr>
          <p:nvPr/>
        </p:nvSpPr>
        <p:spPr>
          <a:xfrm xmlns:a="http://schemas.openxmlformats.org/drawingml/2006/main">
            <a:off x="8763000" y="138112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850" b="1">
                <a:solidFill>
                  <a:srgbClr val="0D8B8B"/>
                </a:solidFill>
                <a:latin typeface="Avenir Next"/>
                <a:ea typeface="Avenir Next"/>
                <a:cs typeface="Avenir Next"/>
              </a:defRPr>
            </a:defPPr>
            <a:lvl1pPr>
              <a:buNone/>
              <a:defRPr sz="5850" b="1">
                <a:solidFill>
                  <a:srgbClr val="0D8B8B"/>
                </a:solidFill>
                <a:latin typeface="Avenir Next"/>
                <a:ea typeface="Avenir Next"/>
                <a:cs typeface="Avenir Next"/>
              </a:defRPr>
            </a:lvl1pPr>
            <a:lvl2pPr>
              <a:buNone/>
              <a:defRPr sz="5850" b="1">
                <a:solidFill>
                  <a:srgbClr val="0D8B8B"/>
                </a:solidFill>
                <a:latin typeface="Avenir Next"/>
                <a:ea typeface="Avenir Next"/>
                <a:cs typeface="Avenir Next"/>
              </a:defRPr>
            </a:lvl2pPr>
            <a:lvl3pPr>
              <a:buNone/>
              <a:defRPr sz="5850" b="1">
                <a:solidFill>
                  <a:srgbClr val="0D8B8B"/>
                </a:solidFill>
                <a:latin typeface="Avenir Next"/>
                <a:ea typeface="Avenir Next"/>
                <a:cs typeface="Avenir Next"/>
              </a:defRPr>
            </a:lvl3pPr>
            <a:lvl4pPr>
              <a:buNone/>
              <a:defRPr sz="5850" b="1">
                <a:solidFill>
                  <a:srgbClr val="0D8B8B"/>
                </a:solidFill>
                <a:latin typeface="Avenir Next"/>
                <a:ea typeface="Avenir Next"/>
                <a:cs typeface="Avenir Next"/>
              </a:defRPr>
            </a:lvl4pPr>
            <a:lvl5pPr>
              <a:buNone/>
              <a:defRPr sz="5850" b="1">
                <a:solidFill>
                  <a:srgbClr val="0D8B8B"/>
                </a:solidFill>
                <a:latin typeface="Avenir Next"/>
                <a:ea typeface="Avenir Next"/>
                <a:cs typeface="Avenir Next"/>
              </a:defRPr>
            </a:lvl5pPr>
            <a:lvl6pPr>
              <a:buNone/>
              <a:defRPr sz="5850" b="1">
                <a:solidFill>
                  <a:srgbClr val="0D8B8B"/>
                </a:solidFill>
                <a:latin typeface="Avenir Next"/>
                <a:ea typeface="Avenir Next"/>
                <a:cs typeface="Avenir Next"/>
              </a:defRPr>
            </a:lvl6pPr>
            <a:lvl7pPr>
              <a:buNone/>
              <a:defRPr sz="5850" b="1">
                <a:solidFill>
                  <a:srgbClr val="0D8B8B"/>
                </a:solidFill>
                <a:latin typeface="Avenir Next"/>
                <a:ea typeface="Avenir Next"/>
                <a:cs typeface="Avenir Next"/>
              </a:defRPr>
            </a:lvl7pPr>
            <a:lvl8pPr>
              <a:buNone/>
              <a:defRPr sz="5850" b="1">
                <a:solidFill>
                  <a:srgbClr val="0D8B8B"/>
                </a:solidFill>
                <a:latin typeface="Avenir Next"/>
                <a:ea typeface="Avenir Next"/>
                <a:cs typeface="Avenir Next"/>
              </a:defRPr>
            </a:lvl8pPr>
            <a:lvl9pPr>
              <a:buNone/>
              <a:defRPr sz="5850" b="1">
                <a:solidFill>
                  <a:srgbClr val="0D8B8B"/>
                </a:solidFill>
                <a:latin typeface="Avenir Next"/>
                <a:ea typeface="Avenir Next"/>
                <a:cs typeface="Avenir Next"/>
              </a:defRPr>
            </a:lvl9pPr>
          </a:lstStyle>
          <a:p xmlns:a="http://schemas.openxmlformats.org/drawingml/2006/main">
            <a:pPr>
              <a:buNone/>
              <a:defRPr sz="5850" b="1">
                <a:solidFill>
                  <a:srgbClr val="0D8B8B"/>
                </a:solidFill>
                <a:latin typeface="Avenir Next"/>
                <a:ea typeface="Avenir Next"/>
                <a:cs typeface="Avenir Next"/>
              </a:defRPr>
            </a:pPr>
            <a:r>
              <a:rPr sz="5850" b="1">
                <a:solidFill>
                  <a:srgbClr val="0D8B8B"/>
                </a:solidFill>
                <a:latin typeface="Avenir Next"/>
                <a:ea typeface="Avenir Next"/>
                <a:cs typeface="Avenir Next"/>
              </a:rPr>
              <a:t>2</a:t>
            </a:r>
          </a:p>
        </p:txBody>
      </p:sp>
      <p:sp>
        <p:nvSpPr>
          <p:cNvPr id="10" name="">
            <a:extLst xmlns:a="http://schemas.openxmlformats.org/drawingml/2006/main">
              <a:ext uri="{FF2B5EF4-FFF2-40B4-BE49-F238E27FC236}">
                <a16:creationId xmlns:a16="http://schemas.microsoft.com/office/drawing/2014/main" id="{0965028A-DDC9-4688-BFFA-832931C1B51C}"/>
              </a:ext>
            </a:extLst>
          </p:cNvPr>
          <p:cNvSpPr>
            <a:spLocks xmlns:a="http://schemas.openxmlformats.org/drawingml/2006/main" noGrp="1"/>
          </p:cNvSpPr>
          <p:nvPr/>
        </p:nvSpPr>
        <p:spPr>
          <a:xfrm xmlns:a="http://schemas.openxmlformats.org/drawingml/2006/main">
            <a:off x="8763000" y="233362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09253A"/>
                </a:solidFill>
                <a:latin typeface="Avenir Next"/>
                <a:ea typeface="Avenir Next"/>
                <a:cs typeface="Avenir Next"/>
              </a:defRPr>
            </a:defPPr>
            <a:lvl1pPr>
              <a:buNone/>
              <a:defRPr sz="2325" b="0">
                <a:solidFill>
                  <a:srgbClr val="09253A"/>
                </a:solidFill>
                <a:latin typeface="Avenir Next"/>
                <a:ea typeface="Avenir Next"/>
                <a:cs typeface="Avenir Next"/>
              </a:defRPr>
            </a:lvl1pPr>
            <a:lvl2pPr>
              <a:buNone/>
              <a:defRPr sz="2325" b="0">
                <a:solidFill>
                  <a:srgbClr val="09253A"/>
                </a:solidFill>
                <a:latin typeface="Avenir Next"/>
                <a:ea typeface="Avenir Next"/>
                <a:cs typeface="Avenir Next"/>
              </a:defRPr>
            </a:lvl2pPr>
            <a:lvl3pPr>
              <a:buNone/>
              <a:defRPr sz="2325" b="0">
                <a:solidFill>
                  <a:srgbClr val="09253A"/>
                </a:solidFill>
                <a:latin typeface="Avenir Next"/>
                <a:ea typeface="Avenir Next"/>
                <a:cs typeface="Avenir Next"/>
              </a:defRPr>
            </a:lvl3pPr>
            <a:lvl4pPr>
              <a:buNone/>
              <a:defRPr sz="2325" b="0">
                <a:solidFill>
                  <a:srgbClr val="09253A"/>
                </a:solidFill>
                <a:latin typeface="Avenir Next"/>
                <a:ea typeface="Avenir Next"/>
                <a:cs typeface="Avenir Next"/>
              </a:defRPr>
            </a:lvl4pPr>
            <a:lvl5pPr>
              <a:buNone/>
              <a:defRPr sz="2325" b="0">
                <a:solidFill>
                  <a:srgbClr val="09253A"/>
                </a:solidFill>
                <a:latin typeface="Avenir Next"/>
                <a:ea typeface="Avenir Next"/>
                <a:cs typeface="Avenir Next"/>
              </a:defRPr>
            </a:lvl5pPr>
            <a:lvl6pPr>
              <a:buNone/>
              <a:defRPr sz="2325" b="0">
                <a:solidFill>
                  <a:srgbClr val="09253A"/>
                </a:solidFill>
                <a:latin typeface="Avenir Next"/>
                <a:ea typeface="Avenir Next"/>
                <a:cs typeface="Avenir Next"/>
              </a:defRPr>
            </a:lvl6pPr>
            <a:lvl7pPr>
              <a:buNone/>
              <a:defRPr sz="2325" b="0">
                <a:solidFill>
                  <a:srgbClr val="09253A"/>
                </a:solidFill>
                <a:latin typeface="Avenir Next"/>
                <a:ea typeface="Avenir Next"/>
                <a:cs typeface="Avenir Next"/>
              </a:defRPr>
            </a:lvl7pPr>
            <a:lvl8pPr>
              <a:buNone/>
              <a:defRPr sz="2325" b="0">
                <a:solidFill>
                  <a:srgbClr val="09253A"/>
                </a:solidFill>
                <a:latin typeface="Avenir Next"/>
                <a:ea typeface="Avenir Next"/>
                <a:cs typeface="Avenir Next"/>
              </a:defRPr>
            </a:lvl8pPr>
            <a:lvl9pPr>
              <a:buNone/>
              <a:defRPr sz="2325" b="0">
                <a:solidFill>
                  <a:srgbClr val="09253A"/>
                </a:solidFill>
                <a:latin typeface="Avenir Next"/>
                <a:ea typeface="Avenir Next"/>
                <a:cs typeface="Avenir Next"/>
              </a:defRPr>
            </a:lvl9pPr>
          </a:lstStyle>
          <a:p xmlns:a="http://schemas.openxmlformats.org/drawingml/2006/main">
            <a:pPr>
              <a:buNone/>
              <a:defRPr sz="2325" b="0">
                <a:solidFill>
                  <a:srgbClr val="09253A"/>
                </a:solidFill>
                <a:latin typeface="Avenir Next"/>
                <a:ea typeface="Avenir Next"/>
                <a:cs typeface="Avenir Next"/>
              </a:defRPr>
            </a:pPr>
            <a:r>
              <a:rPr sz="2325" b="0">
                <a:solidFill>
                  <a:srgbClr val="09253A"/>
                </a:solidFill>
                <a:latin typeface="Avenir Next"/>
                <a:ea typeface="Avenir Next"/>
                <a:cs typeface="Avenir Next"/>
              </a:rPr>
              <a:t>outcome classes</a:t>
            </a:r>
          </a:p>
        </p:txBody>
      </p:sp>
      <p:sp>
        <p:nvSpPr>
          <p:cNvPr id="11" name="">
            <a:extLst xmlns:a="http://schemas.openxmlformats.org/drawingml/2006/main">
              <a:ext uri="{FF2B5EF4-FFF2-40B4-BE49-F238E27FC236}">
                <a16:creationId xmlns:a16="http://schemas.microsoft.com/office/drawing/2014/main" id="{08D97AAA-BC35-4DC9-99F1-08272F557005}"/>
              </a:ext>
            </a:extLst>
          </p:cNvPr>
          <p:cNvSpPr>
            <a:spLocks xmlns:a="http://schemas.openxmlformats.org/drawingml/2006/main" noGrp="1"/>
          </p:cNvSpPr>
          <p:nvPr/>
        </p:nvSpPr>
        <p:spPr>
          <a:xfrm xmlns:a="http://schemas.openxmlformats.org/drawingml/2006/main">
            <a:off x="619125" y="3476625"/>
            <a:ext cx="10953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D6D76"/>
                </a:solidFill>
                <a:latin typeface="Avenir Next"/>
                <a:ea typeface="Avenir Next"/>
                <a:cs typeface="Avenir Next"/>
              </a:defRPr>
            </a:defPPr>
            <a:lvl1pPr>
              <a:buNone/>
              <a:defRPr sz="2100" b="0">
                <a:solidFill>
                  <a:srgbClr val="5D6D76"/>
                </a:solidFill>
                <a:latin typeface="Avenir Next"/>
                <a:ea typeface="Avenir Next"/>
                <a:cs typeface="Avenir Next"/>
              </a:defRPr>
            </a:lvl1pPr>
            <a:lvl2pPr>
              <a:buNone/>
              <a:defRPr sz="2100" b="0">
                <a:solidFill>
                  <a:srgbClr val="5D6D76"/>
                </a:solidFill>
                <a:latin typeface="Avenir Next"/>
                <a:ea typeface="Avenir Next"/>
                <a:cs typeface="Avenir Next"/>
              </a:defRPr>
            </a:lvl2pPr>
            <a:lvl3pPr>
              <a:buNone/>
              <a:defRPr sz="2100" b="0">
                <a:solidFill>
                  <a:srgbClr val="5D6D76"/>
                </a:solidFill>
                <a:latin typeface="Avenir Next"/>
                <a:ea typeface="Avenir Next"/>
                <a:cs typeface="Avenir Next"/>
              </a:defRPr>
            </a:lvl3pPr>
            <a:lvl4pPr>
              <a:buNone/>
              <a:defRPr sz="2100" b="0">
                <a:solidFill>
                  <a:srgbClr val="5D6D76"/>
                </a:solidFill>
                <a:latin typeface="Avenir Next"/>
                <a:ea typeface="Avenir Next"/>
                <a:cs typeface="Avenir Next"/>
              </a:defRPr>
            </a:lvl4pPr>
            <a:lvl5pPr>
              <a:buNone/>
              <a:defRPr sz="2100" b="0">
                <a:solidFill>
                  <a:srgbClr val="5D6D76"/>
                </a:solidFill>
                <a:latin typeface="Avenir Next"/>
                <a:ea typeface="Avenir Next"/>
                <a:cs typeface="Avenir Next"/>
              </a:defRPr>
            </a:lvl5pPr>
            <a:lvl6pPr>
              <a:buNone/>
              <a:defRPr sz="2100" b="0">
                <a:solidFill>
                  <a:srgbClr val="5D6D76"/>
                </a:solidFill>
                <a:latin typeface="Avenir Next"/>
                <a:ea typeface="Avenir Next"/>
                <a:cs typeface="Avenir Next"/>
              </a:defRPr>
            </a:lvl6pPr>
            <a:lvl7pPr>
              <a:buNone/>
              <a:defRPr sz="2100" b="0">
                <a:solidFill>
                  <a:srgbClr val="5D6D76"/>
                </a:solidFill>
                <a:latin typeface="Avenir Next"/>
                <a:ea typeface="Avenir Next"/>
                <a:cs typeface="Avenir Next"/>
              </a:defRPr>
            </a:lvl7pPr>
            <a:lvl8pPr>
              <a:buNone/>
              <a:defRPr sz="2100" b="0">
                <a:solidFill>
                  <a:srgbClr val="5D6D76"/>
                </a:solidFill>
                <a:latin typeface="Avenir Next"/>
                <a:ea typeface="Avenir Next"/>
                <a:cs typeface="Avenir Next"/>
              </a:defRPr>
            </a:lvl8pPr>
            <a:lvl9pPr>
              <a:buNone/>
              <a:defRPr sz="2100" b="0">
                <a:solidFill>
                  <a:srgbClr val="5D6D76"/>
                </a:solidFill>
                <a:latin typeface="Avenir Next"/>
                <a:ea typeface="Avenir Next"/>
                <a:cs typeface="Avenir Next"/>
              </a:defRPr>
            </a:lvl9pPr>
          </a:lstStyle>
          <a:p xmlns:a="http://schemas.openxmlformats.org/drawingml/2006/main">
            <a:pPr>
              <a:buNone/>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heart_disease: 150 absent, 120 present</a:t>
            </a:r>
          </a:p>
        </p:txBody>
      </p:sp>
      <p:sp>
        <p:nvSpPr>
          <p:cNvPr id="12" name="">
            <a:extLst xmlns:a="http://schemas.openxmlformats.org/drawingml/2006/main">
              <a:ext uri="{FF2B5EF4-FFF2-40B4-BE49-F238E27FC236}">
                <a16:creationId xmlns:a16="http://schemas.microsoft.com/office/drawing/2014/main" id="{69513EA1-0EFD-41AF-8733-C025997AAB62}"/>
              </a:ext>
            </a:extLst>
          </p:cNvPr>
          <p:cNvSpPr>
            <a:spLocks xmlns:a="http://schemas.openxmlformats.org/drawingml/2006/main" noGrp="1"/>
          </p:cNvSpPr>
          <p:nvPr/>
        </p:nvSpPr>
        <p:spPr>
          <a:xfrm xmlns:a="http://schemas.openxmlformats.org/drawingml/2006/main">
            <a:off x="619125" y="4286250"/>
            <a:ext cx="10953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D6D76"/>
                </a:solidFill>
                <a:latin typeface="Avenir Next"/>
                <a:ea typeface="Avenir Next"/>
                <a:cs typeface="Avenir Next"/>
              </a:defRPr>
            </a:defPPr>
            <a:lvl1pPr>
              <a:buNone/>
              <a:defRPr sz="2100" b="0">
                <a:solidFill>
                  <a:srgbClr val="5D6D76"/>
                </a:solidFill>
                <a:latin typeface="Avenir Next"/>
                <a:ea typeface="Avenir Next"/>
                <a:cs typeface="Avenir Next"/>
              </a:defRPr>
            </a:lvl1pPr>
            <a:lvl2pPr>
              <a:buNone/>
              <a:defRPr sz="2100" b="0">
                <a:solidFill>
                  <a:srgbClr val="5D6D76"/>
                </a:solidFill>
                <a:latin typeface="Avenir Next"/>
                <a:ea typeface="Avenir Next"/>
                <a:cs typeface="Avenir Next"/>
              </a:defRPr>
            </a:lvl2pPr>
            <a:lvl3pPr>
              <a:buNone/>
              <a:defRPr sz="2100" b="0">
                <a:solidFill>
                  <a:srgbClr val="5D6D76"/>
                </a:solidFill>
                <a:latin typeface="Avenir Next"/>
                <a:ea typeface="Avenir Next"/>
                <a:cs typeface="Avenir Next"/>
              </a:defRPr>
            </a:lvl3pPr>
            <a:lvl4pPr>
              <a:buNone/>
              <a:defRPr sz="2100" b="0">
                <a:solidFill>
                  <a:srgbClr val="5D6D76"/>
                </a:solidFill>
                <a:latin typeface="Avenir Next"/>
                <a:ea typeface="Avenir Next"/>
                <a:cs typeface="Avenir Next"/>
              </a:defRPr>
            </a:lvl4pPr>
            <a:lvl5pPr>
              <a:buNone/>
              <a:defRPr sz="2100" b="0">
                <a:solidFill>
                  <a:srgbClr val="5D6D76"/>
                </a:solidFill>
                <a:latin typeface="Avenir Next"/>
                <a:ea typeface="Avenir Next"/>
                <a:cs typeface="Avenir Next"/>
              </a:defRPr>
            </a:lvl5pPr>
            <a:lvl6pPr>
              <a:buNone/>
              <a:defRPr sz="2100" b="0">
                <a:solidFill>
                  <a:srgbClr val="5D6D76"/>
                </a:solidFill>
                <a:latin typeface="Avenir Next"/>
                <a:ea typeface="Avenir Next"/>
                <a:cs typeface="Avenir Next"/>
              </a:defRPr>
            </a:lvl6pPr>
            <a:lvl7pPr>
              <a:buNone/>
              <a:defRPr sz="2100" b="0">
                <a:solidFill>
                  <a:srgbClr val="5D6D76"/>
                </a:solidFill>
                <a:latin typeface="Avenir Next"/>
                <a:ea typeface="Avenir Next"/>
                <a:cs typeface="Avenir Next"/>
              </a:defRPr>
            </a:lvl7pPr>
            <a:lvl8pPr>
              <a:buNone/>
              <a:defRPr sz="2100" b="0">
                <a:solidFill>
                  <a:srgbClr val="5D6D76"/>
                </a:solidFill>
                <a:latin typeface="Avenir Next"/>
                <a:ea typeface="Avenir Next"/>
                <a:cs typeface="Avenir Next"/>
              </a:defRPr>
            </a:lvl8pPr>
            <a:lvl9pPr>
              <a:buNone/>
              <a:defRPr sz="2100" b="0">
                <a:solidFill>
                  <a:srgbClr val="5D6D76"/>
                </a:solidFill>
                <a:latin typeface="Avenir Next"/>
                <a:ea typeface="Avenir Next"/>
                <a:cs typeface="Avenir Next"/>
              </a:defRPr>
            </a:lvl9pPr>
          </a:lstStyle>
          <a:p xmlns:a="http://schemas.openxmlformats.org/drawingml/2006/main">
            <a:pPr>
              <a:buNone/>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Examples: age, chest pain, cholesterol, exercise measurements</a:t>
            </a:r>
          </a:p>
        </p:txBody>
      </p:sp>
      <p:sp>
        <p:nvSpPr>
          <p:cNvPr id="13" name="">
            <a:extLst xmlns:a="http://schemas.openxmlformats.org/drawingml/2006/main">
              <a:ext uri="{FF2B5EF4-FFF2-40B4-BE49-F238E27FC236}">
                <a16:creationId xmlns:a16="http://schemas.microsoft.com/office/drawing/2014/main" id="{D7D4107F-688C-44E9-938C-5E0CE221EE5B}"/>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Checkpoint: What does one row represent? Which column is the outcome?</a:t>
            </a:r>
          </a:p>
        </p:txBody>
      </p:sp>
    </p:spTree>
    <p:extLst>
      <p:ext uri="{BB962C8B-B14F-4D97-AF65-F5344CB8AC3E}">
        <p14:creationId xmlns:p14="http://schemas.microsoft.com/office/powerpoint/2010/main" val="6125917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601B2DE-926F-4E48-887F-719042C21119}"/>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04</a:t>
            </a:r>
          </a:p>
        </p:txBody>
      </p:sp>
      <p:sp>
        <p:nvSpPr>
          <p:cNvPr id="2" name="">
            <a:extLst xmlns:a="http://schemas.openxmlformats.org/drawingml/2006/main">
              <a:ext uri="{FF2B5EF4-FFF2-40B4-BE49-F238E27FC236}">
                <a16:creationId xmlns:a16="http://schemas.microsoft.com/office/drawing/2014/main" id="{8D2C97A2-98D7-46D3-B0AA-5D0D4677ED4F}"/>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Saved random forest results</a:t>
            </a:r>
          </a:p>
        </p:txBody>
      </p:sp>
      <p:sp>
        <p:nvSpPr>
          <p:cNvPr id="3" name="">
            <a:extLst xmlns:a="http://schemas.openxmlformats.org/drawingml/2006/main">
              <a:ext uri="{FF2B5EF4-FFF2-40B4-BE49-F238E27FC236}">
                <a16:creationId xmlns:a16="http://schemas.microsoft.com/office/drawing/2014/main" id="{BEDFE875-ACE1-410D-A7B6-EB9BC147E2C3}"/>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0034C852-0290-4178-8507-1083CA375215}"/>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sp>
        <p:nvSpPr>
          <p:cNvPr id="5" name="">
            <a:extLst xmlns:a="http://schemas.openxmlformats.org/drawingml/2006/main">
              <a:ext uri="{FF2B5EF4-FFF2-40B4-BE49-F238E27FC236}">
                <a16:creationId xmlns:a16="http://schemas.microsoft.com/office/drawing/2014/main" id="{3078DC8E-A68F-494A-AA87-AFC9555E480B}"/>
              </a:ext>
            </a:extLst>
          </p:cNvPr>
          <p:cNvSpPr>
            <a:spLocks xmlns:a="http://schemas.openxmlformats.org/drawingml/2006/main" noGrp="1"/>
          </p:cNvSpPr>
          <p:nvPr/>
        </p:nvSpPr>
        <p:spPr>
          <a:xfrm xmlns:a="http://schemas.openxmlformats.org/drawingml/2006/main">
            <a:off x="619125" y="13811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09253A"/>
                </a:solidFill>
                <a:latin typeface="Avenir Next"/>
                <a:ea typeface="Avenir Next"/>
                <a:cs typeface="Avenir Next"/>
              </a:defRPr>
            </a:defPPr>
            <a:lvl1pPr>
              <a:buNone/>
              <a:defRPr sz="3150" b="1">
                <a:solidFill>
                  <a:srgbClr val="09253A"/>
                </a:solidFill>
                <a:latin typeface="Avenir Next"/>
                <a:ea typeface="Avenir Next"/>
                <a:cs typeface="Avenir Next"/>
              </a:defRPr>
            </a:lvl1pPr>
            <a:lvl2pPr>
              <a:buNone/>
              <a:defRPr sz="3150" b="1">
                <a:solidFill>
                  <a:srgbClr val="09253A"/>
                </a:solidFill>
                <a:latin typeface="Avenir Next"/>
                <a:ea typeface="Avenir Next"/>
                <a:cs typeface="Avenir Next"/>
              </a:defRPr>
            </a:lvl2pPr>
            <a:lvl3pPr>
              <a:buNone/>
              <a:defRPr sz="3150" b="1">
                <a:solidFill>
                  <a:srgbClr val="09253A"/>
                </a:solidFill>
                <a:latin typeface="Avenir Next"/>
                <a:ea typeface="Avenir Next"/>
                <a:cs typeface="Avenir Next"/>
              </a:defRPr>
            </a:lvl3pPr>
            <a:lvl4pPr>
              <a:buNone/>
              <a:defRPr sz="3150" b="1">
                <a:solidFill>
                  <a:srgbClr val="09253A"/>
                </a:solidFill>
                <a:latin typeface="Avenir Next"/>
                <a:ea typeface="Avenir Next"/>
                <a:cs typeface="Avenir Next"/>
              </a:defRPr>
            </a:lvl4pPr>
            <a:lvl5pPr>
              <a:buNone/>
              <a:defRPr sz="3150" b="1">
                <a:solidFill>
                  <a:srgbClr val="09253A"/>
                </a:solidFill>
                <a:latin typeface="Avenir Next"/>
                <a:ea typeface="Avenir Next"/>
                <a:cs typeface="Avenir Next"/>
              </a:defRPr>
            </a:lvl5pPr>
            <a:lvl6pPr>
              <a:buNone/>
              <a:defRPr sz="3150" b="1">
                <a:solidFill>
                  <a:srgbClr val="09253A"/>
                </a:solidFill>
                <a:latin typeface="Avenir Next"/>
                <a:ea typeface="Avenir Next"/>
                <a:cs typeface="Avenir Next"/>
              </a:defRPr>
            </a:lvl6pPr>
            <a:lvl7pPr>
              <a:buNone/>
              <a:defRPr sz="3150" b="1">
                <a:solidFill>
                  <a:srgbClr val="09253A"/>
                </a:solidFill>
                <a:latin typeface="Avenir Next"/>
                <a:ea typeface="Avenir Next"/>
                <a:cs typeface="Avenir Next"/>
              </a:defRPr>
            </a:lvl7pPr>
            <a:lvl8pPr>
              <a:buNone/>
              <a:defRPr sz="3150" b="1">
                <a:solidFill>
                  <a:srgbClr val="09253A"/>
                </a:solidFill>
                <a:latin typeface="Avenir Next"/>
                <a:ea typeface="Avenir Next"/>
                <a:cs typeface="Avenir Next"/>
              </a:defRPr>
            </a:lvl8pPr>
            <a:lvl9pPr>
              <a:buNone/>
              <a:defRPr sz="3150" b="1">
                <a:solidFill>
                  <a:srgbClr val="09253A"/>
                </a:solidFill>
                <a:latin typeface="Avenir Next"/>
                <a:ea typeface="Avenir Next"/>
                <a:cs typeface="Avenir Next"/>
              </a:defRPr>
            </a:lvl9pPr>
          </a:lstStyle>
          <a:p xmlns:a="http://schemas.openxmlformats.org/drawingml/2006/main">
            <a:pPr>
              <a:buNone/>
              <a:defRPr sz="3150" b="1">
                <a:solidFill>
                  <a:srgbClr val="09253A"/>
                </a:solidFill>
                <a:latin typeface="Avenir Next"/>
                <a:ea typeface="Avenir Next"/>
                <a:cs typeface="Avenir Next"/>
              </a:defRPr>
            </a:pPr>
            <a:r>
              <a:rPr sz="3150" b="1">
                <a:solidFill>
                  <a:srgbClr val="09253A"/>
                </a:solidFill>
                <a:latin typeface="Avenir Next"/>
                <a:ea typeface="Avenir Next"/>
                <a:cs typeface="Avenir Next"/>
              </a:rPr>
              <a:t>270 patients</a:t>
            </a:r>
          </a:p>
        </p:txBody>
      </p:sp>
      <p:graphicFrame>
        <p:nvGraphicFramePr>
          <p:cNvPr id="6" name="">
            <a:extLst xmlns:a="http://schemas.openxmlformats.org/drawingml/2006/main">
              <a:ext uri="{FF2B5EF4-FFF2-40B4-BE49-F238E27FC236}">
                <a16:creationId xmlns:a16="http://schemas.microsoft.com/office/drawing/2014/main" id="{E8F8C92A-67DB-4693-9F93-19890DD4B7EF}"/>
              </a:ext>
            </a:extLst>
          </p:cNvPr>
          <p:cNvGraphicFramePr/>
          <p:nvPr/>
        </p:nvGraphicFramePr>
        <p:xfrm>
          <a:off xmlns:a="http://schemas.openxmlformats.org/drawingml/2006/main" x="619125" y="2333625"/>
          <a:ext xmlns:a="http://schemas.openxmlformats.org/drawingml/2006/main" cx="10953750" cy="2524125"/>
        </p:xfrm>
        <a:graphic xmlns:a="http://schemas.openxmlformats.org/drawingml/2006/main">
          <a:graphicData uri="http://schemas.openxmlformats.org/drawingml/2006/table">
            <a:tbl>
              <a:tblPr/>
              <a:tblGrid>
                <a:gridCol w="5476875"/>
                <a:gridCol w="5476875"/>
              </a:tblGrid>
              <a:tr h="841375">
                <a:tc>
                  <a:txBody>
                    <a:bodyPr/>
                    <a:lstStyle/>
                    <a:p>
                      <a:r>
                        <a:rPr sz="1800" b="1">
                          <a:solidFill>
                            <a:srgbClr val="FFFFFF"/>
                          </a:solidFill>
                          <a:latin typeface="Avenir Next"/>
                          <a:ea typeface="Avenir Next"/>
                          <a:cs typeface="Avenir Next"/>
                        </a:rPr>
                        <a:t>180 training patients</a:t>
                      </a:r>
                    </a:p>
                  </a:txBody>
                  <a:tcPr marL="91440" marR="91440" marT="45720" marB="45720">
                    <a:solidFill>
                      <a:srgbClr val="09253A"/>
                    </a:solidFill>
                  </a:tcPr>
                </a:tc>
                <a:tc>
                  <a:txBody>
                    <a:bodyPr/>
                    <a:lstStyle/>
                    <a:p>
                      <a:r>
                        <a:rPr sz="1800" b="1">
                          <a:solidFill>
                            <a:srgbClr val="FFFFFF"/>
                          </a:solidFill>
                          <a:latin typeface="Avenir Next"/>
                          <a:ea typeface="Avenir Next"/>
                          <a:cs typeface="Avenir Next"/>
                        </a:rPr>
                        <a:t>90 test patients</a:t>
                      </a:r>
                    </a:p>
                  </a:txBody>
                  <a:tcPr marL="91440" marR="91440" marT="45720" marB="45720">
                    <a:solidFill>
                      <a:srgbClr val="09253A"/>
                    </a:solidFill>
                  </a:tcPr>
                </a:tc>
              </a:tr>
              <a:tr h="841375">
                <a:tc>
                  <a:txBody>
                    <a:bodyPr/>
                    <a:lstStyle/>
                    <a:p>
                      <a:r>
                        <a:rPr sz="1800" b="0">
                          <a:solidFill>
                            <a:srgbClr val="09253A"/>
                          </a:solidFill>
                          <a:latin typeface="Avenir Next"/>
                          <a:ea typeface="Avenir Next"/>
                          <a:cs typeface="Avenir Next"/>
                        </a:rPr>
                        <a:t>The forest learned from these rows</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These rows were kept aside</a:t>
                      </a:r>
                    </a:p>
                  </a:txBody>
                  <a:tcPr marL="91440" marR="91440" marT="45720" marB="45720">
                    <a:solidFill>
                      <a:srgbClr val="F7F2E8"/>
                    </a:solidFill>
                  </a:tcPr>
                </a:tc>
              </a:tr>
              <a:tr h="841375">
                <a:tc>
                  <a:txBody>
                    <a:bodyPr/>
                    <a:lstStyle/>
                    <a:p>
                      <a:r>
                        <a:rPr sz="1800" b="0">
                          <a:solidFill>
                            <a:srgbClr val="09253A"/>
                          </a:solidFill>
                          <a:latin typeface="Avenir Next"/>
                          <a:ea typeface="Avenir Next"/>
                          <a:cs typeface="Avenir Next"/>
                        </a:rPr>
                        <a:t>Training is already complete</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Read the saved predictions today</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452FBA4-AC6B-47B2-BE79-6853BFAE7979}"/>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Use the saved results today. We will not fit another random forest.</a:t>
            </a:r>
          </a:p>
        </p:txBody>
      </p:sp>
    </p:spTree>
    <p:extLst>
      <p:ext uri="{BB962C8B-B14F-4D97-AF65-F5344CB8AC3E}">
        <p14:creationId xmlns:p14="http://schemas.microsoft.com/office/powerpoint/2010/main" val="14460101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B1CA53-B5A2-4BDD-BF58-DC557FB68A11}"/>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05</a:t>
            </a:r>
          </a:p>
        </p:txBody>
      </p:sp>
      <p:sp>
        <p:nvSpPr>
          <p:cNvPr id="2" name="">
            <a:extLst xmlns:a="http://schemas.openxmlformats.org/drawingml/2006/main">
              <a:ext uri="{FF2B5EF4-FFF2-40B4-BE49-F238E27FC236}">
                <a16:creationId xmlns:a16="http://schemas.microsoft.com/office/drawing/2014/main" id="{D8D577D3-21AF-4EC4-AAF6-B98C01959143}"/>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Correct predictions and mistakes</a:t>
            </a:r>
          </a:p>
        </p:txBody>
      </p:sp>
      <p:sp>
        <p:nvSpPr>
          <p:cNvPr id="3" name="">
            <a:extLst xmlns:a="http://schemas.openxmlformats.org/drawingml/2006/main">
              <a:ext uri="{FF2B5EF4-FFF2-40B4-BE49-F238E27FC236}">
                <a16:creationId xmlns:a16="http://schemas.microsoft.com/office/drawing/2014/main" id="{03038425-A300-46E9-8DB9-01BFCC3567DA}"/>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DEBABD26-5B2C-4C44-9BCD-BE6B6DD7041D}"/>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graphicFrame>
        <p:nvGraphicFramePr>
          <p:cNvPr id="5" name="">
            <a:extLst xmlns:a="http://schemas.openxmlformats.org/drawingml/2006/main">
              <a:ext uri="{FF2B5EF4-FFF2-40B4-BE49-F238E27FC236}">
                <a16:creationId xmlns:a16="http://schemas.microsoft.com/office/drawing/2014/main" id="{5C5173C7-E256-473E-AF08-0CCEF1A57B45}"/>
              </a:ext>
            </a:extLst>
          </p:cNvPr>
          <p:cNvGraphicFramePr/>
          <p:nvPr/>
        </p:nvGraphicFramePr>
        <p:xfrm>
          <a:off xmlns:a="http://schemas.openxmlformats.org/drawingml/2006/main" x="619125" y="1524000"/>
          <a:ext xmlns:a="http://schemas.openxmlformats.org/drawingml/2006/main" cx="10953750" cy="2857500"/>
        </p:xfrm>
        <a:graphic xmlns:a="http://schemas.openxmlformats.org/drawingml/2006/main">
          <a:graphicData uri="http://schemas.openxmlformats.org/drawingml/2006/table">
            <a:tbl>
              <a:tblPr/>
              <a:tblGrid>
                <a:gridCol w="3651250"/>
                <a:gridCol w="3651250"/>
                <a:gridCol w="3651250"/>
              </a:tblGrid>
              <a:tr h="952500">
                <a:tc>
                  <a:txBody>
                    <a:bodyPr/>
                    <a:lstStyle/>
                    <a:p>
                      <a:r>
                        <a:rPr sz="1800" b="1">
                          <a:solidFill>
                            <a:srgbClr val="FFFFFF"/>
                          </a:solidFill>
                          <a:latin typeface="Avenir Next"/>
                          <a:ea typeface="Avenir Next"/>
                          <a:cs typeface="Avenir Next"/>
                        </a:rPr>
                        <a:t>Observed outcome</a:t>
                      </a:r>
                    </a:p>
                  </a:txBody>
                  <a:tcPr marL="91440" marR="91440" marT="45720" marB="45720">
                    <a:solidFill>
                      <a:srgbClr val="09253A"/>
                    </a:solidFill>
                  </a:tcPr>
                </a:tc>
                <a:tc>
                  <a:txBody>
                    <a:bodyPr/>
                    <a:lstStyle/>
                    <a:p>
                      <a:r>
                        <a:rPr sz="1800" b="1">
                          <a:solidFill>
                            <a:srgbClr val="FFFFFF"/>
                          </a:solidFill>
                          <a:latin typeface="Avenir Next"/>
                          <a:ea typeface="Avenir Next"/>
                          <a:cs typeface="Avenir Next"/>
                        </a:rPr>
                        <a:t>Predicted present</a:t>
                      </a:r>
                    </a:p>
                  </a:txBody>
                  <a:tcPr marL="91440" marR="91440" marT="45720" marB="45720">
                    <a:solidFill>
                      <a:srgbClr val="09253A"/>
                    </a:solidFill>
                  </a:tcPr>
                </a:tc>
                <a:tc>
                  <a:txBody>
                    <a:bodyPr/>
                    <a:lstStyle/>
                    <a:p>
                      <a:r>
                        <a:rPr sz="1800" b="1">
                          <a:solidFill>
                            <a:srgbClr val="FFFFFF"/>
                          </a:solidFill>
                          <a:latin typeface="Avenir Next"/>
                          <a:ea typeface="Avenir Next"/>
                          <a:cs typeface="Avenir Next"/>
                        </a:rPr>
                        <a:t>Predicted absent</a:t>
                      </a:r>
                    </a:p>
                  </a:txBody>
                  <a:tcPr marL="91440" marR="91440" marT="45720" marB="45720">
                    <a:solidFill>
                      <a:srgbClr val="09253A"/>
                    </a:solidFill>
                  </a:tcPr>
                </a:tc>
              </a:tr>
              <a:tr h="952500">
                <a:tc>
                  <a:txBody>
                    <a:bodyPr/>
                    <a:lstStyle/>
                    <a:p>
                      <a:r>
                        <a:rPr sz="1800" b="0">
                          <a:solidFill>
                            <a:srgbClr val="09253A"/>
                          </a:solidFill>
                          <a:latin typeface="Avenir Next"/>
                          <a:ea typeface="Avenir Next"/>
                          <a:cs typeface="Avenir Next"/>
                        </a:rPr>
                        <a:t>Present</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30 true positives</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7 false negatives</a:t>
                      </a:r>
                    </a:p>
                  </a:txBody>
                  <a:tcPr marL="91440" marR="91440" marT="45720" marB="45720">
                    <a:solidFill>
                      <a:srgbClr val="F7F2E8"/>
                    </a:solidFill>
                  </a:tcPr>
                </a:tc>
              </a:tr>
              <a:tr h="952500">
                <a:tc>
                  <a:txBody>
                    <a:bodyPr/>
                    <a:lstStyle/>
                    <a:p>
                      <a:r>
                        <a:rPr sz="1800" b="0">
                          <a:solidFill>
                            <a:srgbClr val="09253A"/>
                          </a:solidFill>
                          <a:latin typeface="Avenir Next"/>
                          <a:ea typeface="Avenir Next"/>
                          <a:cs typeface="Avenir Next"/>
                        </a:rPr>
                        <a:t>Absent</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8 false positives</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45 true negatives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EF169CC-327E-4121-81C0-777B46755FE4}"/>
              </a:ext>
            </a:extLst>
          </p:cNvPr>
          <p:cNvSpPr>
            <a:spLocks xmlns:a="http://schemas.openxmlformats.org/drawingml/2006/main" noGrp="1"/>
          </p:cNvSpPr>
          <p:nvPr/>
        </p:nvSpPr>
        <p:spPr>
          <a:xfrm xmlns:a="http://schemas.openxmlformats.org/drawingml/2006/main">
            <a:off x="619125" y="46672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D6D76"/>
                </a:solidFill>
                <a:latin typeface="Avenir Next"/>
                <a:ea typeface="Avenir Next"/>
                <a:cs typeface="Avenir Next"/>
              </a:defRPr>
            </a:defPPr>
            <a:lvl1pPr>
              <a:buNone/>
              <a:defRPr sz="1875" b="0">
                <a:solidFill>
                  <a:srgbClr val="5D6D76"/>
                </a:solidFill>
                <a:latin typeface="Avenir Next"/>
                <a:ea typeface="Avenir Next"/>
                <a:cs typeface="Avenir Next"/>
              </a:defRPr>
            </a:lvl1pPr>
            <a:lvl2pPr>
              <a:buNone/>
              <a:defRPr sz="1875" b="0">
                <a:solidFill>
                  <a:srgbClr val="5D6D76"/>
                </a:solidFill>
                <a:latin typeface="Avenir Next"/>
                <a:ea typeface="Avenir Next"/>
                <a:cs typeface="Avenir Next"/>
              </a:defRPr>
            </a:lvl2pPr>
            <a:lvl3pPr>
              <a:buNone/>
              <a:defRPr sz="1875" b="0">
                <a:solidFill>
                  <a:srgbClr val="5D6D76"/>
                </a:solidFill>
                <a:latin typeface="Avenir Next"/>
                <a:ea typeface="Avenir Next"/>
                <a:cs typeface="Avenir Next"/>
              </a:defRPr>
            </a:lvl3pPr>
            <a:lvl4pPr>
              <a:buNone/>
              <a:defRPr sz="1875" b="0">
                <a:solidFill>
                  <a:srgbClr val="5D6D76"/>
                </a:solidFill>
                <a:latin typeface="Avenir Next"/>
                <a:ea typeface="Avenir Next"/>
                <a:cs typeface="Avenir Next"/>
              </a:defRPr>
            </a:lvl4pPr>
            <a:lvl5pPr>
              <a:buNone/>
              <a:defRPr sz="1875" b="0">
                <a:solidFill>
                  <a:srgbClr val="5D6D76"/>
                </a:solidFill>
                <a:latin typeface="Avenir Next"/>
                <a:ea typeface="Avenir Next"/>
                <a:cs typeface="Avenir Next"/>
              </a:defRPr>
            </a:lvl5pPr>
            <a:lvl6pPr>
              <a:buNone/>
              <a:defRPr sz="1875" b="0">
                <a:solidFill>
                  <a:srgbClr val="5D6D76"/>
                </a:solidFill>
                <a:latin typeface="Avenir Next"/>
                <a:ea typeface="Avenir Next"/>
                <a:cs typeface="Avenir Next"/>
              </a:defRPr>
            </a:lvl6pPr>
            <a:lvl7pPr>
              <a:buNone/>
              <a:defRPr sz="1875" b="0">
                <a:solidFill>
                  <a:srgbClr val="5D6D76"/>
                </a:solidFill>
                <a:latin typeface="Avenir Next"/>
                <a:ea typeface="Avenir Next"/>
                <a:cs typeface="Avenir Next"/>
              </a:defRPr>
            </a:lvl7pPr>
            <a:lvl8pPr>
              <a:buNone/>
              <a:defRPr sz="1875" b="0">
                <a:solidFill>
                  <a:srgbClr val="5D6D76"/>
                </a:solidFill>
                <a:latin typeface="Avenir Next"/>
                <a:ea typeface="Avenir Next"/>
                <a:cs typeface="Avenir Next"/>
              </a:defRPr>
            </a:lvl8pPr>
            <a:lvl9pPr>
              <a:buNone/>
              <a:defRPr sz="1875" b="0">
                <a:solidFill>
                  <a:srgbClr val="5D6D76"/>
                </a:solidFill>
                <a:latin typeface="Avenir Next"/>
                <a:ea typeface="Avenir Next"/>
                <a:cs typeface="Avenir Next"/>
              </a:defRPr>
            </a:lvl9pPr>
          </a:lstStyle>
          <a:p xmlns:a="http://schemas.openxmlformats.org/drawingml/2006/main">
            <a:pPr>
              <a:buNone/>
              <a:defRPr sz="1875" b="0">
                <a:solidFill>
                  <a:srgbClr val="5D6D76"/>
                </a:solidFill>
                <a:latin typeface="Avenir Next"/>
                <a:ea typeface="Avenir Next"/>
                <a:cs typeface="Avenir Next"/>
              </a:defRPr>
            </a:pPr>
            <a:r>
              <a:rPr sz="1875" b="0">
                <a:solidFill>
                  <a:srgbClr val="5D6D76"/>
                </a:solidFill>
                <a:latin typeface="Avenir Next"/>
                <a:ea typeface="Avenir Next"/>
                <a:cs typeface="Avenir Next"/>
              </a:rPr>
              <a:t>False positive: predicts disease for a patient whose outcome is absent.</a:t>
            </a:r>
          </a:p>
        </p:txBody>
      </p:sp>
      <p:sp>
        <p:nvSpPr>
          <p:cNvPr id="7" name="">
            <a:extLst xmlns:a="http://schemas.openxmlformats.org/drawingml/2006/main">
              <a:ext uri="{FF2B5EF4-FFF2-40B4-BE49-F238E27FC236}">
                <a16:creationId xmlns:a16="http://schemas.microsoft.com/office/drawing/2014/main" id="{7824B39C-1306-4FE9-A4A1-136FCC44CB75}"/>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Discuss: what could a missed case or a false alarm mean for a patient?</a:t>
            </a:r>
          </a:p>
        </p:txBody>
      </p:sp>
    </p:spTree>
    <p:extLst>
      <p:ext uri="{BB962C8B-B14F-4D97-AF65-F5344CB8AC3E}">
        <p14:creationId xmlns:p14="http://schemas.microsoft.com/office/powerpoint/2010/main" val="18549481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C9DD994-834E-41FF-8A89-19F04526AE80}"/>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06</a:t>
            </a:r>
          </a:p>
        </p:txBody>
      </p:sp>
      <p:sp>
        <p:nvSpPr>
          <p:cNvPr id="2" name="">
            <a:extLst xmlns:a="http://schemas.openxmlformats.org/drawingml/2006/main">
              <a:ext uri="{FF2B5EF4-FFF2-40B4-BE49-F238E27FC236}">
                <a16:creationId xmlns:a16="http://schemas.microsoft.com/office/drawing/2014/main" id="{E3099DC5-A165-4074-B28C-CFF053AC40D2}"/>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Accuracy, sensitivity and specificity</a:t>
            </a:r>
          </a:p>
        </p:txBody>
      </p:sp>
      <p:sp>
        <p:nvSpPr>
          <p:cNvPr id="3" name="">
            <a:extLst xmlns:a="http://schemas.openxmlformats.org/drawingml/2006/main">
              <a:ext uri="{FF2B5EF4-FFF2-40B4-BE49-F238E27FC236}">
                <a16:creationId xmlns:a16="http://schemas.microsoft.com/office/drawing/2014/main" id="{9B4D81B4-ECBF-4200-B751-3A237BE97D5F}"/>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A969810E-747C-4510-B587-E71B4C45CB8B}"/>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graphicFrame>
        <p:nvGraphicFramePr>
          <p:cNvPr id="5" name="">
            <a:extLst xmlns:a="http://schemas.openxmlformats.org/drawingml/2006/main">
              <a:ext uri="{FF2B5EF4-FFF2-40B4-BE49-F238E27FC236}">
                <a16:creationId xmlns:a16="http://schemas.microsoft.com/office/drawing/2014/main" id="{300A1692-D4D0-4D3F-9854-D75DF9A50864}"/>
              </a:ext>
            </a:extLst>
          </p:cNvPr>
          <p:cNvGraphicFramePr/>
          <p:nvPr/>
        </p:nvGraphicFramePr>
        <p:xfrm>
          <a:off xmlns:a="http://schemas.openxmlformats.org/drawingml/2006/main" x="571500" y="1285875"/>
          <a:ext xmlns:a="http://schemas.openxmlformats.org/drawingml/2006/main" cx="11049000" cy="2635252"/>
        </p:xfrm>
        <a:graphic xmlns:a="http://schemas.openxmlformats.org/drawingml/2006/main">
          <a:graphicData uri="http://schemas.openxmlformats.org/drawingml/2006/table">
            <a:tbl>
              <a:tblPr/>
              <a:tblGrid>
                <a:gridCol w="3683000"/>
                <a:gridCol w="3683000"/>
                <a:gridCol w="3683000"/>
              </a:tblGrid>
              <a:tr h="658813">
                <a:tc>
                  <a:txBody>
                    <a:bodyPr/>
                    <a:lstStyle/>
                    <a:p>
                      <a:r>
                        <a:rPr sz="1800" b="1">
                          <a:solidFill>
                            <a:srgbClr val="FFFFFF"/>
                          </a:solidFill>
                          <a:latin typeface="Avenir Next"/>
                          <a:ea typeface="Avenir Next"/>
                          <a:cs typeface="Avenir Next"/>
                        </a:rPr>
                        <a:t>Measure</a:t>
                      </a:r>
                    </a:p>
                  </a:txBody>
                  <a:tcPr marL="91440" marR="91440" marT="45720" marB="45720">
                    <a:solidFill>
                      <a:srgbClr val="09253A"/>
                    </a:solidFill>
                  </a:tcPr>
                </a:tc>
                <a:tc>
                  <a:txBody>
                    <a:bodyPr/>
                    <a:lstStyle/>
                    <a:p>
                      <a:r>
                        <a:rPr sz="1800" b="1">
                          <a:solidFill>
                            <a:srgbClr val="FFFFFF"/>
                          </a:solidFill>
                          <a:latin typeface="Avenir Next"/>
                          <a:ea typeface="Avenir Next"/>
                          <a:cs typeface="Avenir Next"/>
                        </a:rPr>
                        <a:t>What does it count?</a:t>
                      </a:r>
                    </a:p>
                  </a:txBody>
                  <a:tcPr marL="91440" marR="91440" marT="45720" marB="45720">
                    <a:solidFill>
                      <a:srgbClr val="09253A"/>
                    </a:solidFill>
                  </a:tcPr>
                </a:tc>
                <a:tc>
                  <a:txBody>
                    <a:bodyPr/>
                    <a:lstStyle/>
                    <a:p>
                      <a:r>
                        <a:rPr sz="1800" b="1">
                          <a:solidFill>
                            <a:srgbClr val="FFFFFF"/>
                          </a:solidFill>
                          <a:latin typeface="Avenir Next"/>
                          <a:ea typeface="Avenir Next"/>
                          <a:cs typeface="Avenir Next"/>
                        </a:rPr>
                        <a:t>Saved result</a:t>
                      </a:r>
                    </a:p>
                  </a:txBody>
                  <a:tcPr marL="91440" marR="91440" marT="45720" marB="45720">
                    <a:solidFill>
                      <a:srgbClr val="09253A"/>
                    </a:solidFill>
                  </a:tcPr>
                </a:tc>
              </a:tr>
              <a:tr h="658813">
                <a:tc>
                  <a:txBody>
                    <a:bodyPr/>
                    <a:lstStyle/>
                    <a:p>
                      <a:r>
                        <a:rPr sz="1800" b="0">
                          <a:solidFill>
                            <a:srgbClr val="09253A"/>
                          </a:solidFill>
                          <a:latin typeface="Avenir Next"/>
                          <a:ea typeface="Avenir Next"/>
                          <a:cs typeface="Avenir Next"/>
                        </a:rPr>
                        <a:t>Accuracy</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Correct predictions: 75 / 90</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83.3%</a:t>
                      </a:r>
                    </a:p>
                  </a:txBody>
                  <a:tcPr marL="91440" marR="91440" marT="45720" marB="45720">
                    <a:solidFill>
                      <a:srgbClr val="F7F2E8"/>
                    </a:solidFill>
                  </a:tcPr>
                </a:tc>
              </a:tr>
              <a:tr h="658813">
                <a:tc>
                  <a:txBody>
                    <a:bodyPr/>
                    <a:lstStyle/>
                    <a:p>
                      <a:r>
                        <a:rPr sz="1800" b="0">
                          <a:solidFill>
                            <a:srgbClr val="09253A"/>
                          </a:solidFill>
                          <a:latin typeface="Avenir Next"/>
                          <a:ea typeface="Avenir Next"/>
                          <a:cs typeface="Avenir Next"/>
                        </a:rPr>
                        <a:t>Sensitivity</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Cases detected: 30 / 37</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81.1%</a:t>
                      </a:r>
                    </a:p>
                  </a:txBody>
                  <a:tcPr marL="91440" marR="91440" marT="45720" marB="45720">
                    <a:solidFill>
                      <a:srgbClr val="FFFFFF"/>
                    </a:solidFill>
                  </a:tcPr>
                </a:tc>
              </a:tr>
              <a:tr h="658813">
                <a:tc>
                  <a:txBody>
                    <a:bodyPr/>
                    <a:lstStyle/>
                    <a:p>
                      <a:r>
                        <a:rPr sz="1800" b="0">
                          <a:solidFill>
                            <a:srgbClr val="09253A"/>
                          </a:solidFill>
                          <a:latin typeface="Avenir Next"/>
                          <a:ea typeface="Avenir Next"/>
                          <a:cs typeface="Avenir Next"/>
                        </a:rPr>
                        <a:t>Specificity</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Non-cases identified: 45 / 53</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84.9%</a:t>
                      </a:r>
                    </a:p>
                  </a:txBody>
                  <a:tcPr marL="91440" marR="91440" marT="45720" marB="45720">
                    <a:solidFill>
                      <a:srgbClr val="F7F2E8"/>
                    </a:solidFill>
                  </a:tcPr>
                </a:tc>
              </a:tr>
            </a:tbl>
          </a:graphicData>
        </a:graphic>
      </p:graphicFrame>
      <p:sp>
        <p:nvSpPr>
          <p:cNvPr id="6" name="">
            <a:extLst xmlns:a="http://schemas.openxmlformats.org/drawingml/2006/main">
              <a:ext uri="{FF2B5EF4-FFF2-40B4-BE49-F238E27FC236}">
                <a16:creationId xmlns:a16="http://schemas.microsoft.com/office/drawing/2014/main" id="{6CCD4D5F-7802-4B6D-8F1E-9E23C0E408C8}"/>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Accuracy alone can hide which patients the model gets wrong.</a:t>
            </a:r>
          </a:p>
        </p:txBody>
      </p:sp>
    </p:spTree>
    <p:extLst>
      <p:ext uri="{BB962C8B-B14F-4D97-AF65-F5344CB8AC3E}">
        <p14:creationId xmlns:p14="http://schemas.microsoft.com/office/powerpoint/2010/main" val="12427981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AFD9950-AF50-4672-9A22-3E777DA4E7ED}"/>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07</a:t>
            </a:r>
          </a:p>
        </p:txBody>
      </p:sp>
      <p:sp>
        <p:nvSpPr>
          <p:cNvPr id="2" name="">
            <a:extLst xmlns:a="http://schemas.openxmlformats.org/drawingml/2006/main">
              <a:ext uri="{FF2B5EF4-FFF2-40B4-BE49-F238E27FC236}">
                <a16:creationId xmlns:a16="http://schemas.microsoft.com/office/drawing/2014/main" id="{89A8ABC8-BF19-4E67-9502-46BCE16C3EA3}"/>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Probability thresholds and the ROC curve</a:t>
            </a:r>
          </a:p>
        </p:txBody>
      </p:sp>
      <p:sp>
        <p:nvSpPr>
          <p:cNvPr id="3" name="">
            <a:extLst xmlns:a="http://schemas.openxmlformats.org/drawingml/2006/main">
              <a:ext uri="{FF2B5EF4-FFF2-40B4-BE49-F238E27FC236}">
                <a16:creationId xmlns:a16="http://schemas.microsoft.com/office/drawing/2014/main" id="{3032B20B-3D21-4059-A142-08D8CE230179}"/>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48CE185C-B0A1-4DB0-9937-85E9BF47DEBB}"/>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pic>
        <p:nvPicPr>
          <p:cNvPr id="5" name="">
            <a:extLst xmlns:a="http://schemas.openxmlformats.org/drawingml/2006/main">
              <a:ext uri="{FF2B5EF4-FFF2-40B4-BE49-F238E27FC236}">
                <a16:creationId xmlns:a16="http://schemas.microsoft.com/office/drawing/2014/main" id="{4A2025A6-A05E-41AC-BF87-62CA1D5D0891}"/>
              </a:ext>
            </a:extLst>
          </p:cNvPr>
          <p:cNvPicPr>
            <a:picLocks xmlns:a="http://schemas.openxmlformats.org/drawingml/2006/main" noChangeAspect="1"/>
          </p:cNvPicPr>
          <p:nvPr/>
        </p:nvPicPr>
        <p:blipFill>
          <a:blip xmlns:r="http://schemas.openxmlformats.org/officeDocument/2006/relationships" xmlns:a="http://schemas.openxmlformats.org/drawingml/2006/main" r:embed="Rc96f616917174e4a"/>
          <a:stretch xmlns:a="http://schemas.openxmlformats.org/drawingml/2006/main"/>
        </p:blipFill>
        <p:spPr>
          <a:xfrm xmlns:a="http://schemas.openxmlformats.org/drawingml/2006/main">
            <a:off x="1304925" y="1190625"/>
            <a:ext cx="5867400" cy="4191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E1C5751-4ED5-4A24-8AF0-6BF3A7F903FD}"/>
              </a:ext>
            </a:extLst>
          </p:cNvPr>
          <p:cNvSpPr>
            <a:spLocks xmlns:a="http://schemas.openxmlformats.org/drawingml/2006/main" noGrp="1"/>
          </p:cNvSpPr>
          <p:nvPr/>
        </p:nvSpPr>
        <p:spPr>
          <a:xfrm xmlns:a="http://schemas.openxmlformats.org/drawingml/2006/main">
            <a:off x="8143875" y="1428750"/>
            <a:ext cx="3476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D6D76"/>
                </a:solidFill>
                <a:latin typeface="Avenir Next"/>
                <a:ea typeface="Avenir Next"/>
                <a:cs typeface="Avenir Next"/>
              </a:defRPr>
            </a:defPPr>
            <a:lvl1pPr>
              <a:buNone/>
              <a:defRPr sz="1950" b="0">
                <a:solidFill>
                  <a:srgbClr val="5D6D76"/>
                </a:solidFill>
                <a:latin typeface="Avenir Next"/>
                <a:ea typeface="Avenir Next"/>
                <a:cs typeface="Avenir Next"/>
              </a:defRPr>
            </a:lvl1pPr>
            <a:lvl2pPr>
              <a:buNone/>
              <a:defRPr sz="1950" b="0">
                <a:solidFill>
                  <a:srgbClr val="5D6D76"/>
                </a:solidFill>
                <a:latin typeface="Avenir Next"/>
                <a:ea typeface="Avenir Next"/>
                <a:cs typeface="Avenir Next"/>
              </a:defRPr>
            </a:lvl2pPr>
            <a:lvl3pPr>
              <a:buNone/>
              <a:defRPr sz="1950" b="0">
                <a:solidFill>
                  <a:srgbClr val="5D6D76"/>
                </a:solidFill>
                <a:latin typeface="Avenir Next"/>
                <a:ea typeface="Avenir Next"/>
                <a:cs typeface="Avenir Next"/>
              </a:defRPr>
            </a:lvl3pPr>
            <a:lvl4pPr>
              <a:buNone/>
              <a:defRPr sz="1950" b="0">
                <a:solidFill>
                  <a:srgbClr val="5D6D76"/>
                </a:solidFill>
                <a:latin typeface="Avenir Next"/>
                <a:ea typeface="Avenir Next"/>
                <a:cs typeface="Avenir Next"/>
              </a:defRPr>
            </a:lvl4pPr>
            <a:lvl5pPr>
              <a:buNone/>
              <a:defRPr sz="1950" b="0">
                <a:solidFill>
                  <a:srgbClr val="5D6D76"/>
                </a:solidFill>
                <a:latin typeface="Avenir Next"/>
                <a:ea typeface="Avenir Next"/>
                <a:cs typeface="Avenir Next"/>
              </a:defRPr>
            </a:lvl5pPr>
            <a:lvl6pPr>
              <a:buNone/>
              <a:defRPr sz="1950" b="0">
                <a:solidFill>
                  <a:srgbClr val="5D6D76"/>
                </a:solidFill>
                <a:latin typeface="Avenir Next"/>
                <a:ea typeface="Avenir Next"/>
                <a:cs typeface="Avenir Next"/>
              </a:defRPr>
            </a:lvl6pPr>
            <a:lvl7pPr>
              <a:buNone/>
              <a:defRPr sz="1950" b="0">
                <a:solidFill>
                  <a:srgbClr val="5D6D76"/>
                </a:solidFill>
                <a:latin typeface="Avenir Next"/>
                <a:ea typeface="Avenir Next"/>
                <a:cs typeface="Avenir Next"/>
              </a:defRPr>
            </a:lvl7pPr>
            <a:lvl8pPr>
              <a:buNone/>
              <a:defRPr sz="1950" b="0">
                <a:solidFill>
                  <a:srgbClr val="5D6D76"/>
                </a:solidFill>
                <a:latin typeface="Avenir Next"/>
                <a:ea typeface="Avenir Next"/>
                <a:cs typeface="Avenir Next"/>
              </a:defRPr>
            </a:lvl8pPr>
            <a:lvl9pPr>
              <a:buNone/>
              <a:defRPr sz="1950" b="0">
                <a:solidFill>
                  <a:srgbClr val="5D6D76"/>
                </a:solidFill>
                <a:latin typeface="Avenir Next"/>
                <a:ea typeface="Avenir Next"/>
                <a:cs typeface="Avenir Next"/>
              </a:defRPr>
            </a:lvl9pPr>
          </a:lstStyle>
          <a:p xmlns:a="http://schemas.openxmlformats.org/drawingml/2006/main">
            <a:pPr>
              <a:buNone/>
              <a:defRPr sz="1950" b="0">
                <a:solidFill>
                  <a:srgbClr val="5D6D76"/>
                </a:solidFill>
                <a:latin typeface="Avenir Next"/>
                <a:ea typeface="Avenir Next"/>
                <a:cs typeface="Avenir Next"/>
              </a:defRPr>
            </a:pPr>
            <a:r>
              <a:rPr sz="1950" b="0">
                <a:solidFill>
                  <a:srgbClr val="5D6D76"/>
                </a:solidFill>
                <a:latin typeface="Avenir Next"/>
                <a:ea typeface="Avenir Next"/>
                <a:cs typeface="Avenir Next"/>
              </a:rPr>
              <a:t>Lowering the cut-off</a:t>
            </a:r>
          </a:p>
          <a:p xmlns:a="http://schemas.openxmlformats.org/drawingml/2006/main">
            <a:pPr>
              <a:buNone/>
              <a:defRPr sz="1950" b="0">
                <a:solidFill>
                  <a:srgbClr val="5D6D76"/>
                </a:solidFill>
                <a:latin typeface="Avenir Next"/>
                <a:ea typeface="Avenir Next"/>
                <a:cs typeface="Avenir Next"/>
              </a:defRPr>
            </a:pPr>
            <a:r>
              <a:rPr sz="1950" b="0">
                <a:solidFill>
                  <a:srgbClr val="5D6D76"/>
                </a:solidFill>
                <a:latin typeface="Avenir Next"/>
                <a:ea typeface="Avenir Next"/>
                <a:cs typeface="Avenir Next"/>
              </a:rPr>
              <a:t>usually catches more cases.</a:t>
            </a:r>
          </a:p>
        </p:txBody>
      </p:sp>
      <p:sp>
        <p:nvSpPr>
          <p:cNvPr id="7" name="">
            <a:extLst xmlns:a="http://schemas.openxmlformats.org/drawingml/2006/main">
              <a:ext uri="{FF2B5EF4-FFF2-40B4-BE49-F238E27FC236}">
                <a16:creationId xmlns:a16="http://schemas.microsoft.com/office/drawing/2014/main" id="{062B0AFA-34D7-4D08-A85C-868D4E64A5EE}"/>
              </a:ext>
            </a:extLst>
          </p:cNvPr>
          <p:cNvSpPr>
            <a:spLocks xmlns:a="http://schemas.openxmlformats.org/drawingml/2006/main" noGrp="1"/>
          </p:cNvSpPr>
          <p:nvPr/>
        </p:nvSpPr>
        <p:spPr>
          <a:xfrm xmlns:a="http://schemas.openxmlformats.org/drawingml/2006/main">
            <a:off x="8143875" y="2619375"/>
            <a:ext cx="3476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D6D76"/>
                </a:solidFill>
                <a:latin typeface="Avenir Next"/>
                <a:ea typeface="Avenir Next"/>
                <a:cs typeface="Avenir Next"/>
              </a:defRPr>
            </a:defPPr>
            <a:lvl1pPr>
              <a:buNone/>
              <a:defRPr sz="1950" b="0">
                <a:solidFill>
                  <a:srgbClr val="5D6D76"/>
                </a:solidFill>
                <a:latin typeface="Avenir Next"/>
                <a:ea typeface="Avenir Next"/>
                <a:cs typeface="Avenir Next"/>
              </a:defRPr>
            </a:lvl1pPr>
            <a:lvl2pPr>
              <a:buNone/>
              <a:defRPr sz="1950" b="0">
                <a:solidFill>
                  <a:srgbClr val="5D6D76"/>
                </a:solidFill>
                <a:latin typeface="Avenir Next"/>
                <a:ea typeface="Avenir Next"/>
                <a:cs typeface="Avenir Next"/>
              </a:defRPr>
            </a:lvl2pPr>
            <a:lvl3pPr>
              <a:buNone/>
              <a:defRPr sz="1950" b="0">
                <a:solidFill>
                  <a:srgbClr val="5D6D76"/>
                </a:solidFill>
                <a:latin typeface="Avenir Next"/>
                <a:ea typeface="Avenir Next"/>
                <a:cs typeface="Avenir Next"/>
              </a:defRPr>
            </a:lvl3pPr>
            <a:lvl4pPr>
              <a:buNone/>
              <a:defRPr sz="1950" b="0">
                <a:solidFill>
                  <a:srgbClr val="5D6D76"/>
                </a:solidFill>
                <a:latin typeface="Avenir Next"/>
                <a:ea typeface="Avenir Next"/>
                <a:cs typeface="Avenir Next"/>
              </a:defRPr>
            </a:lvl4pPr>
            <a:lvl5pPr>
              <a:buNone/>
              <a:defRPr sz="1950" b="0">
                <a:solidFill>
                  <a:srgbClr val="5D6D76"/>
                </a:solidFill>
                <a:latin typeface="Avenir Next"/>
                <a:ea typeface="Avenir Next"/>
                <a:cs typeface="Avenir Next"/>
              </a:defRPr>
            </a:lvl5pPr>
            <a:lvl6pPr>
              <a:buNone/>
              <a:defRPr sz="1950" b="0">
                <a:solidFill>
                  <a:srgbClr val="5D6D76"/>
                </a:solidFill>
                <a:latin typeface="Avenir Next"/>
                <a:ea typeface="Avenir Next"/>
                <a:cs typeface="Avenir Next"/>
              </a:defRPr>
            </a:lvl6pPr>
            <a:lvl7pPr>
              <a:buNone/>
              <a:defRPr sz="1950" b="0">
                <a:solidFill>
                  <a:srgbClr val="5D6D76"/>
                </a:solidFill>
                <a:latin typeface="Avenir Next"/>
                <a:ea typeface="Avenir Next"/>
                <a:cs typeface="Avenir Next"/>
              </a:defRPr>
            </a:lvl7pPr>
            <a:lvl8pPr>
              <a:buNone/>
              <a:defRPr sz="1950" b="0">
                <a:solidFill>
                  <a:srgbClr val="5D6D76"/>
                </a:solidFill>
                <a:latin typeface="Avenir Next"/>
                <a:ea typeface="Avenir Next"/>
                <a:cs typeface="Avenir Next"/>
              </a:defRPr>
            </a:lvl8pPr>
            <a:lvl9pPr>
              <a:buNone/>
              <a:defRPr sz="1950" b="0">
                <a:solidFill>
                  <a:srgbClr val="5D6D76"/>
                </a:solidFill>
                <a:latin typeface="Avenir Next"/>
                <a:ea typeface="Avenir Next"/>
                <a:cs typeface="Avenir Next"/>
              </a:defRPr>
            </a:lvl9pPr>
          </a:lstStyle>
          <a:p xmlns:a="http://schemas.openxmlformats.org/drawingml/2006/main">
            <a:pPr>
              <a:buNone/>
              <a:defRPr sz="1950" b="0">
                <a:solidFill>
                  <a:srgbClr val="5D6D76"/>
                </a:solidFill>
                <a:latin typeface="Avenir Next"/>
                <a:ea typeface="Avenir Next"/>
                <a:cs typeface="Avenir Next"/>
              </a:defRPr>
            </a:pPr>
            <a:r>
              <a:rPr sz="1950" b="0">
                <a:solidFill>
                  <a:srgbClr val="5D6D76"/>
                </a:solidFill>
                <a:latin typeface="Avenir Next"/>
                <a:ea typeface="Avenir Next"/>
                <a:cs typeface="Avenir Next"/>
              </a:rPr>
              <a:t>It also produces</a:t>
            </a:r>
          </a:p>
          <a:p xmlns:a="http://schemas.openxmlformats.org/drawingml/2006/main">
            <a:pPr>
              <a:buNone/>
              <a:defRPr sz="1950" b="0">
                <a:solidFill>
                  <a:srgbClr val="5D6D76"/>
                </a:solidFill>
                <a:latin typeface="Avenir Next"/>
                <a:ea typeface="Avenir Next"/>
                <a:cs typeface="Avenir Next"/>
              </a:defRPr>
            </a:pPr>
            <a:r>
              <a:rPr sz="1950" b="0">
                <a:solidFill>
                  <a:srgbClr val="5D6D76"/>
                </a:solidFill>
                <a:latin typeface="Avenir Next"/>
                <a:ea typeface="Avenir Next"/>
                <a:cs typeface="Avenir Next"/>
              </a:rPr>
              <a:t>more false alarms.</a:t>
            </a:r>
          </a:p>
        </p:txBody>
      </p:sp>
      <p:sp>
        <p:nvSpPr>
          <p:cNvPr id="8" name="">
            <a:extLst xmlns:a="http://schemas.openxmlformats.org/drawingml/2006/main">
              <a:ext uri="{FF2B5EF4-FFF2-40B4-BE49-F238E27FC236}">
                <a16:creationId xmlns:a16="http://schemas.microsoft.com/office/drawing/2014/main" id="{0889E9DF-DCC1-45B8-AB47-D343DC6F2C87}"/>
              </a:ext>
            </a:extLst>
          </p:cNvPr>
          <p:cNvSpPr>
            <a:spLocks xmlns:a="http://schemas.openxmlformats.org/drawingml/2006/main" noGrp="1"/>
          </p:cNvSpPr>
          <p:nvPr/>
        </p:nvSpPr>
        <p:spPr>
          <a:xfrm xmlns:a="http://schemas.openxmlformats.org/drawingml/2006/main">
            <a:off x="8143875" y="3810000"/>
            <a:ext cx="3476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D6D76"/>
                </a:solidFill>
                <a:latin typeface="Avenir Next"/>
                <a:ea typeface="Avenir Next"/>
                <a:cs typeface="Avenir Next"/>
              </a:defRPr>
            </a:defPPr>
            <a:lvl1pPr>
              <a:buNone/>
              <a:defRPr sz="1950" b="0">
                <a:solidFill>
                  <a:srgbClr val="5D6D76"/>
                </a:solidFill>
                <a:latin typeface="Avenir Next"/>
                <a:ea typeface="Avenir Next"/>
                <a:cs typeface="Avenir Next"/>
              </a:defRPr>
            </a:lvl1pPr>
            <a:lvl2pPr>
              <a:buNone/>
              <a:defRPr sz="1950" b="0">
                <a:solidFill>
                  <a:srgbClr val="5D6D76"/>
                </a:solidFill>
                <a:latin typeface="Avenir Next"/>
                <a:ea typeface="Avenir Next"/>
                <a:cs typeface="Avenir Next"/>
              </a:defRPr>
            </a:lvl2pPr>
            <a:lvl3pPr>
              <a:buNone/>
              <a:defRPr sz="1950" b="0">
                <a:solidFill>
                  <a:srgbClr val="5D6D76"/>
                </a:solidFill>
                <a:latin typeface="Avenir Next"/>
                <a:ea typeface="Avenir Next"/>
                <a:cs typeface="Avenir Next"/>
              </a:defRPr>
            </a:lvl3pPr>
            <a:lvl4pPr>
              <a:buNone/>
              <a:defRPr sz="1950" b="0">
                <a:solidFill>
                  <a:srgbClr val="5D6D76"/>
                </a:solidFill>
                <a:latin typeface="Avenir Next"/>
                <a:ea typeface="Avenir Next"/>
                <a:cs typeface="Avenir Next"/>
              </a:defRPr>
            </a:lvl4pPr>
            <a:lvl5pPr>
              <a:buNone/>
              <a:defRPr sz="1950" b="0">
                <a:solidFill>
                  <a:srgbClr val="5D6D76"/>
                </a:solidFill>
                <a:latin typeface="Avenir Next"/>
                <a:ea typeface="Avenir Next"/>
                <a:cs typeface="Avenir Next"/>
              </a:defRPr>
            </a:lvl5pPr>
            <a:lvl6pPr>
              <a:buNone/>
              <a:defRPr sz="1950" b="0">
                <a:solidFill>
                  <a:srgbClr val="5D6D76"/>
                </a:solidFill>
                <a:latin typeface="Avenir Next"/>
                <a:ea typeface="Avenir Next"/>
                <a:cs typeface="Avenir Next"/>
              </a:defRPr>
            </a:lvl6pPr>
            <a:lvl7pPr>
              <a:buNone/>
              <a:defRPr sz="1950" b="0">
                <a:solidFill>
                  <a:srgbClr val="5D6D76"/>
                </a:solidFill>
                <a:latin typeface="Avenir Next"/>
                <a:ea typeface="Avenir Next"/>
                <a:cs typeface="Avenir Next"/>
              </a:defRPr>
            </a:lvl7pPr>
            <a:lvl8pPr>
              <a:buNone/>
              <a:defRPr sz="1950" b="0">
                <a:solidFill>
                  <a:srgbClr val="5D6D76"/>
                </a:solidFill>
                <a:latin typeface="Avenir Next"/>
                <a:ea typeface="Avenir Next"/>
                <a:cs typeface="Avenir Next"/>
              </a:defRPr>
            </a:lvl8pPr>
            <a:lvl9pPr>
              <a:buNone/>
              <a:defRPr sz="1950" b="0">
                <a:solidFill>
                  <a:srgbClr val="5D6D76"/>
                </a:solidFill>
                <a:latin typeface="Avenir Next"/>
                <a:ea typeface="Avenir Next"/>
                <a:cs typeface="Avenir Next"/>
              </a:defRPr>
            </a:lvl9pPr>
          </a:lstStyle>
          <a:p xmlns:a="http://schemas.openxmlformats.org/drawingml/2006/main">
            <a:pPr>
              <a:buNone/>
              <a:defRPr sz="1950" b="0">
                <a:solidFill>
                  <a:srgbClr val="5D6D76"/>
                </a:solidFill>
                <a:latin typeface="Avenir Next"/>
                <a:ea typeface="Avenir Next"/>
                <a:cs typeface="Avenir Next"/>
              </a:defRPr>
            </a:pPr>
            <a:r>
              <a:rPr sz="1950" b="0">
                <a:solidFill>
                  <a:srgbClr val="5D6D76"/>
                </a:solidFill>
                <a:latin typeface="Avenir Next"/>
                <a:ea typeface="Avenir Next"/>
                <a:cs typeface="Avenir Next"/>
              </a:rPr>
              <a:t>The curve compares choices</a:t>
            </a:r>
          </a:p>
          <a:p xmlns:a="http://schemas.openxmlformats.org/drawingml/2006/main">
            <a:pPr>
              <a:buNone/>
              <a:defRPr sz="1950" b="0">
                <a:solidFill>
                  <a:srgbClr val="5D6D76"/>
                </a:solidFill>
                <a:latin typeface="Avenir Next"/>
                <a:ea typeface="Avenir Next"/>
                <a:cs typeface="Avenir Next"/>
              </a:defRPr>
            </a:pPr>
            <a:r>
              <a:rPr sz="1950" b="0">
                <a:solidFill>
                  <a:srgbClr val="5D6D76"/>
                </a:solidFill>
                <a:latin typeface="Avenir Next"/>
                <a:ea typeface="Avenir Next"/>
                <a:cs typeface="Avenir Next"/>
              </a:rPr>
              <a:t>across different cut-offs.</a:t>
            </a:r>
          </a:p>
        </p:txBody>
      </p:sp>
      <p:sp>
        <p:nvSpPr>
          <p:cNvPr id="9" name="">
            <a:extLst xmlns:a="http://schemas.openxmlformats.org/drawingml/2006/main">
              <a:ext uri="{FF2B5EF4-FFF2-40B4-BE49-F238E27FC236}">
                <a16:creationId xmlns:a16="http://schemas.microsoft.com/office/drawing/2014/main" id="{18D6B92A-728F-46F3-8303-B723A3096329}"/>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Discuss: would accuracy alone tell us which cut-off to choose?</a:t>
            </a:r>
          </a:p>
        </p:txBody>
      </p:sp>
    </p:spTree>
    <p:extLst>
      <p:ext uri="{BB962C8B-B14F-4D97-AF65-F5344CB8AC3E}">
        <p14:creationId xmlns:p14="http://schemas.microsoft.com/office/powerpoint/2010/main" val="11963845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C20468C-E9D7-422F-AF3E-58E463EB0A7A}"/>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08</a:t>
            </a:r>
          </a:p>
        </p:txBody>
      </p:sp>
      <p:sp>
        <p:nvSpPr>
          <p:cNvPr id="2" name="">
            <a:extLst xmlns:a="http://schemas.openxmlformats.org/drawingml/2006/main">
              <a:ext uri="{FF2B5EF4-FFF2-40B4-BE49-F238E27FC236}">
                <a16:creationId xmlns:a16="http://schemas.microsoft.com/office/drawing/2014/main" id="{E1855F58-D470-479A-83C4-AC9DDFB53860}"/>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Organise the task with mlr3</a:t>
            </a:r>
          </a:p>
        </p:txBody>
      </p:sp>
      <p:sp>
        <p:nvSpPr>
          <p:cNvPr id="3" name="">
            <a:extLst xmlns:a="http://schemas.openxmlformats.org/drawingml/2006/main">
              <a:ext uri="{FF2B5EF4-FFF2-40B4-BE49-F238E27FC236}">
                <a16:creationId xmlns:a16="http://schemas.microsoft.com/office/drawing/2014/main" id="{0CC3CD43-AE2C-411A-9B79-698A4E820D7C}"/>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583D148A-F63E-44CE-B53E-7A39C3AA2AD7}"/>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sp>
        <p:nvSpPr>
          <p:cNvPr id="5" name="">
            <a:extLst xmlns:a="http://schemas.openxmlformats.org/drawingml/2006/main">
              <a:ext uri="{FF2B5EF4-FFF2-40B4-BE49-F238E27FC236}">
                <a16:creationId xmlns:a16="http://schemas.microsoft.com/office/drawing/2014/main" id="{C9B51000-A834-46BC-AB36-54AAEDD0DFB3}"/>
              </a:ext>
            </a:extLst>
          </p:cNvPr>
          <p:cNvSpPr>
            <a:spLocks xmlns:a="http://schemas.openxmlformats.org/drawingml/2006/main" noGrp="1"/>
          </p:cNvSpPr>
          <p:nvPr/>
        </p:nvSpPr>
        <p:spPr>
          <a:xfrm xmlns:a="http://schemas.openxmlformats.org/drawingml/2006/main">
            <a:off x="619125" y="12573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D6D76"/>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2175" b="0">
                <a:solidFill>
                  <a:srgbClr val="5D6D76"/>
                </a:solidFill>
                <a:latin typeface="Avenir Next"/>
                <a:ea typeface="Avenir Next"/>
                <a:cs typeface="Avenir Next"/>
              </a:defRPr>
            </a:pPr>
            <a:r>
              <a:rPr sz="2175" b="0">
                <a:solidFill>
                  <a:srgbClr val="5D6D76"/>
                </a:solidFill>
                <a:latin typeface="Avenir Next"/>
                <a:ea typeface="Avenir Next"/>
                <a:cs typeface="Avenir Next"/>
              </a:rPr>
              <a:t>Define the outcome, then reuse the saved training and test groups.</a:t>
            </a:r>
          </a:p>
        </p:txBody>
      </p:sp>
      <p:sp>
        <p:nvSpPr>
          <p:cNvPr id="6" name="">
            <a:extLst xmlns:a="http://schemas.openxmlformats.org/drawingml/2006/main">
              <a:ext uri="{FF2B5EF4-FFF2-40B4-BE49-F238E27FC236}">
                <a16:creationId xmlns:a16="http://schemas.microsoft.com/office/drawing/2014/main" id="{888DCDFE-2431-4546-A730-7C10B3B72FAF}"/>
              </a:ext>
            </a:extLst>
          </p:cNvPr>
          <p:cNvSpPr>
            <a:spLocks xmlns:a="http://schemas.openxmlformats.org/drawingml/2006/main" noGrp="1"/>
          </p:cNvSpPr>
          <p:nvPr/>
        </p:nvSpPr>
        <p:spPr>
          <a:xfrm xmlns:a="http://schemas.openxmlformats.org/drawingml/2006/main">
            <a:off x="619125" y="2019300"/>
            <a:ext cx="10953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0B2839"/>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2025" b="0">
                <a:solidFill>
                  <a:srgbClr val="0B2839"/>
                </a:solidFill>
                <a:latin typeface="Avenir Next"/>
                <a:ea typeface="Avenir Next"/>
                <a:cs typeface="Avenir Next"/>
              </a:defRPr>
            </a:pPr>
            <a:r>
              <a:rPr sz="2025" b="0">
                <a:solidFill>
                  <a:srgbClr val="0B2839"/>
                </a:solidFill>
                <a:latin typeface="Avenir Next"/>
                <a:ea typeface="Avenir Next"/>
                <a:cs typeface="Avenir Next"/>
              </a:rPr>
              <a:t>library(mlr3)</a:t>
            </a:r>
          </a:p>
          <a:p xmlns:a="http://schemas.openxmlformats.org/drawingml/2006/main">
            <a:pPr>
              <a:buNone/>
              <a:defRPr sz="2025" b="0">
                <a:solidFill>
                  <a:srgbClr val="0B2839"/>
                </a:solidFill>
                <a:latin typeface="Avenir Next"/>
                <a:ea typeface="Avenir Next"/>
                <a:cs typeface="Avenir Next"/>
              </a:defRPr>
            </a:pPr>
            <a:r>
              <a:rPr sz="2025" b="0">
                <a:solidFill>
                  <a:srgbClr val="0B2839"/>
                </a:solidFill>
                <a:latin typeface="Avenir Next"/>
                <a:ea typeface="Avenir Next"/>
                <a:cs typeface="Avenir Next"/>
              </a:rPr>
              <a:t>heart_task &lt;- as_task_classif(</a:t>
            </a:r>
          </a:p>
          <a:p xmlns:a="http://schemas.openxmlformats.org/drawingml/2006/main">
            <a:pPr>
              <a:buNone/>
              <a:defRPr sz="2025" b="0">
                <a:solidFill>
                  <a:srgbClr val="0B2839"/>
                </a:solidFill>
                <a:latin typeface="Avenir Next"/>
                <a:ea typeface="Avenir Next"/>
                <a:cs typeface="Avenir Next"/>
              </a:defRPr>
            </a:pPr>
            <a:r>
              <a:rPr sz="2025" b="0">
                <a:solidFill>
                  <a:srgbClr val="0B2839"/>
                </a:solidFill>
                <a:latin typeface="Avenir Next"/>
                <a:ea typeface="Avenir Next"/>
                <a:cs typeface="Avenir Next"/>
              </a:rPr>
              <a:t>  heart,</a:t>
            </a:r>
          </a:p>
          <a:p xmlns:a="http://schemas.openxmlformats.org/drawingml/2006/main">
            <a:pPr>
              <a:buNone/>
              <a:defRPr sz="2025" b="0">
                <a:solidFill>
                  <a:srgbClr val="0B2839"/>
                </a:solidFill>
                <a:latin typeface="Avenir Next"/>
                <a:ea typeface="Avenir Next"/>
                <a:cs typeface="Avenir Next"/>
              </a:defRPr>
            </a:pPr>
            <a:r>
              <a:rPr sz="2025" b="0">
                <a:solidFill>
                  <a:srgbClr val="0B2839"/>
                </a:solidFill>
                <a:latin typeface="Avenir Next"/>
                <a:ea typeface="Avenir Next"/>
                <a:cs typeface="Avenir Next"/>
              </a:rPr>
              <a:t>  target = "heart_disease",</a:t>
            </a:r>
          </a:p>
          <a:p xmlns:a="http://schemas.openxmlformats.org/drawingml/2006/main">
            <a:pPr>
              <a:buNone/>
              <a:defRPr sz="2025" b="0">
                <a:solidFill>
                  <a:srgbClr val="0B2839"/>
                </a:solidFill>
                <a:latin typeface="Avenir Next"/>
                <a:ea typeface="Avenir Next"/>
                <a:cs typeface="Avenir Next"/>
              </a:defRPr>
            </a:pPr>
            <a:r>
              <a:rPr sz="2025" b="0">
                <a:solidFill>
                  <a:srgbClr val="0B2839"/>
                </a:solidFill>
                <a:latin typeface="Avenir Next"/>
                <a:ea typeface="Avenir Next"/>
                <a:cs typeface="Avenir Next"/>
              </a:rPr>
              <a:t>  positive = "present",</a:t>
            </a:r>
          </a:p>
          <a:p xmlns:a="http://schemas.openxmlformats.org/drawingml/2006/main">
            <a:pPr>
              <a:buNone/>
              <a:defRPr sz="2025" b="0">
                <a:solidFill>
                  <a:srgbClr val="0B2839"/>
                </a:solidFill>
                <a:latin typeface="Avenir Next"/>
                <a:ea typeface="Avenir Next"/>
                <a:cs typeface="Avenir Next"/>
              </a:defRPr>
            </a:pPr>
            <a:r>
              <a:rPr sz="2025" b="0">
                <a:solidFill>
                  <a:srgbClr val="0B2839"/>
                </a:solidFill>
                <a:latin typeface="Avenir Next"/>
                <a:ea typeface="Avenir Next"/>
                <a:cs typeface="Avenir Next"/>
              </a:rPr>
              <a:t>  id = "heart"</a:t>
            </a:r>
          </a:p>
          <a:p xmlns:a="http://schemas.openxmlformats.org/drawingml/2006/main">
            <a:pPr>
              <a:buNone/>
              <a:defRPr sz="2025" b="0">
                <a:solidFill>
                  <a:srgbClr val="0B2839"/>
                </a:solidFill>
                <a:latin typeface="Avenir Next"/>
                <a:ea typeface="Avenir Next"/>
                <a:cs typeface="Avenir Next"/>
              </a:defRPr>
            </a:pPr>
            <a:r>
              <a:rPr sz="2025" b="0">
                <a:solidFill>
                  <a:srgbClr val="0B2839"/>
                </a:solidFill>
                <a:latin typeface="Avenir Next"/>
                <a:ea typeface="Avenir Next"/>
                <a:cs typeface="Avenir Next"/>
              </a:rPr>
              <a:t>)</a:t>
            </a:r>
          </a:p>
          <a:p xmlns:a="http://schemas.openxmlformats.org/drawingml/2006/main">
            <a:pPr>
              <a:buNone/>
              <a:defRPr sz="2025" b="0">
                <a:solidFill>
                  <a:srgbClr val="0B2839"/>
                </a:solidFill>
                <a:latin typeface="Avenir Next"/>
                <a:ea typeface="Avenir Next"/>
                <a:cs typeface="Avenir Next"/>
              </a:defRPr>
            </a:pPr>
            <a:r>
              <a:rPr sz="2025" b="0">
                <a:solidFill>
                  <a:srgbClr val="0B2839"/>
                </a:solidFill>
                <a:latin typeface="Avenir Next"/>
                <a:ea typeface="Avenir Next"/>
                <a:cs typeface="Avenir Next"/>
              </a:rPr>
              <a:t>split_record &lt;- read.csv("outputs/split.csv")</a:t>
            </a:r>
          </a:p>
        </p:txBody>
      </p:sp>
      <p:sp>
        <p:nvSpPr>
          <p:cNvPr id="7" name="">
            <a:extLst xmlns:a="http://schemas.openxmlformats.org/drawingml/2006/main">
              <a:ext uri="{FF2B5EF4-FFF2-40B4-BE49-F238E27FC236}">
                <a16:creationId xmlns:a16="http://schemas.microsoft.com/office/drawing/2014/main" id="{1C184B12-87F8-4436-A3AC-F8A3F76311FF}"/>
              </a:ext>
            </a:extLst>
          </p:cNvPr>
          <p:cNvSpPr>
            <a:spLocks xmlns:a="http://schemas.openxmlformats.org/drawingml/2006/main" noGrp="1"/>
          </p:cNvSpPr>
          <p:nvPr/>
        </p:nvSpPr>
        <p:spPr>
          <a:xfrm xmlns:a="http://schemas.openxmlformats.org/drawingml/2006/main">
            <a:off x="619125" y="328612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D6D76"/>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2175" b="0">
                <a:solidFill>
                  <a:srgbClr val="5D6D76"/>
                </a:solidFill>
                <a:latin typeface="Avenir Next"/>
                <a:ea typeface="Avenir Next"/>
                <a:cs typeface="Avenir Next"/>
              </a:defRPr>
            </a:pPr>
          </a:p>
        </p:txBody>
      </p:sp>
      <p:sp>
        <p:nvSpPr>
          <p:cNvPr id="8" name="">
            <a:extLst xmlns:a="http://schemas.openxmlformats.org/drawingml/2006/main">
              <a:ext uri="{FF2B5EF4-FFF2-40B4-BE49-F238E27FC236}">
                <a16:creationId xmlns:a16="http://schemas.microsoft.com/office/drawing/2014/main" id="{740E79D6-454F-4066-A607-697432369A98}"/>
              </a:ext>
            </a:extLst>
          </p:cNvPr>
          <p:cNvSpPr>
            <a:spLocks xmlns:a="http://schemas.openxmlformats.org/drawingml/2006/main" noGrp="1"/>
          </p:cNvSpPr>
          <p:nvPr/>
        </p:nvSpPr>
        <p:spPr>
          <a:xfrm xmlns:a="http://schemas.openxmlformats.org/drawingml/2006/main">
            <a:off x="619125" y="423862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D6D76"/>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2175" b="0">
                <a:solidFill>
                  <a:srgbClr val="5D6D76"/>
                </a:solidFill>
                <a:latin typeface="Avenir Next"/>
                <a:ea typeface="Avenir Next"/>
                <a:cs typeface="Avenir Next"/>
              </a:defRPr>
            </a:pPr>
          </a:p>
        </p:txBody>
      </p:sp>
      <p:sp>
        <p:nvSpPr>
          <p:cNvPr id="9" name="">
            <a:extLst xmlns:a="http://schemas.openxmlformats.org/drawingml/2006/main">
              <a:ext uri="{FF2B5EF4-FFF2-40B4-BE49-F238E27FC236}">
                <a16:creationId xmlns:a16="http://schemas.microsoft.com/office/drawing/2014/main" id="{8FF13609-A534-45BB-BC7D-303B4F13A64F}"/>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In notebook section 3, load the same 180 training and 90 test row numbers.</a:t>
            </a:r>
          </a:p>
        </p:txBody>
      </p:sp>
    </p:spTree>
    <p:extLst>
      <p:ext uri="{BB962C8B-B14F-4D97-AF65-F5344CB8AC3E}">
        <p14:creationId xmlns:p14="http://schemas.microsoft.com/office/powerpoint/2010/main" val="163789653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C20468C-E9D7-422F-AF3E-58E463EB0A7A}"/>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09</a:t>
            </a:r>
          </a:p>
        </p:txBody>
      </p:sp>
      <p:sp>
        <p:nvSpPr>
          <p:cNvPr id="2" name="">
            <a:extLst xmlns:a="http://schemas.openxmlformats.org/drawingml/2006/main">
              <a:ext uri="{FF2B5EF4-FFF2-40B4-BE49-F238E27FC236}">
                <a16:creationId xmlns:a16="http://schemas.microsoft.com/office/drawing/2014/main" id="{E1855F58-D470-479A-83C4-AC9DDFB53860}"/>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Prepare numerical inputs</a:t>
            </a:r>
          </a:p>
        </p:txBody>
      </p:sp>
      <p:sp>
        <p:nvSpPr>
          <p:cNvPr id="3" name="">
            <a:extLst xmlns:a="http://schemas.openxmlformats.org/drawingml/2006/main">
              <a:ext uri="{FF2B5EF4-FFF2-40B4-BE49-F238E27FC236}">
                <a16:creationId xmlns:a16="http://schemas.microsoft.com/office/drawing/2014/main" id="{0CC3CD43-AE2C-411A-9B79-698A4E820D7C}"/>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583D148A-F63E-44CE-B53E-7A39C3AA2AD7}"/>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sp>
        <p:nvSpPr>
          <p:cNvPr id="5" name="">
            <a:extLst xmlns:a="http://schemas.openxmlformats.org/drawingml/2006/main">
              <a:ext uri="{FF2B5EF4-FFF2-40B4-BE49-F238E27FC236}">
                <a16:creationId xmlns:a16="http://schemas.microsoft.com/office/drawing/2014/main" id="{C9B51000-A834-46BC-AB36-54AAEDD0DFB3}"/>
              </a:ext>
            </a:extLst>
          </p:cNvPr>
          <p:cNvSpPr>
            <a:spLocks xmlns:a="http://schemas.openxmlformats.org/drawingml/2006/main" noGrp="1"/>
          </p:cNvSpPr>
          <p:nvPr/>
        </p:nvSpPr>
        <p:spPr>
          <a:xfrm xmlns:a="http://schemas.openxmlformats.org/drawingml/2006/main">
            <a:off x="619125" y="138112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D6D76"/>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2175" b="0">
                <a:solidFill>
                  <a:srgbClr val="5D6D76"/>
                </a:solidFill>
                <a:latin typeface="Avenir Next"/>
                <a:ea typeface="Avenir Next"/>
                <a:cs typeface="Avenir Next"/>
              </a:defRPr>
            </a:pPr>
            <a:r>
              <a:rPr sz="2175" b="0">
                <a:solidFill>
                  <a:srgbClr val="5D6D76"/>
                </a:solidFill>
                <a:latin typeface="Avenir Next"/>
                <a:ea typeface="Avenir Next"/>
                <a:cs typeface="Avenir Next"/>
              </a:rPr>
              <a:t>Keep the outcome separate from the predictors.</a:t>
            </a:r>
          </a:p>
        </p:txBody>
      </p:sp>
      <p:sp>
        <p:nvSpPr>
          <p:cNvPr id="6" name="">
            <a:extLst xmlns:a="http://schemas.openxmlformats.org/drawingml/2006/main">
              <a:ext uri="{FF2B5EF4-FFF2-40B4-BE49-F238E27FC236}">
                <a16:creationId xmlns:a16="http://schemas.microsoft.com/office/drawing/2014/main" id="{888DCDFE-2431-4546-A730-7C10B3B72FAF}"/>
              </a:ext>
            </a:extLst>
          </p:cNvPr>
          <p:cNvSpPr>
            <a:spLocks xmlns:a="http://schemas.openxmlformats.org/drawingml/2006/main" noGrp="1"/>
          </p:cNvSpPr>
          <p:nvPr/>
        </p:nvSpPr>
        <p:spPr>
          <a:xfrm xmlns:a="http://schemas.openxmlformats.org/drawingml/2006/main">
            <a:off x="619125" y="233362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D6D76"/>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2175" b="0">
                <a:solidFill>
                  <a:srgbClr val="5D6D76"/>
                </a:solidFill>
                <a:latin typeface="Avenir Next"/>
                <a:ea typeface="Avenir Next"/>
                <a:cs typeface="Avenir Next"/>
              </a:defRPr>
            </a:pPr>
            <a:r>
              <a:rPr sz="2175" b="0">
                <a:solidFill>
                  <a:srgbClr val="5D6D76"/>
                </a:solidFill>
                <a:latin typeface="Avenir Next"/>
                <a:ea typeface="Avenir Next"/>
                <a:cs typeface="Avenir Next"/>
              </a:rPr>
              <a:t>Turn categories into 0/1 values and indicator columns.</a:t>
            </a:r>
          </a:p>
        </p:txBody>
      </p:sp>
      <p:sp>
        <p:nvSpPr>
          <p:cNvPr id="7" name="">
            <a:extLst xmlns:a="http://schemas.openxmlformats.org/drawingml/2006/main">
              <a:ext uri="{FF2B5EF4-FFF2-40B4-BE49-F238E27FC236}">
                <a16:creationId xmlns:a16="http://schemas.microsoft.com/office/drawing/2014/main" id="{1C184B12-87F8-4436-A3AC-F8A3F76311FF}"/>
              </a:ext>
            </a:extLst>
          </p:cNvPr>
          <p:cNvSpPr>
            <a:spLocks xmlns:a="http://schemas.openxmlformats.org/drawingml/2006/main" noGrp="1"/>
          </p:cNvSpPr>
          <p:nvPr/>
        </p:nvSpPr>
        <p:spPr>
          <a:xfrm xmlns:a="http://schemas.openxmlformats.org/drawingml/2006/main">
            <a:off x="619125" y="328612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D6D76"/>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2175" b="0">
                <a:solidFill>
                  <a:srgbClr val="5D6D76"/>
                </a:solidFill>
                <a:latin typeface="Avenir Next"/>
                <a:ea typeface="Avenir Next"/>
                <a:cs typeface="Avenir Next"/>
              </a:defRPr>
            </a:pPr>
            <a:r>
              <a:rPr sz="2175" b="0">
                <a:solidFill>
                  <a:srgbClr val="5D6D76"/>
                </a:solidFill>
                <a:latin typeface="Avenir Next"/>
                <a:ea typeface="Avenir Next"/>
                <a:cs typeface="Avenir Next"/>
              </a:rPr>
              <a:t>Scale measurements using fitting patients only.</a:t>
            </a:r>
          </a:p>
        </p:txBody>
      </p:sp>
      <p:sp>
        <p:nvSpPr>
          <p:cNvPr id="8" name="">
            <a:extLst xmlns:a="http://schemas.openxmlformats.org/drawingml/2006/main">
              <a:ext uri="{FF2B5EF4-FFF2-40B4-BE49-F238E27FC236}">
                <a16:creationId xmlns:a16="http://schemas.microsoft.com/office/drawing/2014/main" id="{740E79D6-454F-4066-A607-697432369A98}"/>
              </a:ext>
            </a:extLst>
          </p:cNvPr>
          <p:cNvSpPr>
            <a:spLocks xmlns:a="http://schemas.openxmlformats.org/drawingml/2006/main" noGrp="1"/>
          </p:cNvSpPr>
          <p:nvPr/>
        </p:nvSpPr>
        <p:spPr>
          <a:xfrm xmlns:a="http://schemas.openxmlformats.org/drawingml/2006/main">
            <a:off x="619125" y="423862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D6D76"/>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2175" b="0">
                <a:solidFill>
                  <a:srgbClr val="5D6D76"/>
                </a:solidFill>
                <a:latin typeface="Avenir Next"/>
                <a:ea typeface="Avenir Next"/>
                <a:cs typeface="Avenir Next"/>
              </a:defRPr>
            </a:pPr>
            <a:r>
              <a:rPr sz="2175" b="0">
                <a:solidFill>
                  <a:srgbClr val="5D6D76"/>
                </a:solidFill>
                <a:latin typeface="Avenir Next"/>
                <a:ea typeface="Avenir Next"/>
                <a:cs typeface="Avenir Next"/>
              </a:rPr>
              <a:t>Check: ncol(x) is 22; y is 1 for present and 0 for absent.</a:t>
            </a:r>
          </a:p>
        </p:txBody>
      </p:sp>
      <p:sp>
        <p:nvSpPr>
          <p:cNvPr id="9" name="">
            <a:extLst xmlns:a="http://schemas.openxmlformats.org/drawingml/2006/main">
              <a:ext uri="{FF2B5EF4-FFF2-40B4-BE49-F238E27FC236}">
                <a16:creationId xmlns:a16="http://schemas.microsoft.com/office/drawing/2014/main" id="{8FF13609-A534-45BB-BC7D-303B4F13A64F}"/>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Run the input-preparation block in notebook section 4.</a:t>
            </a:r>
          </a:p>
        </p:txBody>
      </p:sp>
    </p:spTree>
    <p:extLst>
      <p:ext uri="{BB962C8B-B14F-4D97-AF65-F5344CB8AC3E}">
        <p14:creationId xmlns:p14="http://schemas.microsoft.com/office/powerpoint/2010/main" val="163789653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6205E8F-9089-4770-88B6-B6975AC7F728}"/>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10</a:t>
            </a:r>
          </a:p>
        </p:txBody>
      </p:sp>
      <p:sp>
        <p:nvSpPr>
          <p:cNvPr id="2" name="">
            <a:extLst xmlns:a="http://schemas.openxmlformats.org/drawingml/2006/main">
              <a:ext uri="{FF2B5EF4-FFF2-40B4-BE49-F238E27FC236}">
                <a16:creationId xmlns:a16="http://schemas.microsoft.com/office/drawing/2014/main" id="{17E8362A-4089-4F47-B2DB-CFEF42D890C3}"/>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A neural network learns weighted combinations</a:t>
            </a:r>
          </a:p>
        </p:txBody>
      </p:sp>
      <p:sp>
        <p:nvSpPr>
          <p:cNvPr id="3" name="">
            <a:extLst xmlns:a="http://schemas.openxmlformats.org/drawingml/2006/main">
              <a:ext uri="{FF2B5EF4-FFF2-40B4-BE49-F238E27FC236}">
                <a16:creationId xmlns:a16="http://schemas.microsoft.com/office/drawing/2014/main" id="{6D4E787B-218F-49C3-AEF1-2CAF48E01B80}"/>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25FB1CE1-3882-4F66-91B9-E93CF0B36B92}"/>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graphicFrame>
        <p:nvGraphicFramePr>
          <p:cNvPr id="5" name="">
            <a:extLst xmlns:a="http://schemas.openxmlformats.org/drawingml/2006/main">
              <a:ext uri="{FF2B5EF4-FFF2-40B4-BE49-F238E27FC236}">
                <a16:creationId xmlns:a16="http://schemas.microsoft.com/office/drawing/2014/main" id="{D2A7D093-E953-48FB-A0BE-09161B089048}"/>
              </a:ext>
            </a:extLst>
          </p:cNvPr>
          <p:cNvGraphicFramePr/>
          <p:nvPr/>
        </p:nvGraphicFramePr>
        <p:xfrm>
          <a:off xmlns:a="http://schemas.openxmlformats.org/drawingml/2006/main" x="619125" y="1666875"/>
          <a:ext xmlns:a="http://schemas.openxmlformats.org/drawingml/2006/main" cx="10953750" cy="2857500"/>
        </p:xfrm>
        <a:graphic xmlns:a="http://schemas.openxmlformats.org/drawingml/2006/main">
          <a:graphicData uri="http://schemas.openxmlformats.org/drawingml/2006/table">
            <a:tbl>
              <a:tblPr/>
              <a:tblGrid>
                <a:gridCol w="3651250"/>
                <a:gridCol w="3651250"/>
                <a:gridCol w="3651250"/>
              </a:tblGrid>
              <a:tr h="952500">
                <a:tc>
                  <a:txBody>
                    <a:bodyPr/>
                    <a:lstStyle/>
                    <a:p>
                      <a:r>
                        <a:rPr sz="1800" b="1">
                          <a:solidFill>
                            <a:srgbClr val="FFFFFF"/>
                          </a:solidFill>
                          <a:latin typeface="Avenir Next"/>
                          <a:ea typeface="Avenir Next"/>
                          <a:cs typeface="Avenir Next"/>
                        </a:rPr>
                        <a:t>Inputs</a:t>
                      </a:r>
                    </a:p>
                  </a:txBody>
                  <a:tcPr marL="91440" marR="91440" marT="45720" marB="45720">
                    <a:solidFill>
                      <a:srgbClr val="09253A"/>
                    </a:solidFill>
                  </a:tcPr>
                </a:tc>
                <a:tc>
                  <a:txBody>
                    <a:bodyPr/>
                    <a:lstStyle/>
                    <a:p>
                      <a:r>
                        <a:rPr sz="1800" b="1">
                          <a:solidFill>
                            <a:srgbClr val="FFFFFF"/>
                          </a:solidFill>
                          <a:latin typeface="Avenir Next"/>
                          <a:ea typeface="Avenir Next"/>
                          <a:cs typeface="Avenir Next"/>
                        </a:rPr>
                        <a:t>Hidden layers</a:t>
                      </a:r>
                    </a:p>
                  </a:txBody>
                  <a:tcPr marL="91440" marR="91440" marT="45720" marB="45720">
                    <a:solidFill>
                      <a:srgbClr val="09253A"/>
                    </a:solidFill>
                  </a:tcPr>
                </a:tc>
                <a:tc>
                  <a:txBody>
                    <a:bodyPr/>
                    <a:lstStyle/>
                    <a:p>
                      <a:r>
                        <a:rPr sz="1800" b="1">
                          <a:solidFill>
                            <a:srgbClr val="FFFFFF"/>
                          </a:solidFill>
                          <a:latin typeface="Avenir Next"/>
                          <a:ea typeface="Avenir Next"/>
                          <a:cs typeface="Avenir Next"/>
                        </a:rPr>
                        <a:t>Output</a:t>
                      </a:r>
                    </a:p>
                  </a:txBody>
                  <a:tcPr marL="91440" marR="91440" marT="45720" marB="45720">
                    <a:solidFill>
                      <a:srgbClr val="09253A"/>
                    </a:solidFill>
                  </a:tcPr>
                </a:tc>
              </a:tr>
              <a:tr h="952500">
                <a:tc>
                  <a:txBody>
                    <a:bodyPr/>
                    <a:lstStyle/>
                    <a:p>
                      <a:r>
                        <a:rPr sz="1800" b="0">
                          <a:solidFill>
                            <a:srgbClr val="09253A"/>
                          </a:solidFill>
                          <a:latin typeface="Avenir Next"/>
                          <a:ea typeface="Avenir Next"/>
                          <a:cs typeface="Avenir Next"/>
                        </a:rPr>
                        <a:t>Encoded measurements</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Weighted combinations</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Probability of present</a:t>
                      </a:r>
                    </a:p>
                  </a:txBody>
                  <a:tcPr marL="91440" marR="91440" marT="45720" marB="45720">
                    <a:solidFill>
                      <a:srgbClr val="F7F2E8"/>
                    </a:solidFill>
                  </a:tcPr>
                </a:tc>
              </a:tr>
              <a:tr h="952500">
                <a:tc>
                  <a:txBody>
                    <a:bodyPr/>
                    <a:lstStyle/>
                    <a:p>
                      <a:r>
                        <a:rPr sz="1800" b="0">
                          <a:solidFill>
                            <a:srgbClr val="09253A"/>
                          </a:solidFill>
                          <a:latin typeface="Avenir Next"/>
                          <a:ea typeface="Avenir Next"/>
                          <a:cs typeface="Avenir Next"/>
                        </a:rPr>
                        <a:t>Numbers the network receives</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ReLU transforms learned signals</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Sigmoid maps to 0–1</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A524BAE-0089-4C36-AA3C-F95D80B6F0E0}"/>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Training adjusts weights to reduce a loss: a measure of prediction error.</a:t>
            </a:r>
          </a:p>
        </p:txBody>
      </p:sp>
    </p:spTree>
    <p:extLst>
      <p:ext uri="{BB962C8B-B14F-4D97-AF65-F5344CB8AC3E}">
        <p14:creationId xmlns:p14="http://schemas.microsoft.com/office/powerpoint/2010/main" val="183659495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EE4282-9F5A-4E10-88E1-49FE8CAC4191}"/>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11</a:t>
            </a:r>
          </a:p>
        </p:txBody>
      </p:sp>
      <p:sp>
        <p:nvSpPr>
          <p:cNvPr id="2" name="">
            <a:extLst xmlns:a="http://schemas.openxmlformats.org/drawingml/2006/main">
              <a:ext uri="{FF2B5EF4-FFF2-40B4-BE49-F238E27FC236}">
                <a16:creationId xmlns:a16="http://schemas.microsoft.com/office/drawing/2014/main" id="{A307255A-A809-44B6-84E9-B4F12C88C18F}"/>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13 predictors become 22 encoded inputs</a:t>
            </a:r>
          </a:p>
        </p:txBody>
      </p:sp>
      <p:sp>
        <p:nvSpPr>
          <p:cNvPr id="3" name="">
            <a:extLst xmlns:a="http://schemas.openxmlformats.org/drawingml/2006/main">
              <a:ext uri="{FF2B5EF4-FFF2-40B4-BE49-F238E27FC236}">
                <a16:creationId xmlns:a16="http://schemas.microsoft.com/office/drawing/2014/main" id="{216A3BA1-706C-48BA-A2C7-0718D46FC53C}"/>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4A2358F6-DEE8-40B2-974E-354E728681B0}"/>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graphicFrame>
        <p:nvGraphicFramePr>
          <p:cNvPr id="5" name="">
            <a:extLst xmlns:a="http://schemas.openxmlformats.org/drawingml/2006/main">
              <a:ext uri="{FF2B5EF4-FFF2-40B4-BE49-F238E27FC236}">
                <a16:creationId xmlns:a16="http://schemas.microsoft.com/office/drawing/2014/main" id="{6743475D-FA0A-4B5D-B74F-B4B09EA1F86D}"/>
              </a:ext>
            </a:extLst>
          </p:cNvPr>
          <p:cNvGraphicFramePr/>
          <p:nvPr/>
        </p:nvGraphicFramePr>
        <p:xfrm>
          <a:off xmlns:a="http://schemas.openxmlformats.org/drawingml/2006/main" x="571500" y="1476375"/>
          <a:ext xmlns:a="http://schemas.openxmlformats.org/drawingml/2006/main" cx="11049000" cy="2762250"/>
        </p:xfrm>
        <a:graphic xmlns:a="http://schemas.openxmlformats.org/drawingml/2006/main">
          <a:graphicData uri="http://schemas.openxmlformats.org/drawingml/2006/table">
            <a:tbl>
              <a:tblPr/>
              <a:tblGrid>
                <a:gridCol w="2762250"/>
                <a:gridCol w="2762250"/>
                <a:gridCol w="2762250"/>
                <a:gridCol w="2762250"/>
              </a:tblGrid>
              <a:tr h="920750">
                <a:tc>
                  <a:txBody>
                    <a:bodyPr/>
                    <a:lstStyle/>
                    <a:p>
                      <a:r>
                        <a:rPr sz="1800" b="1">
                          <a:solidFill>
                            <a:srgbClr val="FFFFFF"/>
                          </a:solidFill>
                          <a:latin typeface="Avenir Next"/>
                          <a:ea typeface="Avenir Next"/>
                          <a:cs typeface="Avenir Next"/>
                        </a:rPr>
                        <a:t>Input</a:t>
                      </a:r>
                    </a:p>
                  </a:txBody>
                  <a:tcPr marL="91440" marR="91440" marT="45720" marB="45720">
                    <a:solidFill>
                      <a:srgbClr val="09253A"/>
                    </a:solidFill>
                  </a:tcPr>
                </a:tc>
                <a:tc>
                  <a:txBody>
                    <a:bodyPr/>
                    <a:lstStyle/>
                    <a:p>
                      <a:r>
                        <a:rPr sz="1800" b="1">
                          <a:solidFill>
                            <a:srgbClr val="FFFFFF"/>
                          </a:solidFill>
                          <a:latin typeface="Avenir Next"/>
                          <a:ea typeface="Avenir Next"/>
                          <a:cs typeface="Avenir Next"/>
                        </a:rPr>
                        <a:t>Hidden layer 1</a:t>
                      </a:r>
                    </a:p>
                  </a:txBody>
                  <a:tcPr marL="91440" marR="91440" marT="45720" marB="45720">
                    <a:solidFill>
                      <a:srgbClr val="09253A"/>
                    </a:solidFill>
                  </a:tcPr>
                </a:tc>
                <a:tc>
                  <a:txBody>
                    <a:bodyPr/>
                    <a:lstStyle/>
                    <a:p>
                      <a:r>
                        <a:rPr sz="1800" b="1">
                          <a:solidFill>
                            <a:srgbClr val="FFFFFF"/>
                          </a:solidFill>
                          <a:latin typeface="Avenir Next"/>
                          <a:ea typeface="Avenir Next"/>
                          <a:cs typeface="Avenir Next"/>
                        </a:rPr>
                        <a:t>Hidden layer 2</a:t>
                      </a:r>
                    </a:p>
                  </a:txBody>
                  <a:tcPr marL="91440" marR="91440" marT="45720" marB="45720">
                    <a:solidFill>
                      <a:srgbClr val="09253A"/>
                    </a:solidFill>
                  </a:tcPr>
                </a:tc>
                <a:tc>
                  <a:txBody>
                    <a:bodyPr/>
                    <a:lstStyle/>
                    <a:p>
                      <a:r>
                        <a:rPr sz="1800" b="1">
                          <a:solidFill>
                            <a:srgbClr val="FFFFFF"/>
                          </a:solidFill>
                          <a:latin typeface="Avenir Next"/>
                          <a:ea typeface="Avenir Next"/>
                          <a:cs typeface="Avenir Next"/>
                        </a:rPr>
                        <a:t>Output</a:t>
                      </a:r>
                    </a:p>
                  </a:txBody>
                  <a:tcPr marL="91440" marR="91440" marT="45720" marB="45720">
                    <a:solidFill>
                      <a:srgbClr val="09253A"/>
                    </a:solidFill>
                  </a:tcPr>
                </a:tc>
              </a:tr>
              <a:tr h="920750">
                <a:tc>
                  <a:txBody>
                    <a:bodyPr/>
                    <a:lstStyle/>
                    <a:p>
                      <a:r>
                        <a:rPr sz="1800" b="0">
                          <a:solidFill>
                            <a:srgbClr val="09253A"/>
                          </a:solidFill>
                          <a:latin typeface="Avenir Next"/>
                          <a:ea typeface="Avenir Next"/>
                          <a:cs typeface="Avenir Next"/>
                        </a:rPr>
                        <a:t>22 columns</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64 units, ReLU</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32 units, ReLU</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1 unit, sigmoid</a:t>
                      </a:r>
                    </a:p>
                  </a:txBody>
                  <a:tcPr marL="91440" marR="91440" marT="45720" marB="45720">
                    <a:solidFill>
                      <a:srgbClr val="F7F2E8"/>
                    </a:solidFill>
                  </a:tcPr>
                </a:tc>
              </a:tr>
              <a:tr h="920750">
                <a:tc>
                  <a:txBody>
                    <a:bodyPr/>
                    <a:lstStyle/>
                    <a:p>
                      <a:r>
                        <a:rPr sz="1800" b="0">
                          <a:solidFill>
                            <a:srgbClr val="09253A"/>
                          </a:solidFill>
                          <a:latin typeface="Avenir Next"/>
                          <a:ea typeface="Avenir Next"/>
                          <a:cs typeface="Avenir Next"/>
                        </a:rPr>
                        <a:t>6 numeric + 3 binary</a:t>
                      </a:r>
                    </a:p>
                    <a:p>
                      <a:r>
                        <a:rPr sz="1800" b="0">
                          <a:solidFill>
                            <a:srgbClr val="09253A"/>
                          </a:solidFill>
                          <a:latin typeface="Avenir Next"/>
                          <a:ea typeface="Avenir Next"/>
                          <a:cs typeface="Avenir Next"/>
                        </a:rPr>
                        <a:t>+ 13 indicators</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Dropout 0.4</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Dropout 0.4</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P(disease present)</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E1D11DA-E24A-4D67-B9D2-82D7D6469D61}"/>
              </a:ext>
            </a:extLst>
          </p:cNvPr>
          <p:cNvSpPr>
            <a:spLocks xmlns:a="http://schemas.openxmlformats.org/drawingml/2006/main" noGrp="1"/>
          </p:cNvSpPr>
          <p:nvPr/>
        </p:nvSpPr>
        <p:spPr>
          <a:xfrm xmlns:a="http://schemas.openxmlformats.org/drawingml/2006/main">
            <a:off x="619125" y="4524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D8B8B"/>
                </a:solidFill>
                <a:latin typeface="Avenir Next"/>
                <a:ea typeface="Avenir Next"/>
                <a:cs typeface="Avenir Next"/>
              </a:defRPr>
            </a:defPPr>
            <a:lvl1pPr>
              <a:buNone/>
              <a:defRPr sz="2100" b="0">
                <a:solidFill>
                  <a:srgbClr val="0D8B8B"/>
                </a:solidFill>
                <a:latin typeface="Avenir Next"/>
                <a:ea typeface="Avenir Next"/>
                <a:cs typeface="Avenir Next"/>
              </a:defRPr>
            </a:lvl1pPr>
            <a:lvl2pPr>
              <a:buNone/>
              <a:defRPr sz="2100" b="0">
                <a:solidFill>
                  <a:srgbClr val="0D8B8B"/>
                </a:solidFill>
                <a:latin typeface="Avenir Next"/>
                <a:ea typeface="Avenir Next"/>
                <a:cs typeface="Avenir Next"/>
              </a:defRPr>
            </a:lvl2pPr>
            <a:lvl3pPr>
              <a:buNone/>
              <a:defRPr sz="2100" b="0">
                <a:solidFill>
                  <a:srgbClr val="0D8B8B"/>
                </a:solidFill>
                <a:latin typeface="Avenir Next"/>
                <a:ea typeface="Avenir Next"/>
                <a:cs typeface="Avenir Next"/>
              </a:defRPr>
            </a:lvl3pPr>
            <a:lvl4pPr>
              <a:buNone/>
              <a:defRPr sz="2100" b="0">
                <a:solidFill>
                  <a:srgbClr val="0D8B8B"/>
                </a:solidFill>
                <a:latin typeface="Avenir Next"/>
                <a:ea typeface="Avenir Next"/>
                <a:cs typeface="Avenir Next"/>
              </a:defRPr>
            </a:lvl4pPr>
            <a:lvl5pPr>
              <a:buNone/>
              <a:defRPr sz="2100" b="0">
                <a:solidFill>
                  <a:srgbClr val="0D8B8B"/>
                </a:solidFill>
                <a:latin typeface="Avenir Next"/>
                <a:ea typeface="Avenir Next"/>
                <a:cs typeface="Avenir Next"/>
              </a:defRPr>
            </a:lvl5pPr>
            <a:lvl6pPr>
              <a:buNone/>
              <a:defRPr sz="2100" b="0">
                <a:solidFill>
                  <a:srgbClr val="0D8B8B"/>
                </a:solidFill>
                <a:latin typeface="Avenir Next"/>
                <a:ea typeface="Avenir Next"/>
                <a:cs typeface="Avenir Next"/>
              </a:defRPr>
            </a:lvl6pPr>
            <a:lvl7pPr>
              <a:buNone/>
              <a:defRPr sz="2100" b="0">
                <a:solidFill>
                  <a:srgbClr val="0D8B8B"/>
                </a:solidFill>
                <a:latin typeface="Avenir Next"/>
                <a:ea typeface="Avenir Next"/>
                <a:cs typeface="Avenir Next"/>
              </a:defRPr>
            </a:lvl7pPr>
            <a:lvl8pPr>
              <a:buNone/>
              <a:defRPr sz="2100" b="0">
                <a:solidFill>
                  <a:srgbClr val="0D8B8B"/>
                </a:solidFill>
                <a:latin typeface="Avenir Next"/>
                <a:ea typeface="Avenir Next"/>
                <a:cs typeface="Avenir Next"/>
              </a:defRPr>
            </a:lvl8pPr>
            <a:lvl9pPr>
              <a:buNone/>
              <a:defRPr sz="2100" b="0">
                <a:solidFill>
                  <a:srgbClr val="0D8B8B"/>
                </a:solidFill>
                <a:latin typeface="Avenir Next"/>
                <a:ea typeface="Avenir Next"/>
                <a:cs typeface="Avenir Next"/>
              </a:defRPr>
            </a:lvl9pPr>
          </a:lstStyle>
          <a:p xmlns:a="http://schemas.openxmlformats.org/drawingml/2006/main">
            <a:pPr>
              <a:buNone/>
              <a:defRPr sz="2100" b="0">
                <a:solidFill>
                  <a:srgbClr val="0D8B8B"/>
                </a:solidFill>
                <a:latin typeface="Avenir Next"/>
                <a:ea typeface="Avenir Next"/>
                <a:cs typeface="Avenir Next"/>
              </a:defRPr>
            </a:pPr>
            <a:r>
              <a:rPr sz="2100" b="0">
                <a:solidFill>
                  <a:srgbClr val="0D8B8B"/>
                </a:solidFill>
                <a:latin typeface="Avenir Next"/>
                <a:ea typeface="Avenir Next"/>
                <a:cs typeface="Avenir Next"/>
              </a:rPr>
              <a:t>Dropout temporarily omits 40% of units during training.</a:t>
            </a:r>
          </a:p>
        </p:txBody>
      </p:sp>
      <p:sp>
        <p:nvSpPr>
          <p:cNvPr id="7" name="">
            <a:extLst xmlns:a="http://schemas.openxmlformats.org/drawingml/2006/main">
              <a:ext uri="{FF2B5EF4-FFF2-40B4-BE49-F238E27FC236}">
                <a16:creationId xmlns:a16="http://schemas.microsoft.com/office/drawing/2014/main" id="{12445B26-77EF-406B-B6AA-189E329283AA}"/>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The 13 measurements become 22 numerical input columns.</a:t>
            </a:r>
          </a:p>
        </p:txBody>
      </p:sp>
    </p:spTree>
    <p:extLst>
      <p:ext uri="{BB962C8B-B14F-4D97-AF65-F5344CB8AC3E}">
        <p14:creationId xmlns:p14="http://schemas.microsoft.com/office/powerpoint/2010/main" val="100410566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C20468C-E9D7-422F-AF3E-58E463EB0A7A}"/>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12</a:t>
            </a:r>
          </a:p>
        </p:txBody>
      </p:sp>
      <p:sp>
        <p:nvSpPr>
          <p:cNvPr id="2" name="">
            <a:extLst xmlns:a="http://schemas.openxmlformats.org/drawingml/2006/main">
              <a:ext uri="{FF2B5EF4-FFF2-40B4-BE49-F238E27FC236}">
                <a16:creationId xmlns:a16="http://schemas.microsoft.com/office/drawing/2014/main" id="{E1855F58-D470-479A-83C4-AC9DDFB53860}"/>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Build the network with Keras</a:t>
            </a:r>
          </a:p>
        </p:txBody>
      </p:sp>
      <p:sp>
        <p:nvSpPr>
          <p:cNvPr id="3" name="">
            <a:extLst xmlns:a="http://schemas.openxmlformats.org/drawingml/2006/main">
              <a:ext uri="{FF2B5EF4-FFF2-40B4-BE49-F238E27FC236}">
                <a16:creationId xmlns:a16="http://schemas.microsoft.com/office/drawing/2014/main" id="{0CC3CD43-AE2C-411A-9B79-698A4E820D7C}"/>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583D148A-F63E-44CE-B53E-7A39C3AA2AD7}"/>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sp>
        <p:nvSpPr>
          <p:cNvPr id="5" name="">
            <a:extLst xmlns:a="http://schemas.openxmlformats.org/drawingml/2006/main">
              <a:ext uri="{FF2B5EF4-FFF2-40B4-BE49-F238E27FC236}">
                <a16:creationId xmlns:a16="http://schemas.microsoft.com/office/drawing/2014/main" id="{C9B51000-A834-46BC-AB36-54AAEDD0DFB3}"/>
              </a:ext>
            </a:extLst>
          </p:cNvPr>
          <p:cNvSpPr>
            <a:spLocks xmlns:a="http://schemas.openxmlformats.org/drawingml/2006/main" noGrp="1"/>
          </p:cNvSpPr>
          <p:nvPr/>
        </p:nvSpPr>
        <p:spPr>
          <a:xfrm xmlns:a="http://schemas.openxmlformats.org/drawingml/2006/main">
            <a:off x="619125" y="12573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D6D76"/>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2175" b="0">
                <a:solidFill>
                  <a:srgbClr val="5D6D76"/>
                </a:solidFill>
                <a:latin typeface="Avenir Next"/>
                <a:ea typeface="Avenir Next"/>
                <a:cs typeface="Avenir Next"/>
              </a:defRPr>
            </a:pPr>
            <a:r>
              <a:rPr sz="2175" b="0">
                <a:solidFill>
                  <a:srgbClr val="5D6D76"/>
                </a:solidFill>
                <a:latin typeface="Avenir Next"/>
                <a:ea typeface="Avenir Next"/>
                <a:cs typeface="Avenir Next"/>
              </a:rPr>
              <a:t>Each layer passes its learned signals to the next layer.</a:t>
            </a:r>
          </a:p>
        </p:txBody>
      </p:sp>
      <p:sp>
        <p:nvSpPr>
          <p:cNvPr id="6" name="">
            <a:extLst xmlns:a="http://schemas.openxmlformats.org/drawingml/2006/main">
              <a:ext uri="{FF2B5EF4-FFF2-40B4-BE49-F238E27FC236}">
                <a16:creationId xmlns:a16="http://schemas.microsoft.com/office/drawing/2014/main" id="{888DCDFE-2431-4546-A730-7C10B3B72FAF}"/>
              </a:ext>
            </a:extLst>
          </p:cNvPr>
          <p:cNvSpPr>
            <a:spLocks xmlns:a="http://schemas.openxmlformats.org/drawingml/2006/main" noGrp="1"/>
          </p:cNvSpPr>
          <p:nvPr/>
        </p:nvSpPr>
        <p:spPr>
          <a:xfrm xmlns:a="http://schemas.openxmlformats.org/drawingml/2006/main">
            <a:off x="619125" y="2019300"/>
            <a:ext cx="10953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B2839"/>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1875" b="0">
                <a:solidFill>
                  <a:srgbClr val="0B2839"/>
                </a:solidFill>
                <a:latin typeface="Avenir Next"/>
                <a:ea typeface="Avenir Next"/>
                <a:cs typeface="Avenir Next"/>
              </a:defRPr>
            </a:pPr>
            <a:r>
              <a:rPr sz="1875" b="0">
                <a:solidFill>
                  <a:srgbClr val="0B2839"/>
                </a:solidFill>
                <a:latin typeface="Avenir Next"/>
                <a:ea typeface="Avenir Next"/>
                <a:cs typeface="Avenir Next"/>
              </a:rPr>
              <a:t>library(keras3)</a:t>
            </a:r>
          </a:p>
          <a:p xmlns:a="http://schemas.openxmlformats.org/drawingml/2006/main">
            <a:pPr>
              <a:buNone/>
              <a:defRPr sz="1875" b="0">
                <a:solidFill>
                  <a:srgbClr val="0B2839"/>
                </a:solidFill>
                <a:latin typeface="Avenir Next"/>
                <a:ea typeface="Avenir Next"/>
                <a:cs typeface="Avenir Next"/>
              </a:defRPr>
            </a:pPr>
            <a:r>
              <a:rPr sz="1875" b="0">
                <a:solidFill>
                  <a:srgbClr val="0B2839"/>
                </a:solidFill>
                <a:latin typeface="Avenir Next"/>
                <a:ea typeface="Avenir Next"/>
                <a:cs typeface="Avenir Next"/>
              </a:rPr>
              <a:t>set_random_seed(20261023)</a:t>
            </a:r>
          </a:p>
          <a:p xmlns:a="http://schemas.openxmlformats.org/drawingml/2006/main">
            <a:pPr>
              <a:buNone/>
              <a:defRPr sz="2175" b="0">
                <a:solidFill>
                  <a:srgbClr val="5D6D76"/>
                </a:solidFill>
                <a:latin typeface="Avenir Next"/>
                <a:ea typeface="Avenir Next"/>
                <a:cs typeface="Avenir Next"/>
              </a:defRPr>
            </a:pPr>
          </a:p>
          <a:p xmlns:a="http://schemas.openxmlformats.org/drawingml/2006/main">
            <a:pPr>
              <a:buNone/>
              <a:defRPr sz="1875" b="0">
                <a:solidFill>
                  <a:srgbClr val="0B2839"/>
                </a:solidFill>
                <a:latin typeface="Avenir Next"/>
                <a:ea typeface="Avenir Next"/>
                <a:cs typeface="Avenir Next"/>
              </a:defRPr>
            </a:pPr>
            <a:r>
              <a:rPr sz="1875" b="0">
                <a:solidFill>
                  <a:srgbClr val="0B2839"/>
                </a:solidFill>
                <a:latin typeface="Avenir Next"/>
                <a:ea typeface="Avenir Next"/>
                <a:cs typeface="Avenir Next"/>
              </a:rPr>
              <a:t>network &lt;- keras_model_sequential(input_shape = c(22)) |&gt;</a:t>
            </a:r>
          </a:p>
          <a:p xmlns:a="http://schemas.openxmlformats.org/drawingml/2006/main">
            <a:pPr>
              <a:buNone/>
              <a:defRPr sz="1875" b="0">
                <a:solidFill>
                  <a:srgbClr val="0B2839"/>
                </a:solidFill>
                <a:latin typeface="Avenir Next"/>
                <a:ea typeface="Avenir Next"/>
                <a:cs typeface="Avenir Next"/>
              </a:defRPr>
            </a:pPr>
            <a:r>
              <a:rPr sz="1875" b="0">
                <a:solidFill>
                  <a:srgbClr val="0B2839"/>
                </a:solidFill>
                <a:latin typeface="Avenir Next"/>
                <a:ea typeface="Avenir Next"/>
                <a:cs typeface="Avenir Next"/>
              </a:rPr>
              <a:t>  layer_dense(units = 64, activation = "relu") |&gt;</a:t>
            </a:r>
          </a:p>
          <a:p xmlns:a="http://schemas.openxmlformats.org/drawingml/2006/main">
            <a:pPr>
              <a:buNone/>
              <a:defRPr sz="1875" b="0">
                <a:solidFill>
                  <a:srgbClr val="0B2839"/>
                </a:solidFill>
                <a:latin typeface="Avenir Next"/>
                <a:ea typeface="Avenir Next"/>
                <a:cs typeface="Avenir Next"/>
              </a:defRPr>
            </a:pPr>
            <a:r>
              <a:rPr sz="1875" b="0">
                <a:solidFill>
                  <a:srgbClr val="0B2839"/>
                </a:solidFill>
                <a:latin typeface="Avenir Next"/>
                <a:ea typeface="Avenir Next"/>
                <a:cs typeface="Avenir Next"/>
              </a:rPr>
              <a:t>  layer_dropout(rate = 0.4) |&gt;</a:t>
            </a:r>
          </a:p>
          <a:p xmlns:a="http://schemas.openxmlformats.org/drawingml/2006/main">
            <a:pPr>
              <a:buNone/>
              <a:defRPr sz="1875" b="0">
                <a:solidFill>
                  <a:srgbClr val="0B2839"/>
                </a:solidFill>
                <a:latin typeface="Avenir Next"/>
                <a:ea typeface="Avenir Next"/>
                <a:cs typeface="Avenir Next"/>
              </a:defRPr>
            </a:pPr>
            <a:r>
              <a:rPr sz="1875" b="0">
                <a:solidFill>
                  <a:srgbClr val="0B2839"/>
                </a:solidFill>
                <a:latin typeface="Avenir Next"/>
                <a:ea typeface="Avenir Next"/>
                <a:cs typeface="Avenir Next"/>
              </a:rPr>
              <a:t>  layer_dense(units = 32, activation = "relu") |&gt;</a:t>
            </a:r>
          </a:p>
          <a:p xmlns:a="http://schemas.openxmlformats.org/drawingml/2006/main">
            <a:pPr>
              <a:buNone/>
              <a:defRPr sz="1875" b="0">
                <a:solidFill>
                  <a:srgbClr val="0B2839"/>
                </a:solidFill>
                <a:latin typeface="Avenir Next"/>
                <a:ea typeface="Avenir Next"/>
                <a:cs typeface="Avenir Next"/>
              </a:defRPr>
            </a:pPr>
            <a:r>
              <a:rPr sz="1875" b="0">
                <a:solidFill>
                  <a:srgbClr val="0B2839"/>
                </a:solidFill>
                <a:latin typeface="Avenir Next"/>
                <a:ea typeface="Avenir Next"/>
                <a:cs typeface="Avenir Next"/>
              </a:rPr>
              <a:t>  layer_dropout(rate = 0.4) |&gt;</a:t>
            </a:r>
          </a:p>
          <a:p xmlns:a="http://schemas.openxmlformats.org/drawingml/2006/main">
            <a:pPr>
              <a:buNone/>
              <a:defRPr sz="1875" b="0">
                <a:solidFill>
                  <a:srgbClr val="0B2839"/>
                </a:solidFill>
                <a:latin typeface="Avenir Next"/>
                <a:ea typeface="Avenir Next"/>
                <a:cs typeface="Avenir Next"/>
              </a:defRPr>
            </a:pPr>
            <a:r>
              <a:rPr sz="1875" b="0">
                <a:solidFill>
                  <a:srgbClr val="0B2839"/>
                </a:solidFill>
                <a:latin typeface="Avenir Next"/>
                <a:ea typeface="Avenir Next"/>
                <a:cs typeface="Avenir Next"/>
              </a:rPr>
              <a:t>  layer_dense(units = 1, activation = "sigmoid")</a:t>
            </a:r>
          </a:p>
        </p:txBody>
      </p:sp>
      <p:sp>
        <p:nvSpPr>
          <p:cNvPr id="7" name="">
            <a:extLst xmlns:a="http://schemas.openxmlformats.org/drawingml/2006/main">
              <a:ext uri="{FF2B5EF4-FFF2-40B4-BE49-F238E27FC236}">
                <a16:creationId xmlns:a16="http://schemas.microsoft.com/office/drawing/2014/main" id="{1C184B12-87F8-4436-A3AC-F8A3F76311FF}"/>
              </a:ext>
            </a:extLst>
          </p:cNvPr>
          <p:cNvSpPr>
            <a:spLocks xmlns:a="http://schemas.openxmlformats.org/drawingml/2006/main" noGrp="1"/>
          </p:cNvSpPr>
          <p:nvPr/>
        </p:nvSpPr>
        <p:spPr>
          <a:xfrm xmlns:a="http://schemas.openxmlformats.org/drawingml/2006/main">
            <a:off x="619125" y="328612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D6D76"/>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2175" b="0">
                <a:solidFill>
                  <a:srgbClr val="5D6D76"/>
                </a:solidFill>
                <a:latin typeface="Avenir Next"/>
                <a:ea typeface="Avenir Next"/>
                <a:cs typeface="Avenir Next"/>
              </a:defRPr>
            </a:pPr>
          </a:p>
        </p:txBody>
      </p:sp>
      <p:sp>
        <p:nvSpPr>
          <p:cNvPr id="8" name="">
            <a:extLst xmlns:a="http://schemas.openxmlformats.org/drawingml/2006/main">
              <a:ext uri="{FF2B5EF4-FFF2-40B4-BE49-F238E27FC236}">
                <a16:creationId xmlns:a16="http://schemas.microsoft.com/office/drawing/2014/main" id="{740E79D6-454F-4066-A607-697432369A98}"/>
              </a:ext>
            </a:extLst>
          </p:cNvPr>
          <p:cNvSpPr>
            <a:spLocks xmlns:a="http://schemas.openxmlformats.org/drawingml/2006/main" noGrp="1"/>
          </p:cNvSpPr>
          <p:nvPr/>
        </p:nvSpPr>
        <p:spPr>
          <a:xfrm xmlns:a="http://schemas.openxmlformats.org/drawingml/2006/main">
            <a:off x="619125" y="423862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D6D76"/>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2175" b="0">
                <a:solidFill>
                  <a:srgbClr val="5D6D76"/>
                </a:solidFill>
                <a:latin typeface="Avenir Next"/>
                <a:ea typeface="Avenir Next"/>
                <a:cs typeface="Avenir Next"/>
              </a:defRPr>
            </a:pPr>
          </a:p>
        </p:txBody>
      </p:sp>
      <p:sp>
        <p:nvSpPr>
          <p:cNvPr id="9" name="">
            <a:extLst xmlns:a="http://schemas.openxmlformats.org/drawingml/2006/main">
              <a:ext uri="{FF2B5EF4-FFF2-40B4-BE49-F238E27FC236}">
                <a16:creationId xmlns:a16="http://schemas.microsoft.com/office/drawing/2014/main" id="{8FF13609-A534-45BB-BC7D-303B4F13A64F}"/>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Run this definition after preparing x and y in the notebook.</a:t>
            </a:r>
          </a:p>
        </p:txBody>
      </p:sp>
    </p:spTree>
    <p:extLst>
      <p:ext uri="{BB962C8B-B14F-4D97-AF65-F5344CB8AC3E}">
        <p14:creationId xmlns:p14="http://schemas.microsoft.com/office/powerpoint/2010/main" val="163789653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C20468C-E9D7-422F-AF3E-58E463EB0A7A}"/>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13</a:t>
            </a:r>
          </a:p>
        </p:txBody>
      </p:sp>
      <p:sp>
        <p:nvSpPr>
          <p:cNvPr id="2" name="">
            <a:extLst xmlns:a="http://schemas.openxmlformats.org/drawingml/2006/main">
              <a:ext uri="{FF2B5EF4-FFF2-40B4-BE49-F238E27FC236}">
                <a16:creationId xmlns:a16="http://schemas.microsoft.com/office/drawing/2014/main" id="{E1855F58-D470-479A-83C4-AC9DDFB53860}"/>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Choose how the network learns</a:t>
            </a:r>
          </a:p>
        </p:txBody>
      </p:sp>
      <p:sp>
        <p:nvSpPr>
          <p:cNvPr id="3" name="">
            <a:extLst xmlns:a="http://schemas.openxmlformats.org/drawingml/2006/main">
              <a:ext uri="{FF2B5EF4-FFF2-40B4-BE49-F238E27FC236}">
                <a16:creationId xmlns:a16="http://schemas.microsoft.com/office/drawing/2014/main" id="{0CC3CD43-AE2C-411A-9B79-698A4E820D7C}"/>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583D148A-F63E-44CE-B53E-7A39C3AA2AD7}"/>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sp>
        <p:nvSpPr>
          <p:cNvPr id="5" name="">
            <a:extLst xmlns:a="http://schemas.openxmlformats.org/drawingml/2006/main">
              <a:ext uri="{FF2B5EF4-FFF2-40B4-BE49-F238E27FC236}">
                <a16:creationId xmlns:a16="http://schemas.microsoft.com/office/drawing/2014/main" id="{C9B51000-A834-46BC-AB36-54AAEDD0DFB3}"/>
              </a:ext>
            </a:extLst>
          </p:cNvPr>
          <p:cNvSpPr>
            <a:spLocks xmlns:a="http://schemas.openxmlformats.org/drawingml/2006/main" noGrp="1"/>
          </p:cNvSpPr>
          <p:nvPr/>
        </p:nvSpPr>
        <p:spPr>
          <a:xfrm xmlns:a="http://schemas.openxmlformats.org/drawingml/2006/main">
            <a:off x="619125" y="12573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D6D76"/>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2175" b="0">
                <a:solidFill>
                  <a:srgbClr val="5D6D76"/>
                </a:solidFill>
                <a:latin typeface="Avenir Next"/>
                <a:ea typeface="Avenir Next"/>
                <a:cs typeface="Avenir Next"/>
              </a:defRPr>
            </a:pPr>
            <a:r>
              <a:rPr sz="2175" b="0">
                <a:solidFill>
                  <a:srgbClr val="5D6D76"/>
                </a:solidFill>
                <a:latin typeface="Avenir Next"/>
                <a:ea typeface="Avenir Next"/>
                <a:cs typeface="Avenir Next"/>
              </a:rPr>
              <a:t>The optimiser updates weights; the loss measures prediction error.</a:t>
            </a:r>
          </a:p>
        </p:txBody>
      </p:sp>
      <p:sp>
        <p:nvSpPr>
          <p:cNvPr id="6" name="">
            <a:extLst xmlns:a="http://schemas.openxmlformats.org/drawingml/2006/main">
              <a:ext uri="{FF2B5EF4-FFF2-40B4-BE49-F238E27FC236}">
                <a16:creationId xmlns:a16="http://schemas.microsoft.com/office/drawing/2014/main" id="{888DCDFE-2431-4546-A730-7C10B3B72FAF}"/>
              </a:ext>
            </a:extLst>
          </p:cNvPr>
          <p:cNvSpPr>
            <a:spLocks xmlns:a="http://schemas.openxmlformats.org/drawingml/2006/main" noGrp="1"/>
          </p:cNvSpPr>
          <p:nvPr/>
        </p:nvSpPr>
        <p:spPr>
          <a:xfrm xmlns:a="http://schemas.openxmlformats.org/drawingml/2006/main">
            <a:off x="619125" y="2019300"/>
            <a:ext cx="10953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0B2839"/>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2250" b="0">
                <a:solidFill>
                  <a:srgbClr val="0B2839"/>
                </a:solidFill>
                <a:latin typeface="Avenir Next"/>
                <a:ea typeface="Avenir Next"/>
                <a:cs typeface="Avenir Next"/>
              </a:defRPr>
            </a:pPr>
            <a:r>
              <a:rPr sz="2250" b="0">
                <a:solidFill>
                  <a:srgbClr val="0B2839"/>
                </a:solidFill>
                <a:latin typeface="Avenir Next"/>
                <a:ea typeface="Avenir Next"/>
                <a:cs typeface="Avenir Next"/>
              </a:rPr>
              <a:t>compile(network,</a:t>
            </a:r>
          </a:p>
          <a:p xmlns:a="http://schemas.openxmlformats.org/drawingml/2006/main">
            <a:pPr>
              <a:buNone/>
              <a:defRPr sz="2250" b="0">
                <a:solidFill>
                  <a:srgbClr val="0B2839"/>
                </a:solidFill>
                <a:latin typeface="Avenir Next"/>
                <a:ea typeface="Avenir Next"/>
                <a:cs typeface="Avenir Next"/>
              </a:defRPr>
            </a:pPr>
            <a:r>
              <a:rPr sz="2250" b="0">
                <a:solidFill>
                  <a:srgbClr val="0B2839"/>
                </a:solidFill>
                <a:latin typeface="Avenir Next"/>
                <a:ea typeface="Avenir Next"/>
                <a:cs typeface="Avenir Next"/>
              </a:rPr>
              <a:t>  optimizer = optimizer_adam(learning_rate = 0.002),</a:t>
            </a:r>
          </a:p>
          <a:p xmlns:a="http://schemas.openxmlformats.org/drawingml/2006/main">
            <a:pPr>
              <a:buNone/>
              <a:defRPr sz="2250" b="0">
                <a:solidFill>
                  <a:srgbClr val="0B2839"/>
                </a:solidFill>
                <a:latin typeface="Avenir Next"/>
                <a:ea typeface="Avenir Next"/>
                <a:cs typeface="Avenir Next"/>
              </a:defRPr>
            </a:pPr>
            <a:r>
              <a:rPr sz="2250" b="0">
                <a:solidFill>
                  <a:srgbClr val="0B2839"/>
                </a:solidFill>
                <a:latin typeface="Avenir Next"/>
                <a:ea typeface="Avenir Next"/>
                <a:cs typeface="Avenir Next"/>
              </a:rPr>
              <a:t>  loss = "binary_crossentropy", metrics = "accuracy"</a:t>
            </a:r>
          </a:p>
          <a:p xmlns:a="http://schemas.openxmlformats.org/drawingml/2006/main">
            <a:pPr>
              <a:buNone/>
              <a:defRPr sz="2250" b="0">
                <a:solidFill>
                  <a:srgbClr val="0B2839"/>
                </a:solidFill>
                <a:latin typeface="Avenir Next"/>
                <a:ea typeface="Avenir Next"/>
                <a:cs typeface="Avenir Next"/>
              </a:defRPr>
            </a:pPr>
            <a:r>
              <a:rPr sz="2250" b="0">
                <a:solidFill>
                  <a:srgbClr val="0B2839"/>
                </a:solidFill>
                <a:latin typeface="Avenir Next"/>
                <a:ea typeface="Avenir Next"/>
                <a:cs typeface="Avenir Next"/>
              </a:rPr>
              <a:t>)</a:t>
            </a:r>
          </a:p>
        </p:txBody>
      </p:sp>
      <p:sp>
        <p:nvSpPr>
          <p:cNvPr id="7" name="">
            <a:extLst xmlns:a="http://schemas.openxmlformats.org/drawingml/2006/main">
              <a:ext uri="{FF2B5EF4-FFF2-40B4-BE49-F238E27FC236}">
                <a16:creationId xmlns:a16="http://schemas.microsoft.com/office/drawing/2014/main" id="{1C184B12-87F8-4436-A3AC-F8A3F76311FF}"/>
              </a:ext>
            </a:extLst>
          </p:cNvPr>
          <p:cNvSpPr>
            <a:spLocks xmlns:a="http://schemas.openxmlformats.org/drawingml/2006/main" noGrp="1"/>
          </p:cNvSpPr>
          <p:nvPr/>
        </p:nvSpPr>
        <p:spPr>
          <a:xfrm xmlns:a="http://schemas.openxmlformats.org/drawingml/2006/main">
            <a:off x="619125" y="328612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D6D76"/>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2175" b="0">
                <a:solidFill>
                  <a:srgbClr val="5D6D76"/>
                </a:solidFill>
                <a:latin typeface="Avenir Next"/>
                <a:ea typeface="Avenir Next"/>
                <a:cs typeface="Avenir Next"/>
              </a:defRPr>
            </a:pPr>
          </a:p>
        </p:txBody>
      </p:sp>
      <p:sp>
        <p:nvSpPr>
          <p:cNvPr id="8" name="">
            <a:extLst xmlns:a="http://schemas.openxmlformats.org/drawingml/2006/main">
              <a:ext uri="{FF2B5EF4-FFF2-40B4-BE49-F238E27FC236}">
                <a16:creationId xmlns:a16="http://schemas.microsoft.com/office/drawing/2014/main" id="{740E79D6-454F-4066-A607-697432369A98}"/>
              </a:ext>
            </a:extLst>
          </p:cNvPr>
          <p:cNvSpPr>
            <a:spLocks xmlns:a="http://schemas.openxmlformats.org/drawingml/2006/main" noGrp="1"/>
          </p:cNvSpPr>
          <p:nvPr/>
        </p:nvSpPr>
        <p:spPr>
          <a:xfrm xmlns:a="http://schemas.openxmlformats.org/drawingml/2006/main">
            <a:off x="619125" y="423862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D6D76"/>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2175" b="0">
                <a:solidFill>
                  <a:srgbClr val="5D6D76"/>
                </a:solidFill>
                <a:latin typeface="Avenir Next"/>
                <a:ea typeface="Avenir Next"/>
                <a:cs typeface="Avenir Next"/>
              </a:defRPr>
            </a:pPr>
          </a:p>
        </p:txBody>
      </p:sp>
      <p:sp>
        <p:nvSpPr>
          <p:cNvPr id="9" name="">
            <a:extLst xmlns:a="http://schemas.openxmlformats.org/drawingml/2006/main">
              <a:ext uri="{FF2B5EF4-FFF2-40B4-BE49-F238E27FC236}">
                <a16:creationId xmlns:a16="http://schemas.microsoft.com/office/drawing/2014/main" id="{8FF13609-A534-45BB-BC7D-303B4F13A64F}"/>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Binary cross-entropy measures error for this two-class outcome.</a:t>
            </a:r>
          </a:p>
        </p:txBody>
      </p:sp>
    </p:spTree>
    <p:extLst>
      <p:ext uri="{BB962C8B-B14F-4D97-AF65-F5344CB8AC3E}">
        <p14:creationId xmlns:p14="http://schemas.microsoft.com/office/powerpoint/2010/main" val="163789653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C20468C-E9D7-422F-AF3E-58E463EB0A7A}"/>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14</a:t>
            </a:r>
          </a:p>
        </p:txBody>
      </p:sp>
      <p:sp>
        <p:nvSpPr>
          <p:cNvPr id="2" name="">
            <a:extLst xmlns:a="http://schemas.openxmlformats.org/drawingml/2006/main">
              <a:ext uri="{FF2B5EF4-FFF2-40B4-BE49-F238E27FC236}">
                <a16:creationId xmlns:a16="http://schemas.microsoft.com/office/drawing/2014/main" id="{E1855F58-D470-479A-83C4-AC9DDFB53860}"/>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Fit the network</a:t>
            </a:r>
          </a:p>
        </p:txBody>
      </p:sp>
      <p:sp>
        <p:nvSpPr>
          <p:cNvPr id="3" name="">
            <a:extLst xmlns:a="http://schemas.openxmlformats.org/drawingml/2006/main">
              <a:ext uri="{FF2B5EF4-FFF2-40B4-BE49-F238E27FC236}">
                <a16:creationId xmlns:a16="http://schemas.microsoft.com/office/drawing/2014/main" id="{0CC3CD43-AE2C-411A-9B79-698A4E820D7C}"/>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583D148A-F63E-44CE-B53E-7A39C3AA2AD7}"/>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sp>
        <p:nvSpPr>
          <p:cNvPr id="5" name="">
            <a:extLst xmlns:a="http://schemas.openxmlformats.org/drawingml/2006/main">
              <a:ext uri="{FF2B5EF4-FFF2-40B4-BE49-F238E27FC236}">
                <a16:creationId xmlns:a16="http://schemas.microsoft.com/office/drawing/2014/main" id="{C9B51000-A834-46BC-AB36-54AAEDD0DFB3}"/>
              </a:ext>
            </a:extLst>
          </p:cNvPr>
          <p:cNvSpPr>
            <a:spLocks xmlns:a="http://schemas.openxmlformats.org/drawingml/2006/main" noGrp="1"/>
          </p:cNvSpPr>
          <p:nvPr/>
        </p:nvSpPr>
        <p:spPr>
          <a:xfrm xmlns:a="http://schemas.openxmlformats.org/drawingml/2006/main">
            <a:off x="619125" y="12573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D6D76"/>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2175" b="0">
                <a:solidFill>
                  <a:srgbClr val="5D6D76"/>
                </a:solidFill>
                <a:latin typeface="Avenir Next"/>
                <a:ea typeface="Avenir Next"/>
                <a:cs typeface="Avenir Next"/>
              </a:defRPr>
            </a:pPr>
            <a:r>
              <a:rPr sz="2175" b="0">
                <a:solidFill>
                  <a:srgbClr val="5D6D76"/>
                </a:solidFill>
                <a:latin typeface="Avenir Next"/>
                <a:ea typeface="Avenir Next"/>
                <a:cs typeface="Avenir Next"/>
              </a:rPr>
              <a:t>Keep 20% of the training group for validation while the network learns.</a:t>
            </a:r>
          </a:p>
        </p:txBody>
      </p:sp>
      <p:sp>
        <p:nvSpPr>
          <p:cNvPr id="6" name="">
            <a:extLst xmlns:a="http://schemas.openxmlformats.org/drawingml/2006/main">
              <a:ext uri="{FF2B5EF4-FFF2-40B4-BE49-F238E27FC236}">
                <a16:creationId xmlns:a16="http://schemas.microsoft.com/office/drawing/2014/main" id="{888DCDFE-2431-4546-A730-7C10B3B72FAF}"/>
              </a:ext>
            </a:extLst>
          </p:cNvPr>
          <p:cNvSpPr>
            <a:spLocks xmlns:a="http://schemas.openxmlformats.org/drawingml/2006/main" noGrp="1"/>
          </p:cNvSpPr>
          <p:nvPr/>
        </p:nvSpPr>
        <p:spPr>
          <a:xfrm xmlns:a="http://schemas.openxmlformats.org/drawingml/2006/main">
            <a:off x="619125" y="2019300"/>
            <a:ext cx="10953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0B2839"/>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1800" b="0">
                <a:solidFill>
                  <a:srgbClr val="0B2839"/>
                </a:solidFill>
                <a:latin typeface="Avenir Next"/>
                <a:ea typeface="Avenir Next"/>
                <a:cs typeface="Avenir Next"/>
              </a:defRPr>
            </a:pPr>
            <a:r>
              <a:rPr sz="1800" b="0">
                <a:solidFill>
                  <a:srgbClr val="0B2839"/>
                </a:solidFill>
                <a:latin typeface="Avenir Next"/>
                <a:ea typeface="Avenir Next"/>
                <a:cs typeface="Avenir Next"/>
              </a:rPr>
              <a:t>training &lt;- fit(</a:t>
            </a:r>
          </a:p>
          <a:p xmlns:a="http://schemas.openxmlformats.org/drawingml/2006/main">
            <a:pPr>
              <a:buNone/>
              <a:defRPr sz="1800" b="0">
                <a:solidFill>
                  <a:srgbClr val="0B2839"/>
                </a:solidFill>
                <a:latin typeface="Avenir Next"/>
                <a:ea typeface="Avenir Next"/>
                <a:cs typeface="Avenir Next"/>
              </a:defRPr>
            </a:pPr>
            <a:r>
              <a:rPr sz="1800" b="0">
                <a:solidFill>
                  <a:srgbClr val="0B2839"/>
                </a:solidFill>
                <a:latin typeface="Avenir Next"/>
                <a:ea typeface="Avenir Next"/>
                <a:cs typeface="Avenir Next"/>
              </a:rPr>
              <a:t>  network,</a:t>
            </a:r>
          </a:p>
          <a:p xmlns:a="http://schemas.openxmlformats.org/drawingml/2006/main">
            <a:pPr>
              <a:buNone/>
              <a:defRPr sz="1800" b="0">
                <a:solidFill>
                  <a:srgbClr val="0B2839"/>
                </a:solidFill>
                <a:latin typeface="Avenir Next"/>
                <a:ea typeface="Avenir Next"/>
                <a:cs typeface="Avenir Next"/>
              </a:defRPr>
            </a:pPr>
            <a:r>
              <a:rPr sz="1800" b="0">
                <a:solidFill>
                  <a:srgbClr val="0B2839"/>
                </a:solidFill>
                <a:latin typeface="Avenir Next"/>
                <a:ea typeface="Avenir Next"/>
                <a:cs typeface="Avenir Next"/>
              </a:rPr>
              <a:t>  x[split$train, ],</a:t>
            </a:r>
          </a:p>
          <a:p xmlns:a="http://schemas.openxmlformats.org/drawingml/2006/main">
            <a:pPr>
              <a:buNone/>
              <a:defRPr sz="1800" b="0">
                <a:solidFill>
                  <a:srgbClr val="0B2839"/>
                </a:solidFill>
                <a:latin typeface="Avenir Next"/>
                <a:ea typeface="Avenir Next"/>
                <a:cs typeface="Avenir Next"/>
              </a:defRPr>
            </a:pPr>
            <a:r>
              <a:rPr sz="1800" b="0">
                <a:solidFill>
                  <a:srgbClr val="0B2839"/>
                </a:solidFill>
                <a:latin typeface="Avenir Next"/>
                <a:ea typeface="Avenir Next"/>
                <a:cs typeface="Avenir Next"/>
              </a:rPr>
              <a:t>  y[split$train],</a:t>
            </a:r>
          </a:p>
          <a:p xmlns:a="http://schemas.openxmlformats.org/drawingml/2006/main">
            <a:pPr>
              <a:buNone/>
              <a:defRPr sz="1800" b="0">
                <a:solidFill>
                  <a:srgbClr val="0B2839"/>
                </a:solidFill>
                <a:latin typeface="Avenir Next"/>
                <a:ea typeface="Avenir Next"/>
                <a:cs typeface="Avenir Next"/>
              </a:defRPr>
            </a:pPr>
            <a:r>
              <a:rPr sz="1800" b="0">
                <a:solidFill>
                  <a:srgbClr val="0B2839"/>
                </a:solidFill>
                <a:latin typeface="Avenir Next"/>
                <a:ea typeface="Avenir Next"/>
                <a:cs typeface="Avenir Next"/>
              </a:rPr>
              <a:t>  epochs = 50,</a:t>
            </a:r>
          </a:p>
          <a:p xmlns:a="http://schemas.openxmlformats.org/drawingml/2006/main">
            <a:pPr>
              <a:buNone/>
              <a:defRPr sz="1800" b="0">
                <a:solidFill>
                  <a:srgbClr val="0B2839"/>
                </a:solidFill>
                <a:latin typeface="Avenir Next"/>
                <a:ea typeface="Avenir Next"/>
                <a:cs typeface="Avenir Next"/>
              </a:defRPr>
            </a:pPr>
            <a:r>
              <a:rPr sz="1800" b="0">
                <a:solidFill>
                  <a:srgbClr val="0B2839"/>
                </a:solidFill>
                <a:latin typeface="Avenir Next"/>
                <a:ea typeface="Avenir Next"/>
                <a:cs typeface="Avenir Next"/>
              </a:rPr>
              <a:t>  batch_size = 32,</a:t>
            </a:r>
          </a:p>
          <a:p xmlns:a="http://schemas.openxmlformats.org/drawingml/2006/main">
            <a:pPr>
              <a:buNone/>
              <a:defRPr sz="1800" b="0">
                <a:solidFill>
                  <a:srgbClr val="0B2839"/>
                </a:solidFill>
                <a:latin typeface="Avenir Next"/>
                <a:ea typeface="Avenir Next"/>
                <a:cs typeface="Avenir Next"/>
              </a:defRPr>
            </a:pPr>
            <a:r>
              <a:rPr sz="1800" b="0">
                <a:solidFill>
                  <a:srgbClr val="0B2839"/>
                </a:solidFill>
                <a:latin typeface="Avenir Next"/>
                <a:ea typeface="Avenir Next"/>
                <a:cs typeface="Avenir Next"/>
              </a:rPr>
              <a:t>  validation_split = 0.2,</a:t>
            </a:r>
          </a:p>
          <a:p xmlns:a="http://schemas.openxmlformats.org/drawingml/2006/main">
            <a:pPr>
              <a:buNone/>
              <a:defRPr sz="1800" b="0">
                <a:solidFill>
                  <a:srgbClr val="0B2839"/>
                </a:solidFill>
                <a:latin typeface="Avenir Next"/>
                <a:ea typeface="Avenir Next"/>
                <a:cs typeface="Avenir Next"/>
              </a:defRPr>
            </a:pPr>
            <a:r>
              <a:rPr sz="1800" b="0">
                <a:solidFill>
                  <a:srgbClr val="0B2839"/>
                </a:solidFill>
                <a:latin typeface="Avenir Next"/>
                <a:ea typeface="Avenir Next"/>
                <a:cs typeface="Avenir Next"/>
              </a:rPr>
              <a:t>  verbose = 1,</a:t>
            </a:r>
          </a:p>
          <a:p xmlns:a="http://schemas.openxmlformats.org/drawingml/2006/main">
            <a:pPr>
              <a:buNone/>
              <a:defRPr sz="1800" b="0">
                <a:solidFill>
                  <a:srgbClr val="0B2839"/>
                </a:solidFill>
                <a:latin typeface="Avenir Next"/>
                <a:ea typeface="Avenir Next"/>
                <a:cs typeface="Avenir Next"/>
              </a:defRPr>
            </a:pPr>
            <a:r>
              <a:rPr sz="1800" b="0">
                <a:solidFill>
                  <a:srgbClr val="0B2839"/>
                </a:solidFill>
                <a:latin typeface="Avenir Next"/>
                <a:ea typeface="Avenir Next"/>
                <a:cs typeface="Avenir Next"/>
              </a:rPr>
              <a:t>  callbacks = list(callback_early_stopping(patience = 10, restore_best_weights = TRUE))</a:t>
            </a:r>
          </a:p>
          <a:p xmlns:a="http://schemas.openxmlformats.org/drawingml/2006/main">
            <a:pPr>
              <a:buNone/>
              <a:defRPr sz="1800" b="0">
                <a:solidFill>
                  <a:srgbClr val="0B2839"/>
                </a:solidFill>
                <a:latin typeface="Avenir Next"/>
                <a:ea typeface="Avenir Next"/>
                <a:cs typeface="Avenir Next"/>
              </a:defRPr>
            </a:pPr>
            <a:r>
              <a:rPr sz="1800" b="0">
                <a:solidFill>
                  <a:srgbClr val="0B2839"/>
                </a:solidFill>
                <a:latin typeface="Avenir Next"/>
                <a:ea typeface="Avenir Next"/>
                <a:cs typeface="Avenir Next"/>
              </a:rPr>
              <a:t>)</a:t>
            </a:r>
          </a:p>
        </p:txBody>
      </p:sp>
      <p:sp>
        <p:nvSpPr>
          <p:cNvPr id="7" name="">
            <a:extLst xmlns:a="http://schemas.openxmlformats.org/drawingml/2006/main">
              <a:ext uri="{FF2B5EF4-FFF2-40B4-BE49-F238E27FC236}">
                <a16:creationId xmlns:a16="http://schemas.microsoft.com/office/drawing/2014/main" id="{1C184B12-87F8-4436-A3AC-F8A3F76311FF}"/>
              </a:ext>
            </a:extLst>
          </p:cNvPr>
          <p:cNvSpPr>
            <a:spLocks xmlns:a="http://schemas.openxmlformats.org/drawingml/2006/main" noGrp="1"/>
          </p:cNvSpPr>
          <p:nvPr/>
        </p:nvSpPr>
        <p:spPr>
          <a:xfrm xmlns:a="http://schemas.openxmlformats.org/drawingml/2006/main">
            <a:off x="619125" y="328612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D6D76"/>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2175" b="0">
                <a:solidFill>
                  <a:srgbClr val="5D6D76"/>
                </a:solidFill>
                <a:latin typeface="Avenir Next"/>
                <a:ea typeface="Avenir Next"/>
                <a:cs typeface="Avenir Next"/>
              </a:defRPr>
            </a:pPr>
          </a:p>
        </p:txBody>
      </p:sp>
      <p:sp>
        <p:nvSpPr>
          <p:cNvPr id="8" name="">
            <a:extLst xmlns:a="http://schemas.openxmlformats.org/drawingml/2006/main">
              <a:ext uri="{FF2B5EF4-FFF2-40B4-BE49-F238E27FC236}">
                <a16:creationId xmlns:a16="http://schemas.microsoft.com/office/drawing/2014/main" id="{740E79D6-454F-4066-A607-697432369A98}"/>
              </a:ext>
            </a:extLst>
          </p:cNvPr>
          <p:cNvSpPr>
            <a:spLocks xmlns:a="http://schemas.openxmlformats.org/drawingml/2006/main" noGrp="1"/>
          </p:cNvSpPr>
          <p:nvPr/>
        </p:nvSpPr>
        <p:spPr>
          <a:xfrm xmlns:a="http://schemas.openxmlformats.org/drawingml/2006/main">
            <a:off x="619125" y="423862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D6D76"/>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2175" b="0">
                <a:solidFill>
                  <a:srgbClr val="5D6D76"/>
                </a:solidFill>
                <a:latin typeface="Avenir Next"/>
                <a:ea typeface="Avenir Next"/>
                <a:cs typeface="Avenir Next"/>
              </a:defRPr>
            </a:pPr>
          </a:p>
        </p:txBody>
      </p:sp>
      <p:sp>
        <p:nvSpPr>
          <p:cNvPr id="9" name="">
            <a:extLst xmlns:a="http://schemas.openxmlformats.org/drawingml/2006/main">
              <a:ext uri="{FF2B5EF4-FFF2-40B4-BE49-F238E27FC236}">
                <a16:creationId xmlns:a16="http://schemas.microsoft.com/office/drawing/2014/main" id="{8FF13609-A534-45BB-BC7D-303B4F13A64F}"/>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144 patients update weights; 36 monitor learning; 90 remain for final testing.</a:t>
            </a:r>
          </a:p>
        </p:txBody>
      </p:sp>
    </p:spTree>
    <p:extLst>
      <p:ext uri="{BB962C8B-B14F-4D97-AF65-F5344CB8AC3E}">
        <p14:creationId xmlns:p14="http://schemas.microsoft.com/office/powerpoint/2010/main" val="163789653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0FADF5A-A7B7-4FEA-BB55-1C25390CA4D4}"/>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15</a:t>
            </a:r>
          </a:p>
        </p:txBody>
      </p:sp>
      <p:sp>
        <p:nvSpPr>
          <p:cNvPr id="2" name="">
            <a:extLst xmlns:a="http://schemas.openxmlformats.org/drawingml/2006/main">
              <a:ext uri="{FF2B5EF4-FFF2-40B4-BE49-F238E27FC236}">
                <a16:creationId xmlns:a16="http://schemas.microsoft.com/office/drawing/2014/main" id="{4759E0BA-F4E4-4A1E-8BFA-E88AA370C805}"/>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Read the training and validation loss</a:t>
            </a:r>
          </a:p>
        </p:txBody>
      </p:sp>
      <p:sp>
        <p:nvSpPr>
          <p:cNvPr id="3" name="">
            <a:extLst xmlns:a="http://schemas.openxmlformats.org/drawingml/2006/main">
              <a:ext uri="{FF2B5EF4-FFF2-40B4-BE49-F238E27FC236}">
                <a16:creationId xmlns:a16="http://schemas.microsoft.com/office/drawing/2014/main" id="{05D12374-AB38-4260-A8B7-A4D01F8D16FE}"/>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65521034-78A2-40AF-9552-541E6BCBC8FD}"/>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pic>
        <p:nvPicPr>
          <p:cNvPr id="5" name="">
            <a:extLst xmlns:a="http://schemas.openxmlformats.org/drawingml/2006/main">
              <a:ext uri="{FF2B5EF4-FFF2-40B4-BE49-F238E27FC236}">
                <a16:creationId xmlns:a16="http://schemas.microsoft.com/office/drawing/2014/main" id="{A89E4833-E8C8-4FFB-A389-733B645407A6}"/>
              </a:ext>
            </a:extLst>
          </p:cNvPr>
          <p:cNvPicPr>
            <a:picLocks xmlns:a="http://schemas.openxmlformats.org/drawingml/2006/main" noChangeAspect="1"/>
          </p:cNvPicPr>
          <p:nvPr/>
        </p:nvPicPr>
        <p:blipFill>
          <a:blip xmlns:r="http://schemas.openxmlformats.org/officeDocument/2006/relationships" xmlns:a="http://schemas.openxmlformats.org/drawingml/2006/main" r:embed="R50ad75df84714699"/>
          <a:stretch xmlns:a="http://schemas.openxmlformats.org/drawingml/2006/main"/>
        </p:blipFill>
        <p:spPr>
          <a:xfrm xmlns:a="http://schemas.openxmlformats.org/drawingml/2006/main">
            <a:off x="1444625" y="1190625"/>
            <a:ext cx="5588000" cy="4191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0B291F8-283C-438C-8160-C65055CD5B7D}"/>
              </a:ext>
            </a:extLst>
          </p:cNvPr>
          <p:cNvSpPr>
            <a:spLocks xmlns:a="http://schemas.openxmlformats.org/drawingml/2006/main" noGrp="1"/>
          </p:cNvSpPr>
          <p:nvPr/>
        </p:nvSpPr>
        <p:spPr>
          <a:xfrm xmlns:a="http://schemas.openxmlformats.org/drawingml/2006/main">
            <a:off x="8143875" y="1333500"/>
            <a:ext cx="3476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D6D76"/>
                </a:solidFill>
                <a:latin typeface="Avenir Next"/>
                <a:ea typeface="Avenir Next"/>
                <a:cs typeface="Avenir Next"/>
              </a:defRPr>
            </a:defPPr>
            <a:lvl1pPr>
              <a:buNone/>
              <a:defRPr sz="1875" b="0">
                <a:solidFill>
                  <a:srgbClr val="5D6D76"/>
                </a:solidFill>
                <a:latin typeface="Avenir Next"/>
                <a:ea typeface="Avenir Next"/>
                <a:cs typeface="Avenir Next"/>
              </a:defRPr>
            </a:lvl1pPr>
            <a:lvl2pPr>
              <a:buNone/>
              <a:defRPr sz="1875" b="0">
                <a:solidFill>
                  <a:srgbClr val="5D6D76"/>
                </a:solidFill>
                <a:latin typeface="Avenir Next"/>
                <a:ea typeface="Avenir Next"/>
                <a:cs typeface="Avenir Next"/>
              </a:defRPr>
            </a:lvl2pPr>
            <a:lvl3pPr>
              <a:buNone/>
              <a:defRPr sz="1875" b="0">
                <a:solidFill>
                  <a:srgbClr val="5D6D76"/>
                </a:solidFill>
                <a:latin typeface="Avenir Next"/>
                <a:ea typeface="Avenir Next"/>
                <a:cs typeface="Avenir Next"/>
              </a:defRPr>
            </a:lvl3pPr>
            <a:lvl4pPr>
              <a:buNone/>
              <a:defRPr sz="1875" b="0">
                <a:solidFill>
                  <a:srgbClr val="5D6D76"/>
                </a:solidFill>
                <a:latin typeface="Avenir Next"/>
                <a:ea typeface="Avenir Next"/>
                <a:cs typeface="Avenir Next"/>
              </a:defRPr>
            </a:lvl4pPr>
            <a:lvl5pPr>
              <a:buNone/>
              <a:defRPr sz="1875" b="0">
                <a:solidFill>
                  <a:srgbClr val="5D6D76"/>
                </a:solidFill>
                <a:latin typeface="Avenir Next"/>
                <a:ea typeface="Avenir Next"/>
                <a:cs typeface="Avenir Next"/>
              </a:defRPr>
            </a:lvl5pPr>
            <a:lvl6pPr>
              <a:buNone/>
              <a:defRPr sz="1875" b="0">
                <a:solidFill>
                  <a:srgbClr val="5D6D76"/>
                </a:solidFill>
                <a:latin typeface="Avenir Next"/>
                <a:ea typeface="Avenir Next"/>
                <a:cs typeface="Avenir Next"/>
              </a:defRPr>
            </a:lvl6pPr>
            <a:lvl7pPr>
              <a:buNone/>
              <a:defRPr sz="1875" b="0">
                <a:solidFill>
                  <a:srgbClr val="5D6D76"/>
                </a:solidFill>
                <a:latin typeface="Avenir Next"/>
                <a:ea typeface="Avenir Next"/>
                <a:cs typeface="Avenir Next"/>
              </a:defRPr>
            </a:lvl7pPr>
            <a:lvl8pPr>
              <a:buNone/>
              <a:defRPr sz="1875" b="0">
                <a:solidFill>
                  <a:srgbClr val="5D6D76"/>
                </a:solidFill>
                <a:latin typeface="Avenir Next"/>
                <a:ea typeface="Avenir Next"/>
                <a:cs typeface="Avenir Next"/>
              </a:defRPr>
            </a:lvl8pPr>
            <a:lvl9pPr>
              <a:buNone/>
              <a:defRPr sz="1875" b="0">
                <a:solidFill>
                  <a:srgbClr val="5D6D76"/>
                </a:solidFill>
                <a:latin typeface="Avenir Next"/>
                <a:ea typeface="Avenir Next"/>
                <a:cs typeface="Avenir Next"/>
              </a:defRPr>
            </a:lvl9pPr>
          </a:lstStyle>
          <a:p xmlns:a="http://schemas.openxmlformats.org/drawingml/2006/main">
            <a:pPr>
              <a:buNone/>
              <a:defRPr sz="1875" b="0">
                <a:solidFill>
                  <a:srgbClr val="5D6D76"/>
                </a:solidFill>
                <a:latin typeface="Avenir Next"/>
                <a:ea typeface="Avenir Next"/>
                <a:cs typeface="Avenir Next"/>
              </a:defRPr>
            </a:pPr>
            <a:r>
              <a:rPr sz="1875" b="0">
                <a:solidFill>
                  <a:srgbClr val="5D6D76"/>
                </a:solidFill>
                <a:latin typeface="Avenir Next"/>
                <a:ea typeface="Avenir Next"/>
                <a:cs typeface="Avenir Next"/>
              </a:rPr>
              <a:t>Training loss measures fit</a:t>
            </a:r>
          </a:p>
          <a:p xmlns:a="http://schemas.openxmlformats.org/drawingml/2006/main">
            <a:pPr>
              <a:buNone/>
              <a:defRPr sz="1875" b="0">
                <a:solidFill>
                  <a:srgbClr val="5D6D76"/>
                </a:solidFill>
                <a:latin typeface="Avenir Next"/>
                <a:ea typeface="Avenir Next"/>
                <a:cs typeface="Avenir Next"/>
              </a:defRPr>
            </a:pPr>
            <a:r>
              <a:rPr sz="1875" b="0">
                <a:solidFill>
                  <a:srgbClr val="5D6D76"/>
                </a:solidFill>
                <a:latin typeface="Avenir Next"/>
                <a:ea typeface="Avenir Next"/>
                <a:cs typeface="Avenir Next"/>
              </a:rPr>
              <a:t>on rows used for learning.</a:t>
            </a:r>
          </a:p>
        </p:txBody>
      </p:sp>
      <p:sp>
        <p:nvSpPr>
          <p:cNvPr id="7" name="">
            <a:extLst xmlns:a="http://schemas.openxmlformats.org/drawingml/2006/main">
              <a:ext uri="{FF2B5EF4-FFF2-40B4-BE49-F238E27FC236}">
                <a16:creationId xmlns:a16="http://schemas.microsoft.com/office/drawing/2014/main" id="{FD4AFDB7-BDB3-4970-A139-436766805E64}"/>
              </a:ext>
            </a:extLst>
          </p:cNvPr>
          <p:cNvSpPr>
            <a:spLocks xmlns:a="http://schemas.openxmlformats.org/drawingml/2006/main" noGrp="1"/>
          </p:cNvSpPr>
          <p:nvPr/>
        </p:nvSpPr>
        <p:spPr>
          <a:xfrm xmlns:a="http://schemas.openxmlformats.org/drawingml/2006/main">
            <a:off x="8143875" y="2524125"/>
            <a:ext cx="3476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D6D76"/>
                </a:solidFill>
                <a:latin typeface="Avenir Next"/>
                <a:ea typeface="Avenir Next"/>
                <a:cs typeface="Avenir Next"/>
              </a:defRPr>
            </a:defPPr>
            <a:lvl1pPr>
              <a:buNone/>
              <a:defRPr sz="1875" b="0">
                <a:solidFill>
                  <a:srgbClr val="5D6D76"/>
                </a:solidFill>
                <a:latin typeface="Avenir Next"/>
                <a:ea typeface="Avenir Next"/>
                <a:cs typeface="Avenir Next"/>
              </a:defRPr>
            </a:lvl1pPr>
            <a:lvl2pPr>
              <a:buNone/>
              <a:defRPr sz="1875" b="0">
                <a:solidFill>
                  <a:srgbClr val="5D6D76"/>
                </a:solidFill>
                <a:latin typeface="Avenir Next"/>
                <a:ea typeface="Avenir Next"/>
                <a:cs typeface="Avenir Next"/>
              </a:defRPr>
            </a:lvl2pPr>
            <a:lvl3pPr>
              <a:buNone/>
              <a:defRPr sz="1875" b="0">
                <a:solidFill>
                  <a:srgbClr val="5D6D76"/>
                </a:solidFill>
                <a:latin typeface="Avenir Next"/>
                <a:ea typeface="Avenir Next"/>
                <a:cs typeface="Avenir Next"/>
              </a:defRPr>
            </a:lvl3pPr>
            <a:lvl4pPr>
              <a:buNone/>
              <a:defRPr sz="1875" b="0">
                <a:solidFill>
                  <a:srgbClr val="5D6D76"/>
                </a:solidFill>
                <a:latin typeface="Avenir Next"/>
                <a:ea typeface="Avenir Next"/>
                <a:cs typeface="Avenir Next"/>
              </a:defRPr>
            </a:lvl4pPr>
            <a:lvl5pPr>
              <a:buNone/>
              <a:defRPr sz="1875" b="0">
                <a:solidFill>
                  <a:srgbClr val="5D6D76"/>
                </a:solidFill>
                <a:latin typeface="Avenir Next"/>
                <a:ea typeface="Avenir Next"/>
                <a:cs typeface="Avenir Next"/>
              </a:defRPr>
            </a:lvl5pPr>
            <a:lvl6pPr>
              <a:buNone/>
              <a:defRPr sz="1875" b="0">
                <a:solidFill>
                  <a:srgbClr val="5D6D76"/>
                </a:solidFill>
                <a:latin typeface="Avenir Next"/>
                <a:ea typeface="Avenir Next"/>
                <a:cs typeface="Avenir Next"/>
              </a:defRPr>
            </a:lvl6pPr>
            <a:lvl7pPr>
              <a:buNone/>
              <a:defRPr sz="1875" b="0">
                <a:solidFill>
                  <a:srgbClr val="5D6D76"/>
                </a:solidFill>
                <a:latin typeface="Avenir Next"/>
                <a:ea typeface="Avenir Next"/>
                <a:cs typeface="Avenir Next"/>
              </a:defRPr>
            </a:lvl7pPr>
            <a:lvl8pPr>
              <a:buNone/>
              <a:defRPr sz="1875" b="0">
                <a:solidFill>
                  <a:srgbClr val="5D6D76"/>
                </a:solidFill>
                <a:latin typeface="Avenir Next"/>
                <a:ea typeface="Avenir Next"/>
                <a:cs typeface="Avenir Next"/>
              </a:defRPr>
            </a:lvl8pPr>
            <a:lvl9pPr>
              <a:buNone/>
              <a:defRPr sz="1875" b="0">
                <a:solidFill>
                  <a:srgbClr val="5D6D76"/>
                </a:solidFill>
                <a:latin typeface="Avenir Next"/>
                <a:ea typeface="Avenir Next"/>
                <a:cs typeface="Avenir Next"/>
              </a:defRPr>
            </a:lvl9pPr>
          </a:lstStyle>
          <a:p xmlns:a="http://schemas.openxmlformats.org/drawingml/2006/main">
            <a:pPr>
              <a:buNone/>
              <a:defRPr sz="1875" b="0">
                <a:solidFill>
                  <a:srgbClr val="5D6D76"/>
                </a:solidFill>
                <a:latin typeface="Avenir Next"/>
                <a:ea typeface="Avenir Next"/>
                <a:cs typeface="Avenir Next"/>
              </a:defRPr>
            </a:pPr>
            <a:r>
              <a:rPr sz="1875" b="0">
                <a:solidFill>
                  <a:srgbClr val="5D6D76"/>
                </a:solidFill>
                <a:latin typeface="Avenir Next"/>
                <a:ea typeface="Avenir Next"/>
                <a:cs typeface="Avenir Next"/>
              </a:rPr>
              <a:t>Validation loss monitors</a:t>
            </a:r>
          </a:p>
          <a:p xmlns:a="http://schemas.openxmlformats.org/drawingml/2006/main">
            <a:pPr>
              <a:buNone/>
              <a:defRPr sz="1875" b="0">
                <a:solidFill>
                  <a:srgbClr val="5D6D76"/>
                </a:solidFill>
                <a:latin typeface="Avenir Next"/>
                <a:ea typeface="Avenir Next"/>
                <a:cs typeface="Avenir Next"/>
              </a:defRPr>
            </a:pPr>
            <a:r>
              <a:rPr sz="1875" b="0">
                <a:solidFill>
                  <a:srgbClr val="5D6D76"/>
                </a:solidFill>
                <a:latin typeface="Avenir Next"/>
                <a:ea typeface="Avenir Next"/>
                <a:cs typeface="Avenir Next"/>
              </a:rPr>
              <a:t>rows kept out of updates.</a:t>
            </a:r>
          </a:p>
        </p:txBody>
      </p:sp>
      <p:sp>
        <p:nvSpPr>
          <p:cNvPr id="8" name="">
            <a:extLst xmlns:a="http://schemas.openxmlformats.org/drawingml/2006/main">
              <a:ext uri="{FF2B5EF4-FFF2-40B4-BE49-F238E27FC236}">
                <a16:creationId xmlns:a16="http://schemas.microsoft.com/office/drawing/2014/main" id="{7CC34CE7-B45F-4E53-A19B-9F1CA1841237}"/>
              </a:ext>
            </a:extLst>
          </p:cNvPr>
          <p:cNvSpPr>
            <a:spLocks xmlns:a="http://schemas.openxmlformats.org/drawingml/2006/main" noGrp="1"/>
          </p:cNvSpPr>
          <p:nvPr/>
        </p:nvSpPr>
        <p:spPr>
          <a:xfrm xmlns:a="http://schemas.openxmlformats.org/drawingml/2006/main">
            <a:off x="8143875" y="3714750"/>
            <a:ext cx="3476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D6D76"/>
                </a:solidFill>
                <a:latin typeface="Avenir Next"/>
                <a:ea typeface="Avenir Next"/>
                <a:cs typeface="Avenir Next"/>
              </a:defRPr>
            </a:defPPr>
            <a:lvl1pPr>
              <a:buNone/>
              <a:defRPr sz="1875" b="0">
                <a:solidFill>
                  <a:srgbClr val="5D6D76"/>
                </a:solidFill>
                <a:latin typeface="Avenir Next"/>
                <a:ea typeface="Avenir Next"/>
                <a:cs typeface="Avenir Next"/>
              </a:defRPr>
            </a:lvl1pPr>
            <a:lvl2pPr>
              <a:buNone/>
              <a:defRPr sz="1875" b="0">
                <a:solidFill>
                  <a:srgbClr val="5D6D76"/>
                </a:solidFill>
                <a:latin typeface="Avenir Next"/>
                <a:ea typeface="Avenir Next"/>
                <a:cs typeface="Avenir Next"/>
              </a:defRPr>
            </a:lvl2pPr>
            <a:lvl3pPr>
              <a:buNone/>
              <a:defRPr sz="1875" b="0">
                <a:solidFill>
                  <a:srgbClr val="5D6D76"/>
                </a:solidFill>
                <a:latin typeface="Avenir Next"/>
                <a:ea typeface="Avenir Next"/>
                <a:cs typeface="Avenir Next"/>
              </a:defRPr>
            </a:lvl3pPr>
            <a:lvl4pPr>
              <a:buNone/>
              <a:defRPr sz="1875" b="0">
                <a:solidFill>
                  <a:srgbClr val="5D6D76"/>
                </a:solidFill>
                <a:latin typeface="Avenir Next"/>
                <a:ea typeface="Avenir Next"/>
                <a:cs typeface="Avenir Next"/>
              </a:defRPr>
            </a:lvl4pPr>
            <a:lvl5pPr>
              <a:buNone/>
              <a:defRPr sz="1875" b="0">
                <a:solidFill>
                  <a:srgbClr val="5D6D76"/>
                </a:solidFill>
                <a:latin typeface="Avenir Next"/>
                <a:ea typeface="Avenir Next"/>
                <a:cs typeface="Avenir Next"/>
              </a:defRPr>
            </a:lvl5pPr>
            <a:lvl6pPr>
              <a:buNone/>
              <a:defRPr sz="1875" b="0">
                <a:solidFill>
                  <a:srgbClr val="5D6D76"/>
                </a:solidFill>
                <a:latin typeface="Avenir Next"/>
                <a:ea typeface="Avenir Next"/>
                <a:cs typeface="Avenir Next"/>
              </a:defRPr>
            </a:lvl6pPr>
            <a:lvl7pPr>
              <a:buNone/>
              <a:defRPr sz="1875" b="0">
                <a:solidFill>
                  <a:srgbClr val="5D6D76"/>
                </a:solidFill>
                <a:latin typeface="Avenir Next"/>
                <a:ea typeface="Avenir Next"/>
                <a:cs typeface="Avenir Next"/>
              </a:defRPr>
            </a:lvl7pPr>
            <a:lvl8pPr>
              <a:buNone/>
              <a:defRPr sz="1875" b="0">
                <a:solidFill>
                  <a:srgbClr val="5D6D76"/>
                </a:solidFill>
                <a:latin typeface="Avenir Next"/>
                <a:ea typeface="Avenir Next"/>
                <a:cs typeface="Avenir Next"/>
              </a:defRPr>
            </a:lvl8pPr>
            <a:lvl9pPr>
              <a:buNone/>
              <a:defRPr sz="1875" b="0">
                <a:solidFill>
                  <a:srgbClr val="5D6D76"/>
                </a:solidFill>
                <a:latin typeface="Avenir Next"/>
                <a:ea typeface="Avenir Next"/>
                <a:cs typeface="Avenir Next"/>
              </a:defRPr>
            </a:lvl9pPr>
          </a:lstStyle>
          <a:p xmlns:a="http://schemas.openxmlformats.org/drawingml/2006/main">
            <a:pPr>
              <a:buNone/>
              <a:defRPr sz="1875" b="0">
                <a:solidFill>
                  <a:srgbClr val="5D6D76"/>
                </a:solidFill>
                <a:latin typeface="Avenir Next"/>
                <a:ea typeface="Avenir Next"/>
                <a:cs typeface="Avenir Next"/>
              </a:defRPr>
            </a:pPr>
            <a:r>
              <a:rPr sz="1875" b="0">
                <a:solidFill>
                  <a:srgbClr val="5D6D76"/>
                </a:solidFill>
                <a:latin typeface="Avenir Next"/>
                <a:ea typeface="Avenir Next"/>
                <a:cs typeface="Avenir Next"/>
              </a:rPr>
              <a:t>Early stopping restores</a:t>
            </a:r>
          </a:p>
          <a:p xmlns:a="http://schemas.openxmlformats.org/drawingml/2006/main">
            <a:pPr>
              <a:buNone/>
              <a:defRPr sz="1875" b="0">
                <a:solidFill>
                  <a:srgbClr val="5D6D76"/>
                </a:solidFill>
                <a:latin typeface="Avenir Next"/>
                <a:ea typeface="Avenir Next"/>
                <a:cs typeface="Avenir Next"/>
              </a:defRPr>
            </a:pPr>
            <a:r>
              <a:rPr sz="1875" b="0">
                <a:solidFill>
                  <a:srgbClr val="5D6D76"/>
                </a:solidFill>
                <a:latin typeface="Avenir Next"/>
                <a:ea typeface="Avenir Next"/>
                <a:cs typeface="Avenir Next"/>
              </a:rPr>
              <a:t>the best validation weights.</a:t>
            </a:r>
          </a:p>
        </p:txBody>
      </p:sp>
      <p:sp>
        <p:nvSpPr>
          <p:cNvPr id="9" name="">
            <a:extLst xmlns:a="http://schemas.openxmlformats.org/drawingml/2006/main">
              <a:ext uri="{FF2B5EF4-FFF2-40B4-BE49-F238E27FC236}">
                <a16:creationId xmlns:a16="http://schemas.microsoft.com/office/drawing/2014/main" id="{2F745F0B-6F1F-4E36-ADC6-ECAC9076CEB3}"/>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Run plot(training). The displayed figure is the saved workshop run.</a:t>
            </a:r>
          </a:p>
        </p:txBody>
      </p:sp>
    </p:spTree>
    <p:extLst>
      <p:ext uri="{BB962C8B-B14F-4D97-AF65-F5344CB8AC3E}">
        <p14:creationId xmlns:p14="http://schemas.microsoft.com/office/powerpoint/2010/main" val="128075166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C20468C-E9D7-422F-AF3E-58E463EB0A7A}"/>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16</a:t>
            </a:r>
          </a:p>
        </p:txBody>
      </p:sp>
      <p:sp>
        <p:nvSpPr>
          <p:cNvPr id="2" name="">
            <a:extLst xmlns:a="http://schemas.openxmlformats.org/drawingml/2006/main">
              <a:ext uri="{FF2B5EF4-FFF2-40B4-BE49-F238E27FC236}">
                <a16:creationId xmlns:a16="http://schemas.microsoft.com/office/drawing/2014/main" id="{E1855F58-D470-479A-83C4-AC9DDFB53860}"/>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Evaluate Keras predictions with mlr3</a:t>
            </a:r>
          </a:p>
        </p:txBody>
      </p:sp>
      <p:sp>
        <p:nvSpPr>
          <p:cNvPr id="3" name="">
            <a:extLst xmlns:a="http://schemas.openxmlformats.org/drawingml/2006/main">
              <a:ext uri="{FF2B5EF4-FFF2-40B4-BE49-F238E27FC236}">
                <a16:creationId xmlns:a16="http://schemas.microsoft.com/office/drawing/2014/main" id="{0CC3CD43-AE2C-411A-9B79-698A4E820D7C}"/>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583D148A-F63E-44CE-B53E-7A39C3AA2AD7}"/>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sp>
        <p:nvSpPr>
          <p:cNvPr id="5" name="">
            <a:extLst xmlns:a="http://schemas.openxmlformats.org/drawingml/2006/main">
              <a:ext uri="{FF2B5EF4-FFF2-40B4-BE49-F238E27FC236}">
                <a16:creationId xmlns:a16="http://schemas.microsoft.com/office/drawing/2014/main" id="{C9B51000-A834-46BC-AB36-54AAEDD0DFB3}"/>
              </a:ext>
            </a:extLst>
          </p:cNvPr>
          <p:cNvSpPr>
            <a:spLocks xmlns:a="http://schemas.openxmlformats.org/drawingml/2006/main" noGrp="1"/>
          </p:cNvSpPr>
          <p:nvPr/>
        </p:nvSpPr>
        <p:spPr>
          <a:xfrm xmlns:a="http://schemas.openxmlformats.org/drawingml/2006/main">
            <a:off x="619125" y="12573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D6D76"/>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2175" b="0">
                <a:solidFill>
                  <a:srgbClr val="5D6D76"/>
                </a:solidFill>
                <a:latin typeface="Avenir Next"/>
                <a:ea typeface="Avenir Next"/>
                <a:cs typeface="Avenir Next"/>
              </a:defRPr>
            </a:pPr>
            <a:r>
              <a:rPr sz="2175" b="0">
                <a:solidFill>
                  <a:srgbClr val="5D6D76"/>
                </a:solidFill>
                <a:latin typeface="Avenir Next"/>
                <a:ea typeface="Avenir Next"/>
                <a:cs typeface="Avenir Next"/>
              </a:rPr>
              <a:t>Predict the 90 test patients, then compare predictions with their outcomes.</a:t>
            </a:r>
          </a:p>
        </p:txBody>
      </p:sp>
      <p:sp>
        <p:nvSpPr>
          <p:cNvPr id="6" name="">
            <a:extLst xmlns:a="http://schemas.openxmlformats.org/drawingml/2006/main">
              <a:ext uri="{FF2B5EF4-FFF2-40B4-BE49-F238E27FC236}">
                <a16:creationId xmlns:a16="http://schemas.microsoft.com/office/drawing/2014/main" id="{888DCDFE-2431-4546-A730-7C10B3B72FAF}"/>
              </a:ext>
            </a:extLst>
          </p:cNvPr>
          <p:cNvSpPr>
            <a:spLocks xmlns:a="http://schemas.openxmlformats.org/drawingml/2006/main" noGrp="1"/>
          </p:cNvSpPr>
          <p:nvPr/>
        </p:nvSpPr>
        <p:spPr>
          <a:xfrm xmlns:a="http://schemas.openxmlformats.org/drawingml/2006/main">
            <a:off x="619125" y="2019300"/>
            <a:ext cx="10953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B2839"/>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1875" b="0">
                <a:solidFill>
                  <a:srgbClr val="0B2839"/>
                </a:solidFill>
                <a:latin typeface="Avenir Next"/>
                <a:ea typeface="Avenir Next"/>
                <a:cs typeface="Avenir Next"/>
              </a:defRPr>
            </a:pPr>
            <a:r>
              <a:rPr sz="1875" b="0">
                <a:solidFill>
                  <a:srgbClr val="0B2839"/>
                </a:solidFill>
                <a:latin typeface="Avenir Next"/>
                <a:ea typeface="Avenir Next"/>
                <a:cs typeface="Avenir Next"/>
              </a:rPr>
              <a:t>prob &lt;- as.numeric(predict(network, x[split$test, ], verbose = 0))</a:t>
            </a:r>
          </a:p>
          <a:p xmlns:a="http://schemas.openxmlformats.org/drawingml/2006/main">
            <a:pPr>
              <a:buNone/>
              <a:defRPr sz="1875" b="0">
                <a:solidFill>
                  <a:srgbClr val="0B2839"/>
                </a:solidFill>
                <a:latin typeface="Avenir Next"/>
                <a:ea typeface="Avenir Next"/>
                <a:cs typeface="Avenir Next"/>
              </a:defRPr>
            </a:pPr>
            <a:r>
              <a:rPr sz="1875" b="0">
                <a:solidFill>
                  <a:srgbClr val="0B2839"/>
                </a:solidFill>
                <a:latin typeface="Avenir Next"/>
                <a:ea typeface="Avenir Next"/>
                <a:cs typeface="Avenir Next"/>
              </a:rPr>
              <a:t>class &lt;- ifelse(prob &gt;= 0.5, "present", "absent")</a:t>
            </a:r>
          </a:p>
          <a:p xmlns:a="http://schemas.openxmlformats.org/drawingml/2006/main">
            <a:pPr>
              <a:buNone/>
              <a:defRPr sz="1875" b="0">
                <a:solidFill>
                  <a:srgbClr val="0B2839"/>
                </a:solidFill>
                <a:latin typeface="Avenir Next"/>
                <a:ea typeface="Avenir Next"/>
                <a:cs typeface="Avenir Next"/>
              </a:defRPr>
            </a:pPr>
            <a:r>
              <a:rPr sz="1875" b="0">
                <a:solidFill>
                  <a:srgbClr val="0B2839"/>
                </a:solidFill>
                <a:latin typeface="Avenir Next"/>
                <a:ea typeface="Avenir Next"/>
                <a:cs typeface="Avenir Next"/>
              </a:rPr>
              <a:t>network_pred &lt;- PredictionClassif$new(</a:t>
            </a:r>
          </a:p>
          <a:p xmlns:a="http://schemas.openxmlformats.org/drawingml/2006/main">
            <a:pPr>
              <a:buNone/>
              <a:defRPr sz="1875" b="0">
                <a:solidFill>
                  <a:srgbClr val="0B2839"/>
                </a:solidFill>
                <a:latin typeface="Avenir Next"/>
                <a:ea typeface="Avenir Next"/>
                <a:cs typeface="Avenir Next"/>
              </a:defRPr>
            </a:pPr>
            <a:r>
              <a:rPr sz="1875" b="0">
                <a:solidFill>
                  <a:srgbClr val="0B2839"/>
                </a:solidFill>
                <a:latin typeface="Avenir Next"/>
                <a:ea typeface="Avenir Next"/>
                <a:cs typeface="Avenir Next"/>
              </a:rPr>
              <a:t>  task = heart_task, row_ids = split$test,</a:t>
            </a:r>
          </a:p>
          <a:p xmlns:a="http://schemas.openxmlformats.org/drawingml/2006/main">
            <a:pPr>
              <a:buNone/>
              <a:defRPr sz="1875" b="0">
                <a:solidFill>
                  <a:srgbClr val="0B2839"/>
                </a:solidFill>
                <a:latin typeface="Avenir Next"/>
                <a:ea typeface="Avenir Next"/>
                <a:cs typeface="Avenir Next"/>
              </a:defRPr>
            </a:pPr>
            <a:r>
              <a:rPr sz="1875" b="0">
                <a:solidFill>
                  <a:srgbClr val="0B2839"/>
                </a:solidFill>
                <a:latin typeface="Avenir Next"/>
                <a:ea typeface="Avenir Next"/>
                <a:cs typeface="Avenir Next"/>
              </a:rPr>
              <a:t>  truth = heart_task$truth(rows = split$test),</a:t>
            </a:r>
          </a:p>
          <a:p xmlns:a="http://schemas.openxmlformats.org/drawingml/2006/main">
            <a:pPr>
              <a:buNone/>
              <a:defRPr sz="1875" b="0">
                <a:solidFill>
                  <a:srgbClr val="0B2839"/>
                </a:solidFill>
                <a:latin typeface="Avenir Next"/>
                <a:ea typeface="Avenir Next"/>
                <a:cs typeface="Avenir Next"/>
              </a:defRPr>
            </a:pPr>
            <a:r>
              <a:rPr sz="1875" b="0">
                <a:solidFill>
                  <a:srgbClr val="0B2839"/>
                </a:solidFill>
                <a:latin typeface="Avenir Next"/>
                <a:ea typeface="Avenir Next"/>
                <a:cs typeface="Avenir Next"/>
              </a:rPr>
              <a:t>  response = class,</a:t>
            </a:r>
          </a:p>
          <a:p xmlns:a="http://schemas.openxmlformats.org/drawingml/2006/main">
            <a:pPr>
              <a:buNone/>
              <a:defRPr sz="1875" b="0">
                <a:solidFill>
                  <a:srgbClr val="0B2839"/>
                </a:solidFill>
                <a:latin typeface="Avenir Next"/>
                <a:ea typeface="Avenir Next"/>
                <a:cs typeface="Avenir Next"/>
              </a:defRPr>
            </a:pPr>
            <a:r>
              <a:rPr sz="1875" b="0">
                <a:solidFill>
                  <a:srgbClr val="0B2839"/>
                </a:solidFill>
                <a:latin typeface="Avenir Next"/>
                <a:ea typeface="Avenir Next"/>
                <a:cs typeface="Avenir Next"/>
              </a:rPr>
              <a:t>  prob = cbind(present = prob, absent = 1 - prob)</a:t>
            </a:r>
          </a:p>
          <a:p xmlns:a="http://schemas.openxmlformats.org/drawingml/2006/main">
            <a:pPr>
              <a:buNone/>
              <a:defRPr sz="1875" b="0">
                <a:solidFill>
                  <a:srgbClr val="0B2839"/>
                </a:solidFill>
                <a:latin typeface="Avenir Next"/>
                <a:ea typeface="Avenir Next"/>
                <a:cs typeface="Avenir Next"/>
              </a:defRPr>
            </a:pPr>
            <a:r>
              <a:rPr sz="1875" b="0">
                <a:solidFill>
                  <a:srgbClr val="0B2839"/>
                </a:solidFill>
                <a:latin typeface="Avenir Next"/>
                <a:ea typeface="Avenir Next"/>
                <a:cs typeface="Avenir Next"/>
              </a:rPr>
              <a:t>)</a:t>
            </a:r>
          </a:p>
          <a:p xmlns:a="http://schemas.openxmlformats.org/drawingml/2006/main">
            <a:pPr>
              <a:buNone/>
              <a:defRPr sz="1875" b="0">
                <a:solidFill>
                  <a:srgbClr val="0B2839"/>
                </a:solidFill>
                <a:latin typeface="Avenir Next"/>
                <a:ea typeface="Avenir Next"/>
                <a:cs typeface="Avenir Next"/>
              </a:defRPr>
            </a:pPr>
            <a:r>
              <a:rPr sz="1875" b="0">
                <a:solidFill>
                  <a:srgbClr val="0B2839"/>
                </a:solidFill>
                <a:latin typeface="Avenir Next"/>
                <a:ea typeface="Avenir Next"/>
                <a:cs typeface="Avenir Next"/>
              </a:rPr>
              <a:t>network_pred$confusion</a:t>
            </a:r>
          </a:p>
          <a:p xmlns:a="http://schemas.openxmlformats.org/drawingml/2006/main">
            <a:pPr>
              <a:buNone/>
              <a:defRPr sz="1875" b="0">
                <a:solidFill>
                  <a:srgbClr val="0B2839"/>
                </a:solidFill>
                <a:latin typeface="Avenir Next"/>
                <a:ea typeface="Avenir Next"/>
                <a:cs typeface="Avenir Next"/>
              </a:defRPr>
            </a:pPr>
            <a:r>
              <a:rPr sz="1875" b="0">
                <a:solidFill>
                  <a:srgbClr val="0B2839"/>
                </a:solidFill>
                <a:latin typeface="Avenir Next"/>
                <a:ea typeface="Avenir Next"/>
                <a:cs typeface="Avenir Next"/>
              </a:rPr>
              <a:t>network_pred$score(msrs(c("classif.acc", "classif.tpr", "classif.tnr")))</a:t>
            </a:r>
          </a:p>
        </p:txBody>
      </p:sp>
      <p:sp>
        <p:nvSpPr>
          <p:cNvPr id="7" name="">
            <a:extLst xmlns:a="http://schemas.openxmlformats.org/drawingml/2006/main">
              <a:ext uri="{FF2B5EF4-FFF2-40B4-BE49-F238E27FC236}">
                <a16:creationId xmlns:a16="http://schemas.microsoft.com/office/drawing/2014/main" id="{1C184B12-87F8-4436-A3AC-F8A3F76311FF}"/>
              </a:ext>
            </a:extLst>
          </p:cNvPr>
          <p:cNvSpPr>
            <a:spLocks xmlns:a="http://schemas.openxmlformats.org/drawingml/2006/main" noGrp="1"/>
          </p:cNvSpPr>
          <p:nvPr/>
        </p:nvSpPr>
        <p:spPr>
          <a:xfrm xmlns:a="http://schemas.openxmlformats.org/drawingml/2006/main">
            <a:off x="619125" y="328612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D6D76"/>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2175" b="0">
                <a:solidFill>
                  <a:srgbClr val="5D6D76"/>
                </a:solidFill>
                <a:latin typeface="Avenir Next"/>
                <a:ea typeface="Avenir Next"/>
                <a:cs typeface="Avenir Next"/>
              </a:defRPr>
            </a:pPr>
          </a:p>
        </p:txBody>
      </p:sp>
      <p:sp>
        <p:nvSpPr>
          <p:cNvPr id="8" name="">
            <a:extLst xmlns:a="http://schemas.openxmlformats.org/drawingml/2006/main">
              <a:ext uri="{FF2B5EF4-FFF2-40B4-BE49-F238E27FC236}">
                <a16:creationId xmlns:a16="http://schemas.microsoft.com/office/drawing/2014/main" id="{740E79D6-454F-4066-A607-697432369A98}"/>
              </a:ext>
            </a:extLst>
          </p:cNvPr>
          <p:cNvSpPr>
            <a:spLocks xmlns:a="http://schemas.openxmlformats.org/drawingml/2006/main" noGrp="1"/>
          </p:cNvSpPr>
          <p:nvPr/>
        </p:nvSpPr>
        <p:spPr>
          <a:xfrm xmlns:a="http://schemas.openxmlformats.org/drawingml/2006/main">
            <a:off x="619125" y="423862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D6D76"/>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2175" b="0">
                <a:solidFill>
                  <a:srgbClr val="5D6D76"/>
                </a:solidFill>
                <a:latin typeface="Avenir Next"/>
                <a:ea typeface="Avenir Next"/>
                <a:cs typeface="Avenir Next"/>
              </a:defRPr>
            </a:pPr>
          </a:p>
        </p:txBody>
      </p:sp>
      <p:sp>
        <p:nvSpPr>
          <p:cNvPr id="9" name="">
            <a:extLst xmlns:a="http://schemas.openxmlformats.org/drawingml/2006/main">
              <a:ext uri="{FF2B5EF4-FFF2-40B4-BE49-F238E27FC236}">
                <a16:creationId xmlns:a16="http://schemas.microsoft.com/office/drawing/2014/main" id="{8FF13609-A534-45BB-BC7D-303B4F13A64F}"/>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The same three measures let us compare the network with the saved forest.</a:t>
            </a:r>
          </a:p>
        </p:txBody>
      </p:sp>
    </p:spTree>
    <p:extLst>
      <p:ext uri="{BB962C8B-B14F-4D97-AF65-F5344CB8AC3E}">
        <p14:creationId xmlns:p14="http://schemas.microsoft.com/office/powerpoint/2010/main" val="163789653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C9DD994-834E-41FF-8A89-19F04526AE80}"/>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17</a:t>
            </a:r>
          </a:p>
        </p:txBody>
      </p:sp>
      <p:sp>
        <p:nvSpPr>
          <p:cNvPr id="2" name="">
            <a:extLst xmlns:a="http://schemas.openxmlformats.org/drawingml/2006/main">
              <a:ext uri="{FF2B5EF4-FFF2-40B4-BE49-F238E27FC236}">
                <a16:creationId xmlns:a16="http://schemas.microsoft.com/office/drawing/2014/main" id="{E3099DC5-A165-4074-B28C-CFF053AC40D2}"/>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Compare the saved model results</a:t>
            </a:r>
          </a:p>
        </p:txBody>
      </p:sp>
      <p:sp>
        <p:nvSpPr>
          <p:cNvPr id="3" name="">
            <a:extLst xmlns:a="http://schemas.openxmlformats.org/drawingml/2006/main">
              <a:ext uri="{FF2B5EF4-FFF2-40B4-BE49-F238E27FC236}">
                <a16:creationId xmlns:a16="http://schemas.microsoft.com/office/drawing/2014/main" id="{9B4D81B4-ECBF-4200-B751-3A237BE97D5F}"/>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A969810E-747C-4510-B587-E71B4C45CB8B}"/>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graphicFrame>
        <p:nvGraphicFramePr>
          <p:cNvPr id="5" name="">
            <a:extLst xmlns:a="http://schemas.openxmlformats.org/drawingml/2006/main">
              <a:ext uri="{FF2B5EF4-FFF2-40B4-BE49-F238E27FC236}">
                <a16:creationId xmlns:a16="http://schemas.microsoft.com/office/drawing/2014/main" id="{1C184F46-E1B4-4109-831C-A5C1A6097701}"/>
              </a:ext>
            </a:extLst>
          </p:cNvPr>
          <p:cNvGraphicFramePr/>
          <p:nvPr/>
        </p:nvGraphicFramePr>
        <p:xfrm>
          <a:off xmlns:a="http://schemas.openxmlformats.org/drawingml/2006/main" x="571500" y="1285875"/>
          <a:ext xmlns:a="http://schemas.openxmlformats.org/drawingml/2006/main" cx="11049000" cy="2635252"/>
        </p:xfrm>
        <a:graphic xmlns:a="http://schemas.openxmlformats.org/drawingml/2006/main">
          <a:graphicData uri="http://schemas.openxmlformats.org/drawingml/2006/table">
            <a:tbl>
              <a:tblPr/>
              <a:tblGrid>
                <a:gridCol w="3683000"/>
                <a:gridCol w="3683000"/>
                <a:gridCol w="3683000"/>
              </a:tblGrid>
              <a:tr h="658813">
                <a:tc>
                  <a:txBody>
                    <a:bodyPr/>
                    <a:lstStyle/>
                    <a:p>
                      <a:r>
                        <a:rPr sz="1800" b="1">
                          <a:solidFill>
                            <a:srgbClr val="FFFFFF"/>
                          </a:solidFill>
                          <a:latin typeface="Avenir Next"/>
                          <a:ea typeface="Avenir Next"/>
                          <a:cs typeface="Avenir Next"/>
                        </a:rPr>
                        <a:t>Measure</a:t>
                      </a:r>
                    </a:p>
                  </a:txBody>
                  <a:tcPr marL="91440" marR="91440" marT="45720" marB="45720">
                    <a:solidFill>
                      <a:srgbClr val="09253A"/>
                    </a:solidFill>
                  </a:tcPr>
                </a:tc>
                <a:tc>
                  <a:txBody>
                    <a:bodyPr/>
                    <a:lstStyle/>
                    <a:p>
                      <a:r>
                        <a:rPr sz="1800" b="1">
                          <a:solidFill>
                            <a:srgbClr val="FFFFFF"/>
                          </a:solidFill>
                          <a:latin typeface="Avenir Next"/>
                          <a:ea typeface="Avenir Next"/>
                          <a:cs typeface="Avenir Next"/>
                        </a:rPr>
                        <a:t>Random forest</a:t>
                      </a:r>
                    </a:p>
                  </a:txBody>
                  <a:tcPr marL="91440" marR="91440" marT="45720" marB="45720">
                    <a:solidFill>
                      <a:srgbClr val="09253A"/>
                    </a:solidFill>
                  </a:tcPr>
                </a:tc>
                <a:tc>
                  <a:txBody>
                    <a:bodyPr/>
                    <a:lstStyle/>
                    <a:p>
                      <a:r>
                        <a:rPr sz="1800" b="1">
                          <a:solidFill>
                            <a:srgbClr val="FFFFFF"/>
                          </a:solidFill>
                          <a:latin typeface="Avenir Next"/>
                          <a:ea typeface="Avenir Next"/>
                          <a:cs typeface="Avenir Next"/>
                        </a:rPr>
                        <a:t>Neural network</a:t>
                      </a:r>
                    </a:p>
                  </a:txBody>
                  <a:tcPr marL="91440" marR="91440" marT="45720" marB="45720">
                    <a:solidFill>
                      <a:srgbClr val="09253A"/>
                    </a:solidFill>
                  </a:tcPr>
                </a:tc>
              </a:tr>
              <a:tr h="658813">
                <a:tc>
                  <a:txBody>
                    <a:bodyPr/>
                    <a:lstStyle/>
                    <a:p>
                      <a:r>
                        <a:rPr sz="1800" b="0">
                          <a:solidFill>
                            <a:srgbClr val="09253A"/>
                          </a:solidFill>
                          <a:latin typeface="Avenir Next"/>
                          <a:ea typeface="Avenir Next"/>
                          <a:cs typeface="Avenir Next"/>
                        </a:rPr>
                        <a:t>Accuracy</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83.3%</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85.6%</a:t>
                      </a:r>
                    </a:p>
                  </a:txBody>
                  <a:tcPr marL="91440" marR="91440" marT="45720" marB="45720">
                    <a:solidFill>
                      <a:srgbClr val="F7F2E8"/>
                    </a:solidFill>
                  </a:tcPr>
                </a:tc>
              </a:tr>
              <a:tr h="658813">
                <a:tc>
                  <a:txBody>
                    <a:bodyPr/>
                    <a:lstStyle/>
                    <a:p>
                      <a:r>
                        <a:rPr sz="1800" b="0">
                          <a:solidFill>
                            <a:srgbClr val="09253A"/>
                          </a:solidFill>
                          <a:latin typeface="Avenir Next"/>
                          <a:ea typeface="Avenir Next"/>
                          <a:cs typeface="Avenir Next"/>
                        </a:rPr>
                        <a:t>Sensitivity</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81.1%</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78.4%</a:t>
                      </a:r>
                    </a:p>
                  </a:txBody>
                  <a:tcPr marL="91440" marR="91440" marT="45720" marB="45720">
                    <a:solidFill>
                      <a:srgbClr val="FFFFFF"/>
                    </a:solidFill>
                  </a:tcPr>
                </a:tc>
              </a:tr>
              <a:tr h="658813">
                <a:tc>
                  <a:txBody>
                    <a:bodyPr/>
                    <a:lstStyle/>
                    <a:p>
                      <a:r>
                        <a:rPr sz="1800" b="0">
                          <a:solidFill>
                            <a:srgbClr val="09253A"/>
                          </a:solidFill>
                          <a:latin typeface="Avenir Next"/>
                          <a:ea typeface="Avenir Next"/>
                          <a:cs typeface="Avenir Next"/>
                        </a:rPr>
                        <a:t>Specificity</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84.9%</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90.6%</a:t>
                      </a:r>
                    </a:p>
                  </a:txBody>
                  <a:tcPr marL="91440" marR="91440" marT="45720" marB="45720">
                    <a:solidFill>
                      <a:srgbClr val="F7F2E8"/>
                    </a:solidFill>
                  </a:tcPr>
                </a:tc>
              </a:tr>
            </a:tbl>
          </a:graphicData>
        </a:graphic>
      </p:graphicFrame>
      <p:sp>
        <p:nvSpPr>
          <p:cNvPr id="6" name="">
            <a:extLst xmlns:a="http://schemas.openxmlformats.org/drawingml/2006/main">
              <a:ext uri="{FF2B5EF4-FFF2-40B4-BE49-F238E27FC236}">
                <a16:creationId xmlns:a16="http://schemas.microsoft.com/office/drawing/2014/main" id="{6CCD4D5F-7802-4B6D-8F1E-9E23C0E408C8}"/>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The saved network is more accurate overall, but misses one more case.</a:t>
            </a:r>
          </a:p>
        </p:txBody>
      </p:sp>
    </p:spTree>
    <p:extLst>
      <p:ext uri="{BB962C8B-B14F-4D97-AF65-F5344CB8AC3E}">
        <p14:creationId xmlns:p14="http://schemas.microsoft.com/office/powerpoint/2010/main" val="124279812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C20468C-E9D7-422F-AF3E-58E463EB0A7A}"/>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18</a:t>
            </a:r>
          </a:p>
        </p:txBody>
      </p:sp>
      <p:sp>
        <p:nvSpPr>
          <p:cNvPr id="2" name="">
            <a:extLst xmlns:a="http://schemas.openxmlformats.org/drawingml/2006/main">
              <a:ext uri="{FF2B5EF4-FFF2-40B4-BE49-F238E27FC236}">
                <a16:creationId xmlns:a16="http://schemas.microsoft.com/office/drawing/2014/main" id="{E1855F58-D470-479A-83C4-AC9DDFB53860}"/>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Workflow and limits</a:t>
            </a:r>
          </a:p>
        </p:txBody>
      </p:sp>
      <p:sp>
        <p:nvSpPr>
          <p:cNvPr id="3" name="">
            <a:extLst xmlns:a="http://schemas.openxmlformats.org/drawingml/2006/main">
              <a:ext uri="{FF2B5EF4-FFF2-40B4-BE49-F238E27FC236}">
                <a16:creationId xmlns:a16="http://schemas.microsoft.com/office/drawing/2014/main" id="{0CC3CD43-AE2C-411A-9B79-698A4E820D7C}"/>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583D148A-F63E-44CE-B53E-7A39C3AA2AD7}"/>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sp>
        <p:nvSpPr>
          <p:cNvPr id="5" name="">
            <a:extLst xmlns:a="http://schemas.openxmlformats.org/drawingml/2006/main">
              <a:ext uri="{FF2B5EF4-FFF2-40B4-BE49-F238E27FC236}">
                <a16:creationId xmlns:a16="http://schemas.microsoft.com/office/drawing/2014/main" id="{C9B51000-A834-46BC-AB36-54AAEDD0DFB3}"/>
              </a:ext>
            </a:extLst>
          </p:cNvPr>
          <p:cNvSpPr>
            <a:spLocks xmlns:a="http://schemas.openxmlformats.org/drawingml/2006/main" noGrp="1"/>
          </p:cNvSpPr>
          <p:nvPr/>
        </p:nvSpPr>
        <p:spPr>
          <a:xfrm xmlns:a="http://schemas.openxmlformats.org/drawingml/2006/main">
            <a:off x="619125" y="138112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D6D76"/>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2175" b="0">
                <a:solidFill>
                  <a:srgbClr val="5D6D76"/>
                </a:solidFill>
                <a:latin typeface="Avenir Next"/>
                <a:ea typeface="Avenir Next"/>
                <a:cs typeface="Avenir Next"/>
              </a:defRPr>
            </a:pPr>
            <a:r>
              <a:rPr sz="2175" b="0">
                <a:solidFill>
                  <a:srgbClr val="5D6D76"/>
                </a:solidFill>
                <a:latin typeface="Avenir Next"/>
                <a:ea typeface="Avenir Next"/>
                <a:cs typeface="Avenir Next"/>
              </a:rPr>
              <a:t>Read the saved forest results and explain its mistakes.</a:t>
            </a:r>
          </a:p>
        </p:txBody>
      </p:sp>
      <p:sp>
        <p:nvSpPr>
          <p:cNvPr id="6" name="">
            <a:extLst xmlns:a="http://schemas.openxmlformats.org/drawingml/2006/main">
              <a:ext uri="{FF2B5EF4-FFF2-40B4-BE49-F238E27FC236}">
                <a16:creationId xmlns:a16="http://schemas.microsoft.com/office/drawing/2014/main" id="{888DCDFE-2431-4546-A730-7C10B3B72FAF}"/>
              </a:ext>
            </a:extLst>
          </p:cNvPr>
          <p:cNvSpPr>
            <a:spLocks xmlns:a="http://schemas.openxmlformats.org/drawingml/2006/main" noGrp="1"/>
          </p:cNvSpPr>
          <p:nvPr/>
        </p:nvSpPr>
        <p:spPr>
          <a:xfrm xmlns:a="http://schemas.openxmlformats.org/drawingml/2006/main">
            <a:off x="619125" y="233362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D6D76"/>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2175" b="0">
                <a:solidFill>
                  <a:srgbClr val="5D6D76"/>
                </a:solidFill>
                <a:latin typeface="Avenir Next"/>
                <a:ea typeface="Avenir Next"/>
                <a:cs typeface="Avenir Next"/>
              </a:defRPr>
            </a:pPr>
            <a:r>
              <a:rPr sz="2175" b="0">
                <a:solidFill>
                  <a:srgbClr val="5D6D76"/>
                </a:solidFill>
                <a:latin typeface="Avenir Next"/>
                <a:ea typeface="Avenir Next"/>
                <a:cs typeface="Avenir Next"/>
              </a:rPr>
              <a:t>Prepare inputs, then build and fit the Keras network.</a:t>
            </a:r>
          </a:p>
        </p:txBody>
      </p:sp>
      <p:sp>
        <p:nvSpPr>
          <p:cNvPr id="7" name="">
            <a:extLst xmlns:a="http://schemas.openxmlformats.org/drawingml/2006/main">
              <a:ext uri="{FF2B5EF4-FFF2-40B4-BE49-F238E27FC236}">
                <a16:creationId xmlns:a16="http://schemas.microsoft.com/office/drawing/2014/main" id="{1C184B12-87F8-4436-A3AC-F8A3F76311FF}"/>
              </a:ext>
            </a:extLst>
          </p:cNvPr>
          <p:cNvSpPr>
            <a:spLocks xmlns:a="http://schemas.openxmlformats.org/drawingml/2006/main" noGrp="1"/>
          </p:cNvSpPr>
          <p:nvPr/>
        </p:nvSpPr>
        <p:spPr>
          <a:xfrm xmlns:a="http://schemas.openxmlformats.org/drawingml/2006/main">
            <a:off x="619125" y="328612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D6D76"/>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2175" b="0">
                <a:solidFill>
                  <a:srgbClr val="5D6D76"/>
                </a:solidFill>
                <a:latin typeface="Avenir Next"/>
                <a:ea typeface="Avenir Next"/>
                <a:cs typeface="Avenir Next"/>
              </a:defRPr>
            </a:pPr>
            <a:r>
              <a:rPr sz="2175" b="0">
                <a:solidFill>
                  <a:srgbClr val="5D6D76"/>
                </a:solidFill>
                <a:latin typeface="Avenir Next"/>
                <a:ea typeface="Avenir Next"/>
                <a:cs typeface="Avenir Next"/>
              </a:rPr>
              <a:t>Use mlr3 to evaluate predictions on the same test patients.</a:t>
            </a:r>
          </a:p>
        </p:txBody>
      </p:sp>
      <p:sp>
        <p:nvSpPr>
          <p:cNvPr id="8" name="">
            <a:extLst xmlns:a="http://schemas.openxmlformats.org/drawingml/2006/main">
              <a:ext uri="{FF2B5EF4-FFF2-40B4-BE49-F238E27FC236}">
                <a16:creationId xmlns:a16="http://schemas.microsoft.com/office/drawing/2014/main" id="{740E79D6-454F-4066-A607-697432369A98}"/>
              </a:ext>
            </a:extLst>
          </p:cNvPr>
          <p:cNvSpPr>
            <a:spLocks xmlns:a="http://schemas.openxmlformats.org/drawingml/2006/main" noGrp="1"/>
          </p:cNvSpPr>
          <p:nvPr/>
        </p:nvSpPr>
        <p:spPr>
          <a:xfrm xmlns:a="http://schemas.openxmlformats.org/drawingml/2006/main">
            <a:off x="619125" y="423862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D6D76"/>
                </a:solidFill>
                <a:latin typeface="Avenir Next"/>
                <a:ea typeface="Avenir Next"/>
                <a:cs typeface="Avenir Next"/>
              </a:defRPr>
            </a:defPPr>
            <a:lvl1pPr>
              <a:buNone/>
              <a:defRPr sz="2175" b="0">
                <a:solidFill>
                  <a:srgbClr val="5D6D76"/>
                </a:solidFill>
                <a:latin typeface="Avenir Next"/>
                <a:ea typeface="Avenir Next"/>
                <a:cs typeface="Avenir Next"/>
              </a:defRPr>
            </a:lvl1pPr>
            <a:lvl2pPr>
              <a:buNone/>
              <a:defRPr sz="2175" b="0">
                <a:solidFill>
                  <a:srgbClr val="5D6D76"/>
                </a:solidFill>
                <a:latin typeface="Avenir Next"/>
                <a:ea typeface="Avenir Next"/>
                <a:cs typeface="Avenir Next"/>
              </a:defRPr>
            </a:lvl2pPr>
            <a:lvl3pPr>
              <a:buNone/>
              <a:defRPr sz="2175" b="0">
                <a:solidFill>
                  <a:srgbClr val="5D6D76"/>
                </a:solidFill>
                <a:latin typeface="Avenir Next"/>
                <a:ea typeface="Avenir Next"/>
                <a:cs typeface="Avenir Next"/>
              </a:defRPr>
            </a:lvl3pPr>
            <a:lvl4pPr>
              <a:buNone/>
              <a:defRPr sz="2175" b="0">
                <a:solidFill>
                  <a:srgbClr val="5D6D76"/>
                </a:solidFill>
                <a:latin typeface="Avenir Next"/>
                <a:ea typeface="Avenir Next"/>
                <a:cs typeface="Avenir Next"/>
              </a:defRPr>
            </a:lvl4pPr>
            <a:lvl5pPr>
              <a:buNone/>
              <a:defRPr sz="2175" b="0">
                <a:solidFill>
                  <a:srgbClr val="5D6D76"/>
                </a:solidFill>
                <a:latin typeface="Avenir Next"/>
                <a:ea typeface="Avenir Next"/>
                <a:cs typeface="Avenir Next"/>
              </a:defRPr>
            </a:lvl5pPr>
            <a:lvl6pPr>
              <a:buNone/>
              <a:defRPr sz="2175" b="0">
                <a:solidFill>
                  <a:srgbClr val="5D6D76"/>
                </a:solidFill>
                <a:latin typeface="Avenir Next"/>
                <a:ea typeface="Avenir Next"/>
                <a:cs typeface="Avenir Next"/>
              </a:defRPr>
            </a:lvl6pPr>
            <a:lvl7pPr>
              <a:buNone/>
              <a:defRPr sz="2175" b="0">
                <a:solidFill>
                  <a:srgbClr val="5D6D76"/>
                </a:solidFill>
                <a:latin typeface="Avenir Next"/>
                <a:ea typeface="Avenir Next"/>
                <a:cs typeface="Avenir Next"/>
              </a:defRPr>
            </a:lvl7pPr>
            <a:lvl8pPr>
              <a:buNone/>
              <a:defRPr sz="2175" b="0">
                <a:solidFill>
                  <a:srgbClr val="5D6D76"/>
                </a:solidFill>
                <a:latin typeface="Avenir Next"/>
                <a:ea typeface="Avenir Next"/>
                <a:cs typeface="Avenir Next"/>
              </a:defRPr>
            </a:lvl8pPr>
            <a:lvl9pPr>
              <a:buNone/>
              <a:defRPr sz="2175" b="0">
                <a:solidFill>
                  <a:srgbClr val="5D6D76"/>
                </a:solidFill>
                <a:latin typeface="Avenir Next"/>
                <a:ea typeface="Avenir Next"/>
                <a:cs typeface="Avenir Next"/>
              </a:defRPr>
            </a:lvl9pPr>
          </a:lstStyle>
          <a:p xmlns:a="http://schemas.openxmlformats.org/drawingml/2006/main">
            <a:pPr>
              <a:buNone/>
              <a:defRPr sz="2175" b="0">
                <a:solidFill>
                  <a:srgbClr val="5D6D76"/>
                </a:solidFill>
                <a:latin typeface="Avenir Next"/>
                <a:ea typeface="Avenir Next"/>
                <a:cs typeface="Avenir Next"/>
              </a:defRPr>
            </a:pPr>
            <a:r>
              <a:rPr sz="2175" b="0">
                <a:solidFill>
                  <a:srgbClr val="5D6D76"/>
                </a:solidFill>
                <a:latin typeface="Avenir Next"/>
                <a:ea typeface="Avenir Next"/>
                <a:cs typeface="Avenir Next"/>
              </a:rPr>
              <a:t>Compare accuracy and error types before drawing conclusions.</a:t>
            </a:r>
          </a:p>
        </p:txBody>
      </p:sp>
      <p:sp>
        <p:nvSpPr>
          <p:cNvPr id="9" name="">
            <a:extLst xmlns:a="http://schemas.openxmlformats.org/drawingml/2006/main">
              <a:ext uri="{FF2B5EF4-FFF2-40B4-BE49-F238E27FC236}">
                <a16:creationId xmlns:a16="http://schemas.microsoft.com/office/drawing/2014/main" id="{8FF13609-A534-45BB-BC7D-303B4F13A64F}"/>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These teaching results establish neither clinical validation nor causation.</a:t>
            </a:r>
          </a:p>
        </p:txBody>
      </p:sp>
    </p:spTree>
    <p:extLst>
      <p:ext uri="{BB962C8B-B14F-4D97-AF65-F5344CB8AC3E}">
        <p14:creationId xmlns:p14="http://schemas.microsoft.com/office/powerpoint/2010/main" val="163789653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A5EC9DD-3C6F-436B-B532-B72850E8E8A7}"/>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19</a:t>
            </a:r>
          </a:p>
        </p:txBody>
      </p:sp>
      <p:sp>
        <p:nvSpPr>
          <p:cNvPr id="2" name="">
            <a:extLst xmlns:a="http://schemas.openxmlformats.org/drawingml/2006/main">
              <a:ext uri="{FF2B5EF4-FFF2-40B4-BE49-F238E27FC236}">
                <a16:creationId xmlns:a16="http://schemas.microsoft.com/office/drawing/2014/main" id="{9D9F7405-269A-44B6-8376-6B5EEA1759EF}"/>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Appendix: how a decision tree works</a:t>
            </a:r>
          </a:p>
        </p:txBody>
      </p:sp>
      <p:sp>
        <p:nvSpPr>
          <p:cNvPr id="3" name="">
            <a:extLst xmlns:a="http://schemas.openxmlformats.org/drawingml/2006/main">
              <a:ext uri="{FF2B5EF4-FFF2-40B4-BE49-F238E27FC236}">
                <a16:creationId xmlns:a16="http://schemas.microsoft.com/office/drawing/2014/main" id="{E671E798-26B0-486C-9044-27F3DE6B0D36}"/>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0CB038C7-8A3E-42D6-B98C-018F490A3DAD}"/>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pic>
        <p:nvPicPr>
          <p:cNvPr id="5" name="">
            <a:extLst xmlns:a="http://schemas.openxmlformats.org/drawingml/2006/main">
              <a:ext uri="{FF2B5EF4-FFF2-40B4-BE49-F238E27FC236}">
                <a16:creationId xmlns:a16="http://schemas.microsoft.com/office/drawing/2014/main" id="{7CC91270-A413-47D3-9724-AF8D4F59ADA6}"/>
              </a:ext>
            </a:extLst>
          </p:cNvPr>
          <p:cNvPicPr>
            <a:picLocks xmlns:a="http://schemas.openxmlformats.org/drawingml/2006/main" noChangeAspect="1"/>
          </p:cNvPicPr>
          <p:nvPr/>
        </p:nvPicPr>
        <p:blipFill>
          <a:blip xmlns:r="http://schemas.openxmlformats.org/officeDocument/2006/relationships" xmlns:a="http://schemas.openxmlformats.org/drawingml/2006/main" r:embed="R10148c3df3644c52"/>
          <a:stretch xmlns:a="http://schemas.openxmlformats.org/drawingml/2006/main"/>
        </p:blipFill>
        <p:spPr>
          <a:xfrm xmlns:a="http://schemas.openxmlformats.org/drawingml/2006/main">
            <a:off x="1357313" y="1143000"/>
            <a:ext cx="6429375"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4649337-C346-462E-B0DD-3E214AEF1992}"/>
              </a:ext>
            </a:extLst>
          </p:cNvPr>
          <p:cNvSpPr>
            <a:spLocks xmlns:a="http://schemas.openxmlformats.org/drawingml/2006/main" noGrp="1"/>
          </p:cNvSpPr>
          <p:nvPr/>
        </p:nvSpPr>
        <p:spPr>
          <a:xfrm xmlns:a="http://schemas.openxmlformats.org/drawingml/2006/main">
            <a:off x="8763000" y="1524000"/>
            <a:ext cx="2857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D6D76"/>
                </a:solidFill>
                <a:latin typeface="Avenir Next"/>
                <a:ea typeface="Avenir Next"/>
                <a:cs typeface="Avenir Next"/>
              </a:defRPr>
            </a:defPPr>
            <a:lvl1pPr>
              <a:buNone/>
              <a:defRPr sz="1800" b="0">
                <a:solidFill>
                  <a:srgbClr val="5D6D76"/>
                </a:solidFill>
                <a:latin typeface="Avenir Next"/>
                <a:ea typeface="Avenir Next"/>
                <a:cs typeface="Avenir Next"/>
              </a:defRPr>
            </a:lvl1pPr>
            <a:lvl2pPr>
              <a:buNone/>
              <a:defRPr sz="1800" b="0">
                <a:solidFill>
                  <a:srgbClr val="5D6D76"/>
                </a:solidFill>
                <a:latin typeface="Avenir Next"/>
                <a:ea typeface="Avenir Next"/>
                <a:cs typeface="Avenir Next"/>
              </a:defRPr>
            </a:lvl2pPr>
            <a:lvl3pPr>
              <a:buNone/>
              <a:defRPr sz="1800" b="0">
                <a:solidFill>
                  <a:srgbClr val="5D6D76"/>
                </a:solidFill>
                <a:latin typeface="Avenir Next"/>
                <a:ea typeface="Avenir Next"/>
                <a:cs typeface="Avenir Next"/>
              </a:defRPr>
            </a:lvl3pPr>
            <a:lvl4pPr>
              <a:buNone/>
              <a:defRPr sz="1800" b="0">
                <a:solidFill>
                  <a:srgbClr val="5D6D76"/>
                </a:solidFill>
                <a:latin typeface="Avenir Next"/>
                <a:ea typeface="Avenir Next"/>
                <a:cs typeface="Avenir Next"/>
              </a:defRPr>
            </a:lvl4pPr>
            <a:lvl5pPr>
              <a:buNone/>
              <a:defRPr sz="1800" b="0">
                <a:solidFill>
                  <a:srgbClr val="5D6D76"/>
                </a:solidFill>
                <a:latin typeface="Avenir Next"/>
                <a:ea typeface="Avenir Next"/>
                <a:cs typeface="Avenir Next"/>
              </a:defRPr>
            </a:lvl5pPr>
            <a:lvl6pPr>
              <a:buNone/>
              <a:defRPr sz="1800" b="0">
                <a:solidFill>
                  <a:srgbClr val="5D6D76"/>
                </a:solidFill>
                <a:latin typeface="Avenir Next"/>
                <a:ea typeface="Avenir Next"/>
                <a:cs typeface="Avenir Next"/>
              </a:defRPr>
            </a:lvl6pPr>
            <a:lvl7pPr>
              <a:buNone/>
              <a:defRPr sz="1800" b="0">
                <a:solidFill>
                  <a:srgbClr val="5D6D76"/>
                </a:solidFill>
                <a:latin typeface="Avenir Next"/>
                <a:ea typeface="Avenir Next"/>
                <a:cs typeface="Avenir Next"/>
              </a:defRPr>
            </a:lvl7pPr>
            <a:lvl8pPr>
              <a:buNone/>
              <a:defRPr sz="1800" b="0">
                <a:solidFill>
                  <a:srgbClr val="5D6D76"/>
                </a:solidFill>
                <a:latin typeface="Avenir Next"/>
                <a:ea typeface="Avenir Next"/>
                <a:cs typeface="Avenir Next"/>
              </a:defRPr>
            </a:lvl8pPr>
            <a:lvl9pPr>
              <a:buNone/>
              <a:defRPr sz="1800" b="0">
                <a:solidFill>
                  <a:srgbClr val="5D6D76"/>
                </a:solidFill>
                <a:latin typeface="Avenir Next"/>
                <a:ea typeface="Avenir Next"/>
                <a:cs typeface="Avenir Next"/>
              </a:defRPr>
            </a:lvl9pPr>
          </a:lstStyle>
          <a:p xmlns:a="http://schemas.openxmlformats.org/drawingml/2006/main">
            <a:pPr>
              <a:buNone/>
              <a:defRPr sz="1800" b="0">
                <a:solidFill>
                  <a:srgbClr val="5D6D76"/>
                </a:solidFill>
                <a:latin typeface="Avenir Next"/>
                <a:ea typeface="Avenir Next"/>
                <a:cs typeface="Avenir Next"/>
              </a:defRPr>
            </a:pPr>
            <a:r>
              <a:rPr sz="1800" b="0">
                <a:solidFill>
                  <a:srgbClr val="5D6D76"/>
                </a:solidFill>
                <a:latin typeface="Avenir Next"/>
                <a:ea typeface="Avenir Next"/>
                <a:cs typeface="Avenir Next"/>
              </a:rPr>
              <a:t>A split asks a question</a:t>
            </a:r>
          </a:p>
          <a:p xmlns:a="http://schemas.openxmlformats.org/drawingml/2006/main">
            <a:pPr>
              <a:buNone/>
              <a:defRPr sz="1800" b="0">
                <a:solidFill>
                  <a:srgbClr val="5D6D76"/>
                </a:solidFill>
                <a:latin typeface="Avenir Next"/>
                <a:ea typeface="Avenir Next"/>
                <a:cs typeface="Avenir Next"/>
              </a:defRPr>
            </a:pPr>
            <a:r>
              <a:rPr sz="1800" b="0">
                <a:solidFill>
                  <a:srgbClr val="5D6D76"/>
                </a:solidFill>
                <a:latin typeface="Avenir Next"/>
                <a:ea typeface="Avenir Next"/>
                <a:cs typeface="Avenir Next"/>
              </a:rPr>
              <a:t>about one predictor.</a:t>
            </a:r>
          </a:p>
        </p:txBody>
      </p:sp>
      <p:sp>
        <p:nvSpPr>
          <p:cNvPr id="7" name="">
            <a:extLst xmlns:a="http://schemas.openxmlformats.org/drawingml/2006/main">
              <a:ext uri="{FF2B5EF4-FFF2-40B4-BE49-F238E27FC236}">
                <a16:creationId xmlns:a16="http://schemas.microsoft.com/office/drawing/2014/main" id="{DBBE1D61-BF31-415D-9AF6-A381A330E14E}"/>
              </a:ext>
            </a:extLst>
          </p:cNvPr>
          <p:cNvSpPr>
            <a:spLocks xmlns:a="http://schemas.openxmlformats.org/drawingml/2006/main" noGrp="1"/>
          </p:cNvSpPr>
          <p:nvPr/>
        </p:nvSpPr>
        <p:spPr>
          <a:xfrm xmlns:a="http://schemas.openxmlformats.org/drawingml/2006/main">
            <a:off x="8763000" y="2714625"/>
            <a:ext cx="2857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D6D76"/>
                </a:solidFill>
                <a:latin typeface="Avenir Next"/>
                <a:ea typeface="Avenir Next"/>
                <a:cs typeface="Avenir Next"/>
              </a:defRPr>
            </a:defPPr>
            <a:lvl1pPr>
              <a:buNone/>
              <a:defRPr sz="1800" b="0">
                <a:solidFill>
                  <a:srgbClr val="5D6D76"/>
                </a:solidFill>
                <a:latin typeface="Avenir Next"/>
                <a:ea typeface="Avenir Next"/>
                <a:cs typeface="Avenir Next"/>
              </a:defRPr>
            </a:lvl1pPr>
            <a:lvl2pPr>
              <a:buNone/>
              <a:defRPr sz="1800" b="0">
                <a:solidFill>
                  <a:srgbClr val="5D6D76"/>
                </a:solidFill>
                <a:latin typeface="Avenir Next"/>
                <a:ea typeface="Avenir Next"/>
                <a:cs typeface="Avenir Next"/>
              </a:defRPr>
            </a:lvl2pPr>
            <a:lvl3pPr>
              <a:buNone/>
              <a:defRPr sz="1800" b="0">
                <a:solidFill>
                  <a:srgbClr val="5D6D76"/>
                </a:solidFill>
                <a:latin typeface="Avenir Next"/>
                <a:ea typeface="Avenir Next"/>
                <a:cs typeface="Avenir Next"/>
              </a:defRPr>
            </a:lvl3pPr>
            <a:lvl4pPr>
              <a:buNone/>
              <a:defRPr sz="1800" b="0">
                <a:solidFill>
                  <a:srgbClr val="5D6D76"/>
                </a:solidFill>
                <a:latin typeface="Avenir Next"/>
                <a:ea typeface="Avenir Next"/>
                <a:cs typeface="Avenir Next"/>
              </a:defRPr>
            </a:lvl4pPr>
            <a:lvl5pPr>
              <a:buNone/>
              <a:defRPr sz="1800" b="0">
                <a:solidFill>
                  <a:srgbClr val="5D6D76"/>
                </a:solidFill>
                <a:latin typeface="Avenir Next"/>
                <a:ea typeface="Avenir Next"/>
                <a:cs typeface="Avenir Next"/>
              </a:defRPr>
            </a:lvl5pPr>
            <a:lvl6pPr>
              <a:buNone/>
              <a:defRPr sz="1800" b="0">
                <a:solidFill>
                  <a:srgbClr val="5D6D76"/>
                </a:solidFill>
                <a:latin typeface="Avenir Next"/>
                <a:ea typeface="Avenir Next"/>
                <a:cs typeface="Avenir Next"/>
              </a:defRPr>
            </a:lvl6pPr>
            <a:lvl7pPr>
              <a:buNone/>
              <a:defRPr sz="1800" b="0">
                <a:solidFill>
                  <a:srgbClr val="5D6D76"/>
                </a:solidFill>
                <a:latin typeface="Avenir Next"/>
                <a:ea typeface="Avenir Next"/>
                <a:cs typeface="Avenir Next"/>
              </a:defRPr>
            </a:lvl7pPr>
            <a:lvl8pPr>
              <a:buNone/>
              <a:defRPr sz="1800" b="0">
                <a:solidFill>
                  <a:srgbClr val="5D6D76"/>
                </a:solidFill>
                <a:latin typeface="Avenir Next"/>
                <a:ea typeface="Avenir Next"/>
                <a:cs typeface="Avenir Next"/>
              </a:defRPr>
            </a:lvl8pPr>
            <a:lvl9pPr>
              <a:buNone/>
              <a:defRPr sz="1800" b="0">
                <a:solidFill>
                  <a:srgbClr val="5D6D76"/>
                </a:solidFill>
                <a:latin typeface="Avenir Next"/>
                <a:ea typeface="Avenir Next"/>
                <a:cs typeface="Avenir Next"/>
              </a:defRPr>
            </a:lvl9pPr>
          </a:lstStyle>
          <a:p xmlns:a="http://schemas.openxmlformats.org/drawingml/2006/main">
            <a:pPr>
              <a:buNone/>
              <a:defRPr sz="1800" b="0">
                <a:solidFill>
                  <a:srgbClr val="5D6D76"/>
                </a:solidFill>
                <a:latin typeface="Avenir Next"/>
                <a:ea typeface="Avenir Next"/>
                <a:cs typeface="Avenir Next"/>
              </a:defRPr>
            </a:pPr>
            <a:r>
              <a:rPr sz="1800" b="0">
                <a:solidFill>
                  <a:srgbClr val="5D6D76"/>
                </a:solidFill>
                <a:latin typeface="Avenir Next"/>
                <a:ea typeface="Avenir Next"/>
                <a:cs typeface="Avenir Next"/>
              </a:rPr>
              <a:t>Follow a branch until</a:t>
            </a:r>
          </a:p>
          <a:p xmlns:a="http://schemas.openxmlformats.org/drawingml/2006/main">
            <a:pPr>
              <a:buNone/>
              <a:defRPr sz="1800" b="0">
                <a:solidFill>
                  <a:srgbClr val="5D6D76"/>
                </a:solidFill>
                <a:latin typeface="Avenir Next"/>
                <a:ea typeface="Avenir Next"/>
                <a:cs typeface="Avenir Next"/>
              </a:defRPr>
            </a:pPr>
            <a:r>
              <a:rPr sz="1800" b="0">
                <a:solidFill>
                  <a:srgbClr val="5D6D76"/>
                </a:solidFill>
                <a:latin typeface="Avenir Next"/>
                <a:ea typeface="Avenir Next"/>
                <a:cs typeface="Avenir Next"/>
              </a:rPr>
              <a:t>you reach a leaf.</a:t>
            </a:r>
          </a:p>
        </p:txBody>
      </p:sp>
      <p:sp>
        <p:nvSpPr>
          <p:cNvPr id="8" name="">
            <a:extLst xmlns:a="http://schemas.openxmlformats.org/drawingml/2006/main">
              <a:ext uri="{FF2B5EF4-FFF2-40B4-BE49-F238E27FC236}">
                <a16:creationId xmlns:a16="http://schemas.microsoft.com/office/drawing/2014/main" id="{3BE59795-4345-4E13-A06E-2C62C26AF736}"/>
              </a:ext>
            </a:extLst>
          </p:cNvPr>
          <p:cNvSpPr>
            <a:spLocks xmlns:a="http://schemas.openxmlformats.org/drawingml/2006/main" noGrp="1"/>
          </p:cNvSpPr>
          <p:nvPr/>
        </p:nvSpPr>
        <p:spPr>
          <a:xfrm xmlns:a="http://schemas.openxmlformats.org/drawingml/2006/main">
            <a:off x="8763000" y="3905250"/>
            <a:ext cx="2857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D6D76"/>
                </a:solidFill>
                <a:latin typeface="Avenir Next"/>
                <a:ea typeface="Avenir Next"/>
                <a:cs typeface="Avenir Next"/>
              </a:defRPr>
            </a:defPPr>
            <a:lvl1pPr>
              <a:buNone/>
              <a:defRPr sz="1800" b="0">
                <a:solidFill>
                  <a:srgbClr val="5D6D76"/>
                </a:solidFill>
                <a:latin typeface="Avenir Next"/>
                <a:ea typeface="Avenir Next"/>
                <a:cs typeface="Avenir Next"/>
              </a:defRPr>
            </a:lvl1pPr>
            <a:lvl2pPr>
              <a:buNone/>
              <a:defRPr sz="1800" b="0">
                <a:solidFill>
                  <a:srgbClr val="5D6D76"/>
                </a:solidFill>
                <a:latin typeface="Avenir Next"/>
                <a:ea typeface="Avenir Next"/>
                <a:cs typeface="Avenir Next"/>
              </a:defRPr>
            </a:lvl2pPr>
            <a:lvl3pPr>
              <a:buNone/>
              <a:defRPr sz="1800" b="0">
                <a:solidFill>
                  <a:srgbClr val="5D6D76"/>
                </a:solidFill>
                <a:latin typeface="Avenir Next"/>
                <a:ea typeface="Avenir Next"/>
                <a:cs typeface="Avenir Next"/>
              </a:defRPr>
            </a:lvl3pPr>
            <a:lvl4pPr>
              <a:buNone/>
              <a:defRPr sz="1800" b="0">
                <a:solidFill>
                  <a:srgbClr val="5D6D76"/>
                </a:solidFill>
                <a:latin typeface="Avenir Next"/>
                <a:ea typeface="Avenir Next"/>
                <a:cs typeface="Avenir Next"/>
              </a:defRPr>
            </a:lvl4pPr>
            <a:lvl5pPr>
              <a:buNone/>
              <a:defRPr sz="1800" b="0">
                <a:solidFill>
                  <a:srgbClr val="5D6D76"/>
                </a:solidFill>
                <a:latin typeface="Avenir Next"/>
                <a:ea typeface="Avenir Next"/>
                <a:cs typeface="Avenir Next"/>
              </a:defRPr>
            </a:lvl5pPr>
            <a:lvl6pPr>
              <a:buNone/>
              <a:defRPr sz="1800" b="0">
                <a:solidFill>
                  <a:srgbClr val="5D6D76"/>
                </a:solidFill>
                <a:latin typeface="Avenir Next"/>
                <a:ea typeface="Avenir Next"/>
                <a:cs typeface="Avenir Next"/>
              </a:defRPr>
            </a:lvl6pPr>
            <a:lvl7pPr>
              <a:buNone/>
              <a:defRPr sz="1800" b="0">
                <a:solidFill>
                  <a:srgbClr val="5D6D76"/>
                </a:solidFill>
                <a:latin typeface="Avenir Next"/>
                <a:ea typeface="Avenir Next"/>
                <a:cs typeface="Avenir Next"/>
              </a:defRPr>
            </a:lvl7pPr>
            <a:lvl8pPr>
              <a:buNone/>
              <a:defRPr sz="1800" b="0">
                <a:solidFill>
                  <a:srgbClr val="5D6D76"/>
                </a:solidFill>
                <a:latin typeface="Avenir Next"/>
                <a:ea typeface="Avenir Next"/>
                <a:cs typeface="Avenir Next"/>
              </a:defRPr>
            </a:lvl8pPr>
            <a:lvl9pPr>
              <a:buNone/>
              <a:defRPr sz="1800" b="0">
                <a:solidFill>
                  <a:srgbClr val="5D6D76"/>
                </a:solidFill>
                <a:latin typeface="Avenir Next"/>
                <a:ea typeface="Avenir Next"/>
                <a:cs typeface="Avenir Next"/>
              </a:defRPr>
            </a:lvl9pPr>
          </a:lstStyle>
          <a:p xmlns:a="http://schemas.openxmlformats.org/drawingml/2006/main">
            <a:pPr>
              <a:buNone/>
              <a:defRPr sz="1800" b="0">
                <a:solidFill>
                  <a:srgbClr val="5D6D76"/>
                </a:solidFill>
                <a:latin typeface="Avenir Next"/>
                <a:ea typeface="Avenir Next"/>
                <a:cs typeface="Avenir Next"/>
              </a:defRPr>
            </a:pPr>
            <a:r>
              <a:rPr sz="1800" b="0">
                <a:solidFill>
                  <a:srgbClr val="5D6D76"/>
                </a:solidFill>
                <a:latin typeface="Avenir Next"/>
                <a:ea typeface="Avenir Next"/>
                <a:cs typeface="Avenir Next"/>
              </a:rPr>
              <a:t>A leaf gives a class</a:t>
            </a:r>
          </a:p>
          <a:p xmlns:a="http://schemas.openxmlformats.org/drawingml/2006/main">
            <a:pPr>
              <a:buNone/>
              <a:defRPr sz="1800" b="0">
                <a:solidFill>
                  <a:srgbClr val="5D6D76"/>
                </a:solidFill>
                <a:latin typeface="Avenir Next"/>
                <a:ea typeface="Avenir Next"/>
                <a:cs typeface="Avenir Next"/>
              </a:defRPr>
            </a:pPr>
            <a:r>
              <a:rPr sz="1800" b="0">
                <a:solidFill>
                  <a:srgbClr val="5D6D76"/>
                </a:solidFill>
                <a:latin typeface="Avenir Next"/>
                <a:ea typeface="Avenir Next"/>
                <a:cs typeface="Avenir Next"/>
              </a:rPr>
              <a:t>and fitted proportions.</a:t>
            </a:r>
          </a:p>
        </p:txBody>
      </p:sp>
      <p:sp>
        <p:nvSpPr>
          <p:cNvPr id="9" name="">
            <a:extLst xmlns:a="http://schemas.openxmlformats.org/drawingml/2006/main">
              <a:ext uri="{FF2B5EF4-FFF2-40B4-BE49-F238E27FC236}">
                <a16:creationId xmlns:a16="http://schemas.microsoft.com/office/drawing/2014/main" id="{5AE3C723-0A2A-4394-BEBC-C66ED3AAD2D0}"/>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Default tree: fitted on all 270 patients to illustrate learning.</a:t>
            </a:r>
          </a:p>
        </p:txBody>
      </p:sp>
    </p:spTree>
    <p:extLst>
      <p:ext uri="{BB962C8B-B14F-4D97-AF65-F5344CB8AC3E}">
        <p14:creationId xmlns:p14="http://schemas.microsoft.com/office/powerpoint/2010/main" val="18713927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8234B61-D690-4303-828D-5D161DFC26CA}"/>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20</a:t>
            </a:r>
          </a:p>
        </p:txBody>
      </p:sp>
      <p:sp>
        <p:nvSpPr>
          <p:cNvPr id="2" name="">
            <a:extLst xmlns:a="http://schemas.openxmlformats.org/drawingml/2006/main">
              <a:ext uri="{FF2B5EF4-FFF2-40B4-BE49-F238E27FC236}">
                <a16:creationId xmlns:a16="http://schemas.microsoft.com/office/drawing/2014/main" id="{3D004A99-496C-4B87-AF44-E4D1E4CBF6B0}"/>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Appendix: deep and pruned trees</a:t>
            </a:r>
          </a:p>
        </p:txBody>
      </p:sp>
      <p:sp>
        <p:nvSpPr>
          <p:cNvPr id="3" name="">
            <a:extLst xmlns:a="http://schemas.openxmlformats.org/drawingml/2006/main">
              <a:ext uri="{FF2B5EF4-FFF2-40B4-BE49-F238E27FC236}">
                <a16:creationId xmlns:a16="http://schemas.microsoft.com/office/drawing/2014/main" id="{BA71C13E-74B8-4539-8E9D-B5EE749B604A}"/>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1B2C69F9-D0B8-4873-AAED-763008FB0BB2}"/>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pic>
        <p:nvPicPr>
          <p:cNvPr id="5" name="">
            <a:extLst xmlns:a="http://schemas.openxmlformats.org/drawingml/2006/main">
              <a:ext uri="{FF2B5EF4-FFF2-40B4-BE49-F238E27FC236}">
                <a16:creationId xmlns:a16="http://schemas.microsoft.com/office/drawing/2014/main" id="{4E1021E3-AA61-40AC-9F42-09B571CC397D}"/>
              </a:ext>
            </a:extLst>
          </p:cNvPr>
          <p:cNvPicPr>
            <a:picLocks xmlns:a="http://schemas.openxmlformats.org/drawingml/2006/main" noChangeAspect="1"/>
          </p:cNvPicPr>
          <p:nvPr/>
        </p:nvPicPr>
        <p:blipFill>
          <a:blip xmlns:r="http://schemas.openxmlformats.org/officeDocument/2006/relationships" xmlns:a="http://schemas.openxmlformats.org/drawingml/2006/main" r:embed="R66187bee3f5b4981"/>
          <a:stretch xmlns:a="http://schemas.openxmlformats.org/drawingml/2006/main"/>
        </p:blipFill>
        <p:spPr>
          <a:xfrm xmlns:a="http://schemas.openxmlformats.org/drawingml/2006/main">
            <a:off x="476250" y="1579563"/>
            <a:ext cx="5429250" cy="331787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51A49724-DFAC-4B0B-B4DA-0DD57211D123}"/>
              </a:ext>
            </a:extLst>
          </p:cNvPr>
          <p:cNvPicPr>
            <a:picLocks xmlns:a="http://schemas.openxmlformats.org/drawingml/2006/main" noChangeAspect="1"/>
          </p:cNvPicPr>
          <p:nvPr/>
        </p:nvPicPr>
        <p:blipFill>
          <a:blip xmlns:r="http://schemas.openxmlformats.org/officeDocument/2006/relationships" xmlns:a="http://schemas.openxmlformats.org/drawingml/2006/main" r:embed="R1757d980f2c74a0d"/>
          <a:stretch xmlns:a="http://schemas.openxmlformats.org/drawingml/2006/main"/>
        </p:blipFill>
        <p:spPr>
          <a:xfrm xmlns:a="http://schemas.openxmlformats.org/drawingml/2006/main">
            <a:off x="6286500" y="1428750"/>
            <a:ext cx="5429250" cy="3619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A73994E-7FD3-4D80-8380-21D17944A069}"/>
              </a:ext>
            </a:extLst>
          </p:cNvPr>
          <p:cNvSpPr>
            <a:spLocks xmlns:a="http://schemas.openxmlformats.org/drawingml/2006/main" noGrp="1"/>
          </p:cNvSpPr>
          <p:nvPr/>
        </p:nvSpPr>
        <p:spPr>
          <a:xfrm xmlns:a="http://schemas.openxmlformats.org/drawingml/2006/main">
            <a:off x="619125" y="104775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D8B8B"/>
                </a:solidFill>
                <a:latin typeface="Avenir Next"/>
                <a:ea typeface="Avenir Next"/>
                <a:cs typeface="Avenir Next"/>
              </a:defRPr>
            </a:defPPr>
            <a:lvl1pPr>
              <a:buNone/>
              <a:defRPr sz="1875" b="1">
                <a:solidFill>
                  <a:srgbClr val="0D8B8B"/>
                </a:solidFill>
                <a:latin typeface="Avenir Next"/>
                <a:ea typeface="Avenir Next"/>
                <a:cs typeface="Avenir Next"/>
              </a:defRPr>
            </a:lvl1pPr>
            <a:lvl2pPr>
              <a:buNone/>
              <a:defRPr sz="1875" b="1">
                <a:solidFill>
                  <a:srgbClr val="0D8B8B"/>
                </a:solidFill>
                <a:latin typeface="Avenir Next"/>
                <a:ea typeface="Avenir Next"/>
                <a:cs typeface="Avenir Next"/>
              </a:defRPr>
            </a:lvl2pPr>
            <a:lvl3pPr>
              <a:buNone/>
              <a:defRPr sz="1875" b="1">
                <a:solidFill>
                  <a:srgbClr val="0D8B8B"/>
                </a:solidFill>
                <a:latin typeface="Avenir Next"/>
                <a:ea typeface="Avenir Next"/>
                <a:cs typeface="Avenir Next"/>
              </a:defRPr>
            </a:lvl3pPr>
            <a:lvl4pPr>
              <a:buNone/>
              <a:defRPr sz="1875" b="1">
                <a:solidFill>
                  <a:srgbClr val="0D8B8B"/>
                </a:solidFill>
                <a:latin typeface="Avenir Next"/>
                <a:ea typeface="Avenir Next"/>
                <a:cs typeface="Avenir Next"/>
              </a:defRPr>
            </a:lvl4pPr>
            <a:lvl5pPr>
              <a:buNone/>
              <a:defRPr sz="1875" b="1">
                <a:solidFill>
                  <a:srgbClr val="0D8B8B"/>
                </a:solidFill>
                <a:latin typeface="Avenir Next"/>
                <a:ea typeface="Avenir Next"/>
                <a:cs typeface="Avenir Next"/>
              </a:defRPr>
            </a:lvl5pPr>
            <a:lvl6pPr>
              <a:buNone/>
              <a:defRPr sz="1875" b="1">
                <a:solidFill>
                  <a:srgbClr val="0D8B8B"/>
                </a:solidFill>
                <a:latin typeface="Avenir Next"/>
                <a:ea typeface="Avenir Next"/>
                <a:cs typeface="Avenir Next"/>
              </a:defRPr>
            </a:lvl6pPr>
            <a:lvl7pPr>
              <a:buNone/>
              <a:defRPr sz="1875" b="1">
                <a:solidFill>
                  <a:srgbClr val="0D8B8B"/>
                </a:solidFill>
                <a:latin typeface="Avenir Next"/>
                <a:ea typeface="Avenir Next"/>
                <a:cs typeface="Avenir Next"/>
              </a:defRPr>
            </a:lvl7pPr>
            <a:lvl8pPr>
              <a:buNone/>
              <a:defRPr sz="1875" b="1">
                <a:solidFill>
                  <a:srgbClr val="0D8B8B"/>
                </a:solidFill>
                <a:latin typeface="Avenir Next"/>
                <a:ea typeface="Avenir Next"/>
                <a:cs typeface="Avenir Next"/>
              </a:defRPr>
            </a:lvl8pPr>
            <a:lvl9pPr>
              <a:buNone/>
              <a:defRPr sz="1875" b="1">
                <a:solidFill>
                  <a:srgbClr val="0D8B8B"/>
                </a:solidFill>
                <a:latin typeface="Avenir Next"/>
                <a:ea typeface="Avenir Next"/>
                <a:cs typeface="Avenir Next"/>
              </a:defRPr>
            </a:lvl9pPr>
          </a:lstStyle>
          <a:p xmlns:a="http://schemas.openxmlformats.org/drawingml/2006/main">
            <a:pPr>
              <a:buNone/>
              <a:defRPr sz="1875" b="1">
                <a:solidFill>
                  <a:srgbClr val="0D8B8B"/>
                </a:solidFill>
                <a:latin typeface="Avenir Next"/>
                <a:ea typeface="Avenir Next"/>
                <a:cs typeface="Avenir Next"/>
              </a:defRPr>
            </a:pPr>
            <a:r>
              <a:rPr sz="1875" b="1">
                <a:solidFill>
                  <a:srgbClr val="0D8B8B"/>
                </a:solidFill>
                <a:latin typeface="Avenir Next"/>
                <a:ea typeface="Avenir Next"/>
                <a:cs typeface="Avenir Next"/>
              </a:rPr>
              <a:t>Deep tree: minsplit = 2</a:t>
            </a:r>
          </a:p>
        </p:txBody>
      </p:sp>
      <p:sp>
        <p:nvSpPr>
          <p:cNvPr id="8" name="">
            <a:extLst xmlns:a="http://schemas.openxmlformats.org/drawingml/2006/main">
              <a:ext uri="{FF2B5EF4-FFF2-40B4-BE49-F238E27FC236}">
                <a16:creationId xmlns:a16="http://schemas.microsoft.com/office/drawing/2014/main" id="{BC029C62-D993-402A-BB6C-7E4EE2CC119E}"/>
              </a:ext>
            </a:extLst>
          </p:cNvPr>
          <p:cNvSpPr>
            <a:spLocks xmlns:a="http://schemas.openxmlformats.org/drawingml/2006/main" noGrp="1"/>
          </p:cNvSpPr>
          <p:nvPr/>
        </p:nvSpPr>
        <p:spPr>
          <a:xfrm xmlns:a="http://schemas.openxmlformats.org/drawingml/2006/main">
            <a:off x="6429375" y="10477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D8B8B"/>
                </a:solidFill>
                <a:latin typeface="Avenir Next"/>
                <a:ea typeface="Avenir Next"/>
                <a:cs typeface="Avenir Next"/>
              </a:defRPr>
            </a:defPPr>
            <a:lvl1pPr>
              <a:buNone/>
              <a:defRPr sz="1875" b="1">
                <a:solidFill>
                  <a:srgbClr val="0D8B8B"/>
                </a:solidFill>
                <a:latin typeface="Avenir Next"/>
                <a:ea typeface="Avenir Next"/>
                <a:cs typeface="Avenir Next"/>
              </a:defRPr>
            </a:lvl1pPr>
            <a:lvl2pPr>
              <a:buNone/>
              <a:defRPr sz="1875" b="1">
                <a:solidFill>
                  <a:srgbClr val="0D8B8B"/>
                </a:solidFill>
                <a:latin typeface="Avenir Next"/>
                <a:ea typeface="Avenir Next"/>
                <a:cs typeface="Avenir Next"/>
              </a:defRPr>
            </a:lvl2pPr>
            <a:lvl3pPr>
              <a:buNone/>
              <a:defRPr sz="1875" b="1">
                <a:solidFill>
                  <a:srgbClr val="0D8B8B"/>
                </a:solidFill>
                <a:latin typeface="Avenir Next"/>
                <a:ea typeface="Avenir Next"/>
                <a:cs typeface="Avenir Next"/>
              </a:defRPr>
            </a:lvl3pPr>
            <a:lvl4pPr>
              <a:buNone/>
              <a:defRPr sz="1875" b="1">
                <a:solidFill>
                  <a:srgbClr val="0D8B8B"/>
                </a:solidFill>
                <a:latin typeface="Avenir Next"/>
                <a:ea typeface="Avenir Next"/>
                <a:cs typeface="Avenir Next"/>
              </a:defRPr>
            </a:lvl4pPr>
            <a:lvl5pPr>
              <a:buNone/>
              <a:defRPr sz="1875" b="1">
                <a:solidFill>
                  <a:srgbClr val="0D8B8B"/>
                </a:solidFill>
                <a:latin typeface="Avenir Next"/>
                <a:ea typeface="Avenir Next"/>
                <a:cs typeface="Avenir Next"/>
              </a:defRPr>
            </a:lvl5pPr>
            <a:lvl6pPr>
              <a:buNone/>
              <a:defRPr sz="1875" b="1">
                <a:solidFill>
                  <a:srgbClr val="0D8B8B"/>
                </a:solidFill>
                <a:latin typeface="Avenir Next"/>
                <a:ea typeface="Avenir Next"/>
                <a:cs typeface="Avenir Next"/>
              </a:defRPr>
            </a:lvl6pPr>
            <a:lvl7pPr>
              <a:buNone/>
              <a:defRPr sz="1875" b="1">
                <a:solidFill>
                  <a:srgbClr val="0D8B8B"/>
                </a:solidFill>
                <a:latin typeface="Avenir Next"/>
                <a:ea typeface="Avenir Next"/>
                <a:cs typeface="Avenir Next"/>
              </a:defRPr>
            </a:lvl7pPr>
            <a:lvl8pPr>
              <a:buNone/>
              <a:defRPr sz="1875" b="1">
                <a:solidFill>
                  <a:srgbClr val="0D8B8B"/>
                </a:solidFill>
                <a:latin typeface="Avenir Next"/>
                <a:ea typeface="Avenir Next"/>
                <a:cs typeface="Avenir Next"/>
              </a:defRPr>
            </a:lvl8pPr>
            <a:lvl9pPr>
              <a:buNone/>
              <a:defRPr sz="1875" b="1">
                <a:solidFill>
                  <a:srgbClr val="0D8B8B"/>
                </a:solidFill>
                <a:latin typeface="Avenir Next"/>
                <a:ea typeface="Avenir Next"/>
                <a:cs typeface="Avenir Next"/>
              </a:defRPr>
            </a:lvl9pPr>
          </a:lstStyle>
          <a:p xmlns:a="http://schemas.openxmlformats.org/drawingml/2006/main">
            <a:pPr>
              <a:buNone/>
              <a:defRPr sz="1875" b="1">
                <a:solidFill>
                  <a:srgbClr val="0D8B8B"/>
                </a:solidFill>
                <a:latin typeface="Avenir Next"/>
                <a:ea typeface="Avenir Next"/>
                <a:cs typeface="Avenir Next"/>
              </a:defRPr>
            </a:pPr>
            <a:r>
              <a:rPr sz="1875" b="1">
                <a:solidFill>
                  <a:srgbClr val="0D8B8B"/>
                </a:solidFill>
                <a:latin typeface="Avenir Next"/>
                <a:ea typeface="Avenir Next"/>
                <a:cs typeface="Avenir Next"/>
              </a:rPr>
              <a:t>Pruned tree: cp = 0.031</a:t>
            </a:r>
          </a:p>
        </p:txBody>
      </p:sp>
      <p:sp>
        <p:nvSpPr>
          <p:cNvPr id="9" name="">
            <a:extLst xmlns:a="http://schemas.openxmlformats.org/drawingml/2006/main">
              <a:ext uri="{FF2B5EF4-FFF2-40B4-BE49-F238E27FC236}">
                <a16:creationId xmlns:a16="http://schemas.microsoft.com/office/drawing/2014/main" id="{025D8258-2C42-432B-BC6A-1B85B5F5339E}"/>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Compare both with the default tree. More branches can fit details of this sample.</a:t>
            </a:r>
          </a:p>
        </p:txBody>
      </p:sp>
    </p:spTree>
    <p:extLst>
      <p:ext uri="{BB962C8B-B14F-4D97-AF65-F5344CB8AC3E}">
        <p14:creationId xmlns:p14="http://schemas.microsoft.com/office/powerpoint/2010/main" val="161531220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4E606F8-1EDB-4956-B2A8-D87C7C284DE9}"/>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21</a:t>
            </a:r>
          </a:p>
        </p:txBody>
      </p:sp>
      <p:sp>
        <p:nvSpPr>
          <p:cNvPr id="2" name="">
            <a:extLst xmlns:a="http://schemas.openxmlformats.org/drawingml/2006/main">
              <a:ext uri="{FF2B5EF4-FFF2-40B4-BE49-F238E27FC236}">
                <a16:creationId xmlns:a16="http://schemas.microsoft.com/office/drawing/2014/main" id="{40776FA4-3183-49FA-B1E4-17513CF942B0}"/>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Appendix: overfitting and pruning</a:t>
            </a:r>
          </a:p>
        </p:txBody>
      </p:sp>
      <p:sp>
        <p:nvSpPr>
          <p:cNvPr id="3" name="">
            <a:extLst xmlns:a="http://schemas.openxmlformats.org/drawingml/2006/main">
              <a:ext uri="{FF2B5EF4-FFF2-40B4-BE49-F238E27FC236}">
                <a16:creationId xmlns:a16="http://schemas.microsoft.com/office/drawing/2014/main" id="{AC6B94F6-E410-4C98-AD0C-47630FF3D836}"/>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9B2DB29B-411C-4267-8A91-56687558CACE}"/>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pic>
        <p:nvPicPr>
          <p:cNvPr id="5" name="">
            <a:extLst xmlns:a="http://schemas.openxmlformats.org/drawingml/2006/main">
              <a:ext uri="{FF2B5EF4-FFF2-40B4-BE49-F238E27FC236}">
                <a16:creationId xmlns:a16="http://schemas.microsoft.com/office/drawing/2014/main" id="{08B9C959-3CAC-4AFB-81D7-EF09B76B599F}"/>
              </a:ext>
            </a:extLst>
          </p:cNvPr>
          <p:cNvPicPr>
            <a:picLocks xmlns:a="http://schemas.openxmlformats.org/drawingml/2006/main" noChangeAspect="1"/>
          </p:cNvPicPr>
          <p:nvPr/>
        </p:nvPicPr>
        <p:blipFill>
          <a:blip xmlns:r="http://schemas.openxmlformats.org/officeDocument/2006/relationships" xmlns:a="http://schemas.openxmlformats.org/drawingml/2006/main" r:embed="R8c48409e2e2d4c12"/>
          <a:stretch xmlns:a="http://schemas.openxmlformats.org/drawingml/2006/main"/>
        </p:blipFill>
        <p:spPr>
          <a:xfrm xmlns:a="http://schemas.openxmlformats.org/drawingml/2006/main">
            <a:off x="1412875" y="1238250"/>
            <a:ext cx="5461000"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B0281B5-3358-4459-96C0-D2C47C4FF692}"/>
              </a:ext>
            </a:extLst>
          </p:cNvPr>
          <p:cNvSpPr>
            <a:spLocks xmlns:a="http://schemas.openxmlformats.org/drawingml/2006/main" noGrp="1"/>
          </p:cNvSpPr>
          <p:nvPr/>
        </p:nvSpPr>
        <p:spPr>
          <a:xfrm xmlns:a="http://schemas.openxmlformats.org/drawingml/2006/main">
            <a:off x="8096250" y="1476375"/>
            <a:ext cx="352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D6D76"/>
                </a:solidFill>
                <a:latin typeface="Avenir Next"/>
                <a:ea typeface="Avenir Next"/>
                <a:cs typeface="Avenir Next"/>
              </a:defRPr>
            </a:defPPr>
            <a:lvl1pPr>
              <a:buNone/>
              <a:defRPr sz="1875" b="0">
                <a:solidFill>
                  <a:srgbClr val="5D6D76"/>
                </a:solidFill>
                <a:latin typeface="Avenir Next"/>
                <a:ea typeface="Avenir Next"/>
                <a:cs typeface="Avenir Next"/>
              </a:defRPr>
            </a:lvl1pPr>
            <a:lvl2pPr>
              <a:buNone/>
              <a:defRPr sz="1875" b="0">
                <a:solidFill>
                  <a:srgbClr val="5D6D76"/>
                </a:solidFill>
                <a:latin typeface="Avenir Next"/>
                <a:ea typeface="Avenir Next"/>
                <a:cs typeface="Avenir Next"/>
              </a:defRPr>
            </a:lvl2pPr>
            <a:lvl3pPr>
              <a:buNone/>
              <a:defRPr sz="1875" b="0">
                <a:solidFill>
                  <a:srgbClr val="5D6D76"/>
                </a:solidFill>
                <a:latin typeface="Avenir Next"/>
                <a:ea typeface="Avenir Next"/>
                <a:cs typeface="Avenir Next"/>
              </a:defRPr>
            </a:lvl3pPr>
            <a:lvl4pPr>
              <a:buNone/>
              <a:defRPr sz="1875" b="0">
                <a:solidFill>
                  <a:srgbClr val="5D6D76"/>
                </a:solidFill>
                <a:latin typeface="Avenir Next"/>
                <a:ea typeface="Avenir Next"/>
                <a:cs typeface="Avenir Next"/>
              </a:defRPr>
            </a:lvl4pPr>
            <a:lvl5pPr>
              <a:buNone/>
              <a:defRPr sz="1875" b="0">
                <a:solidFill>
                  <a:srgbClr val="5D6D76"/>
                </a:solidFill>
                <a:latin typeface="Avenir Next"/>
                <a:ea typeface="Avenir Next"/>
                <a:cs typeface="Avenir Next"/>
              </a:defRPr>
            </a:lvl5pPr>
            <a:lvl6pPr>
              <a:buNone/>
              <a:defRPr sz="1875" b="0">
                <a:solidFill>
                  <a:srgbClr val="5D6D76"/>
                </a:solidFill>
                <a:latin typeface="Avenir Next"/>
                <a:ea typeface="Avenir Next"/>
                <a:cs typeface="Avenir Next"/>
              </a:defRPr>
            </a:lvl6pPr>
            <a:lvl7pPr>
              <a:buNone/>
              <a:defRPr sz="1875" b="0">
                <a:solidFill>
                  <a:srgbClr val="5D6D76"/>
                </a:solidFill>
                <a:latin typeface="Avenir Next"/>
                <a:ea typeface="Avenir Next"/>
                <a:cs typeface="Avenir Next"/>
              </a:defRPr>
            </a:lvl7pPr>
            <a:lvl8pPr>
              <a:buNone/>
              <a:defRPr sz="1875" b="0">
                <a:solidFill>
                  <a:srgbClr val="5D6D76"/>
                </a:solidFill>
                <a:latin typeface="Avenir Next"/>
                <a:ea typeface="Avenir Next"/>
                <a:cs typeface="Avenir Next"/>
              </a:defRPr>
            </a:lvl8pPr>
            <a:lvl9pPr>
              <a:buNone/>
              <a:defRPr sz="1875" b="0">
                <a:solidFill>
                  <a:srgbClr val="5D6D76"/>
                </a:solidFill>
                <a:latin typeface="Avenir Next"/>
                <a:ea typeface="Avenir Next"/>
                <a:cs typeface="Avenir Next"/>
              </a:defRPr>
            </a:lvl9pPr>
          </a:lstStyle>
          <a:p xmlns:a="http://schemas.openxmlformats.org/drawingml/2006/main">
            <a:pPr>
              <a:buNone/>
              <a:defRPr sz="1875" b="0">
                <a:solidFill>
                  <a:srgbClr val="5D6D76"/>
                </a:solidFill>
                <a:latin typeface="Avenir Next"/>
                <a:ea typeface="Avenir Next"/>
                <a:cs typeface="Avenir Next"/>
              </a:defRPr>
            </a:pPr>
            <a:r>
              <a:rPr sz="1875" b="0">
                <a:solidFill>
                  <a:srgbClr val="5D6D76"/>
                </a:solidFill>
                <a:latin typeface="Avenir Next"/>
                <a:ea typeface="Avenir Next"/>
                <a:cs typeface="Avenir Next"/>
              </a:rPr>
              <a:t>Overfitting learns sample</a:t>
            </a:r>
          </a:p>
          <a:p xmlns:a="http://schemas.openxmlformats.org/drawingml/2006/main">
            <a:pPr>
              <a:buNone/>
              <a:defRPr sz="1875" b="0">
                <a:solidFill>
                  <a:srgbClr val="5D6D76"/>
                </a:solidFill>
                <a:latin typeface="Avenir Next"/>
                <a:ea typeface="Avenir Next"/>
                <a:cs typeface="Avenir Next"/>
              </a:defRPr>
            </a:pPr>
            <a:r>
              <a:rPr sz="1875" b="0">
                <a:solidFill>
                  <a:srgbClr val="5D6D76"/>
                </a:solidFill>
                <a:latin typeface="Avenir Next"/>
                <a:ea typeface="Avenir Next"/>
                <a:cs typeface="Avenir Next"/>
              </a:rPr>
              <a:t>details that may not repeat.</a:t>
            </a:r>
          </a:p>
        </p:txBody>
      </p:sp>
      <p:sp>
        <p:nvSpPr>
          <p:cNvPr id="7" name="">
            <a:extLst xmlns:a="http://schemas.openxmlformats.org/drawingml/2006/main">
              <a:ext uri="{FF2B5EF4-FFF2-40B4-BE49-F238E27FC236}">
                <a16:creationId xmlns:a16="http://schemas.microsoft.com/office/drawing/2014/main" id="{816E9CD2-EA4A-4F4A-B757-6E3C55FA4F43}"/>
              </a:ext>
            </a:extLst>
          </p:cNvPr>
          <p:cNvSpPr>
            <a:spLocks xmlns:a="http://schemas.openxmlformats.org/drawingml/2006/main" noGrp="1"/>
          </p:cNvSpPr>
          <p:nvPr/>
        </p:nvSpPr>
        <p:spPr>
          <a:xfrm xmlns:a="http://schemas.openxmlformats.org/drawingml/2006/main">
            <a:off x="8096250" y="2619375"/>
            <a:ext cx="352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D6D76"/>
                </a:solidFill>
                <a:latin typeface="Avenir Next"/>
                <a:ea typeface="Avenir Next"/>
                <a:cs typeface="Avenir Next"/>
              </a:defRPr>
            </a:defPPr>
            <a:lvl1pPr>
              <a:buNone/>
              <a:defRPr sz="1875" b="0">
                <a:solidFill>
                  <a:srgbClr val="5D6D76"/>
                </a:solidFill>
                <a:latin typeface="Avenir Next"/>
                <a:ea typeface="Avenir Next"/>
                <a:cs typeface="Avenir Next"/>
              </a:defRPr>
            </a:lvl1pPr>
            <a:lvl2pPr>
              <a:buNone/>
              <a:defRPr sz="1875" b="0">
                <a:solidFill>
                  <a:srgbClr val="5D6D76"/>
                </a:solidFill>
                <a:latin typeface="Avenir Next"/>
                <a:ea typeface="Avenir Next"/>
                <a:cs typeface="Avenir Next"/>
              </a:defRPr>
            </a:lvl2pPr>
            <a:lvl3pPr>
              <a:buNone/>
              <a:defRPr sz="1875" b="0">
                <a:solidFill>
                  <a:srgbClr val="5D6D76"/>
                </a:solidFill>
                <a:latin typeface="Avenir Next"/>
                <a:ea typeface="Avenir Next"/>
                <a:cs typeface="Avenir Next"/>
              </a:defRPr>
            </a:lvl3pPr>
            <a:lvl4pPr>
              <a:buNone/>
              <a:defRPr sz="1875" b="0">
                <a:solidFill>
                  <a:srgbClr val="5D6D76"/>
                </a:solidFill>
                <a:latin typeface="Avenir Next"/>
                <a:ea typeface="Avenir Next"/>
                <a:cs typeface="Avenir Next"/>
              </a:defRPr>
            </a:lvl4pPr>
            <a:lvl5pPr>
              <a:buNone/>
              <a:defRPr sz="1875" b="0">
                <a:solidFill>
                  <a:srgbClr val="5D6D76"/>
                </a:solidFill>
                <a:latin typeface="Avenir Next"/>
                <a:ea typeface="Avenir Next"/>
                <a:cs typeface="Avenir Next"/>
              </a:defRPr>
            </a:lvl5pPr>
            <a:lvl6pPr>
              <a:buNone/>
              <a:defRPr sz="1875" b="0">
                <a:solidFill>
                  <a:srgbClr val="5D6D76"/>
                </a:solidFill>
                <a:latin typeface="Avenir Next"/>
                <a:ea typeface="Avenir Next"/>
                <a:cs typeface="Avenir Next"/>
              </a:defRPr>
            </a:lvl6pPr>
            <a:lvl7pPr>
              <a:buNone/>
              <a:defRPr sz="1875" b="0">
                <a:solidFill>
                  <a:srgbClr val="5D6D76"/>
                </a:solidFill>
                <a:latin typeface="Avenir Next"/>
                <a:ea typeface="Avenir Next"/>
                <a:cs typeface="Avenir Next"/>
              </a:defRPr>
            </a:lvl7pPr>
            <a:lvl8pPr>
              <a:buNone/>
              <a:defRPr sz="1875" b="0">
                <a:solidFill>
                  <a:srgbClr val="5D6D76"/>
                </a:solidFill>
                <a:latin typeface="Avenir Next"/>
                <a:ea typeface="Avenir Next"/>
                <a:cs typeface="Avenir Next"/>
              </a:defRPr>
            </a:lvl8pPr>
            <a:lvl9pPr>
              <a:buNone/>
              <a:defRPr sz="1875" b="0">
                <a:solidFill>
                  <a:srgbClr val="5D6D76"/>
                </a:solidFill>
                <a:latin typeface="Avenir Next"/>
                <a:ea typeface="Avenir Next"/>
                <a:cs typeface="Avenir Next"/>
              </a:defRPr>
            </a:lvl9pPr>
          </a:lstStyle>
          <a:p xmlns:a="http://schemas.openxmlformats.org/drawingml/2006/main">
            <a:pPr>
              <a:buNone/>
              <a:defRPr sz="1875" b="0">
                <a:solidFill>
                  <a:srgbClr val="5D6D76"/>
                </a:solidFill>
                <a:latin typeface="Avenir Next"/>
                <a:ea typeface="Avenir Next"/>
                <a:cs typeface="Avenir Next"/>
              </a:defRPr>
            </a:pPr>
            <a:r>
              <a:rPr sz="1875" b="0">
                <a:solidFill>
                  <a:srgbClr val="5D6D76"/>
                </a:solidFill>
                <a:latin typeface="Avenir Next"/>
                <a:ea typeface="Avenir Next"/>
                <a:cs typeface="Avenir Next"/>
              </a:rPr>
              <a:t>Pruning removes branches</a:t>
            </a:r>
          </a:p>
          <a:p xmlns:a="http://schemas.openxmlformats.org/drawingml/2006/main">
            <a:pPr>
              <a:buNone/>
              <a:defRPr sz="1875" b="0">
                <a:solidFill>
                  <a:srgbClr val="5D6D76"/>
                </a:solidFill>
                <a:latin typeface="Avenir Next"/>
                <a:ea typeface="Avenir Next"/>
                <a:cs typeface="Avenir Next"/>
              </a:defRPr>
            </a:pPr>
            <a:r>
              <a:rPr sz="1875" b="0">
                <a:solidFill>
                  <a:srgbClr val="5D6D76"/>
                </a:solidFill>
                <a:latin typeface="Avenir Next"/>
                <a:ea typeface="Avenir Next"/>
                <a:cs typeface="Avenir Next"/>
              </a:rPr>
              <a:t>to limit complexity.</a:t>
            </a:r>
          </a:p>
        </p:txBody>
      </p:sp>
      <p:sp>
        <p:nvSpPr>
          <p:cNvPr id="8" name="">
            <a:extLst xmlns:a="http://schemas.openxmlformats.org/drawingml/2006/main">
              <a:ext uri="{FF2B5EF4-FFF2-40B4-BE49-F238E27FC236}">
                <a16:creationId xmlns:a16="http://schemas.microsoft.com/office/drawing/2014/main" id="{A720A9E9-7AD3-4870-8662-39CBFD41AE6E}"/>
              </a:ext>
            </a:extLst>
          </p:cNvPr>
          <p:cNvSpPr>
            <a:spLocks xmlns:a="http://schemas.openxmlformats.org/drawingml/2006/main" noGrp="1"/>
          </p:cNvSpPr>
          <p:nvPr/>
        </p:nvSpPr>
        <p:spPr>
          <a:xfrm xmlns:a="http://schemas.openxmlformats.org/drawingml/2006/main">
            <a:off x="8096250" y="3762375"/>
            <a:ext cx="352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D6D76"/>
                </a:solidFill>
                <a:latin typeface="Avenir Next"/>
                <a:ea typeface="Avenir Next"/>
                <a:cs typeface="Avenir Next"/>
              </a:defRPr>
            </a:defPPr>
            <a:lvl1pPr>
              <a:buNone/>
              <a:defRPr sz="1875" b="0">
                <a:solidFill>
                  <a:srgbClr val="5D6D76"/>
                </a:solidFill>
                <a:latin typeface="Avenir Next"/>
                <a:ea typeface="Avenir Next"/>
                <a:cs typeface="Avenir Next"/>
              </a:defRPr>
            </a:lvl1pPr>
            <a:lvl2pPr>
              <a:buNone/>
              <a:defRPr sz="1875" b="0">
                <a:solidFill>
                  <a:srgbClr val="5D6D76"/>
                </a:solidFill>
                <a:latin typeface="Avenir Next"/>
                <a:ea typeface="Avenir Next"/>
                <a:cs typeface="Avenir Next"/>
              </a:defRPr>
            </a:lvl2pPr>
            <a:lvl3pPr>
              <a:buNone/>
              <a:defRPr sz="1875" b="0">
                <a:solidFill>
                  <a:srgbClr val="5D6D76"/>
                </a:solidFill>
                <a:latin typeface="Avenir Next"/>
                <a:ea typeface="Avenir Next"/>
                <a:cs typeface="Avenir Next"/>
              </a:defRPr>
            </a:lvl3pPr>
            <a:lvl4pPr>
              <a:buNone/>
              <a:defRPr sz="1875" b="0">
                <a:solidFill>
                  <a:srgbClr val="5D6D76"/>
                </a:solidFill>
                <a:latin typeface="Avenir Next"/>
                <a:ea typeface="Avenir Next"/>
                <a:cs typeface="Avenir Next"/>
              </a:defRPr>
            </a:lvl4pPr>
            <a:lvl5pPr>
              <a:buNone/>
              <a:defRPr sz="1875" b="0">
                <a:solidFill>
                  <a:srgbClr val="5D6D76"/>
                </a:solidFill>
                <a:latin typeface="Avenir Next"/>
                <a:ea typeface="Avenir Next"/>
                <a:cs typeface="Avenir Next"/>
              </a:defRPr>
            </a:lvl5pPr>
            <a:lvl6pPr>
              <a:buNone/>
              <a:defRPr sz="1875" b="0">
                <a:solidFill>
                  <a:srgbClr val="5D6D76"/>
                </a:solidFill>
                <a:latin typeface="Avenir Next"/>
                <a:ea typeface="Avenir Next"/>
                <a:cs typeface="Avenir Next"/>
              </a:defRPr>
            </a:lvl6pPr>
            <a:lvl7pPr>
              <a:buNone/>
              <a:defRPr sz="1875" b="0">
                <a:solidFill>
                  <a:srgbClr val="5D6D76"/>
                </a:solidFill>
                <a:latin typeface="Avenir Next"/>
                <a:ea typeface="Avenir Next"/>
                <a:cs typeface="Avenir Next"/>
              </a:defRPr>
            </a:lvl7pPr>
            <a:lvl8pPr>
              <a:buNone/>
              <a:defRPr sz="1875" b="0">
                <a:solidFill>
                  <a:srgbClr val="5D6D76"/>
                </a:solidFill>
                <a:latin typeface="Avenir Next"/>
                <a:ea typeface="Avenir Next"/>
                <a:cs typeface="Avenir Next"/>
              </a:defRPr>
            </a:lvl8pPr>
            <a:lvl9pPr>
              <a:buNone/>
              <a:defRPr sz="1875" b="0">
                <a:solidFill>
                  <a:srgbClr val="5D6D76"/>
                </a:solidFill>
                <a:latin typeface="Avenir Next"/>
                <a:ea typeface="Avenir Next"/>
                <a:cs typeface="Avenir Next"/>
              </a:defRPr>
            </a:lvl9pPr>
          </a:lstStyle>
          <a:p xmlns:a="http://schemas.openxmlformats.org/drawingml/2006/main">
            <a:pPr>
              <a:buNone/>
              <a:defRPr sz="1875" b="0">
                <a:solidFill>
                  <a:srgbClr val="5D6D76"/>
                </a:solidFill>
                <a:latin typeface="Avenir Next"/>
                <a:ea typeface="Avenir Next"/>
                <a:cs typeface="Avenir Next"/>
              </a:defRPr>
            </a:pPr>
            <a:r>
              <a:rPr sz="1875" b="0">
                <a:solidFill>
                  <a:srgbClr val="5D6D76"/>
                </a:solidFill>
                <a:latin typeface="Avenir Next"/>
                <a:ea typeface="Avenir Next"/>
                <a:cs typeface="Avenir Next"/>
              </a:rPr>
              <a:t>cp = 0.031 retains the</a:t>
            </a:r>
          </a:p>
          <a:p xmlns:a="http://schemas.openxmlformats.org/drawingml/2006/main">
            <a:pPr>
              <a:buNone/>
              <a:defRPr sz="1875" b="0">
                <a:solidFill>
                  <a:srgbClr val="5D6D76"/>
                </a:solidFill>
                <a:latin typeface="Avenir Next"/>
                <a:ea typeface="Avenir Next"/>
                <a:cs typeface="Avenir Next"/>
              </a:defRPr>
            </a:pPr>
            <a:r>
              <a:rPr sz="1875" b="0">
                <a:solidFill>
                  <a:srgbClr val="5D6D76"/>
                </a:solidFill>
                <a:latin typeface="Avenir Next"/>
                <a:ea typeface="Avenir Next"/>
                <a:cs typeface="Avenir Next"/>
              </a:rPr>
              <a:t>article’s replication setting.</a:t>
            </a:r>
          </a:p>
        </p:txBody>
      </p:sp>
      <p:sp>
        <p:nvSpPr>
          <p:cNvPr id="9" name="">
            <a:extLst xmlns:a="http://schemas.openxmlformats.org/drawingml/2006/main">
              <a:ext uri="{FF2B5EF4-FFF2-40B4-BE49-F238E27FC236}">
                <a16:creationId xmlns:a16="http://schemas.microsoft.com/office/drawing/2014/main" id="{74279D57-2684-4BE0-BE66-ADEA89C49A3C}"/>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Checkpoint: Why might pruning help predictions on new patients?</a:t>
            </a:r>
          </a:p>
        </p:txBody>
      </p:sp>
    </p:spTree>
    <p:extLst>
      <p:ext uri="{BB962C8B-B14F-4D97-AF65-F5344CB8AC3E}">
        <p14:creationId xmlns:p14="http://schemas.microsoft.com/office/powerpoint/2010/main" val="16176352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6AFA222-EE26-4DE2-9F36-67F211195310}"/>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22</a:t>
            </a:r>
          </a:p>
        </p:txBody>
      </p:sp>
      <p:sp>
        <p:nvSpPr>
          <p:cNvPr id="2" name="">
            <a:extLst xmlns:a="http://schemas.openxmlformats.org/drawingml/2006/main">
              <a:ext uri="{FF2B5EF4-FFF2-40B4-BE49-F238E27FC236}">
                <a16:creationId xmlns:a16="http://schemas.microsoft.com/office/drawing/2014/main" id="{1744800C-6E60-484E-AD24-AA1B08C2A5CE}"/>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Appendix: precision and recall</a:t>
            </a:r>
          </a:p>
        </p:txBody>
      </p:sp>
      <p:sp>
        <p:nvSpPr>
          <p:cNvPr id="3" name="">
            <a:extLst xmlns:a="http://schemas.openxmlformats.org/drawingml/2006/main">
              <a:ext uri="{FF2B5EF4-FFF2-40B4-BE49-F238E27FC236}">
                <a16:creationId xmlns:a16="http://schemas.microsoft.com/office/drawing/2014/main" id="{30CA4323-49B7-4CF3-AE30-A23739FDDA6D}"/>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7C09C21E-8EFA-40CF-A411-536D4CC39500}"/>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pic>
        <p:nvPicPr>
          <p:cNvPr id="5" name="">
            <a:extLst xmlns:a="http://schemas.openxmlformats.org/drawingml/2006/main">
              <a:ext uri="{FF2B5EF4-FFF2-40B4-BE49-F238E27FC236}">
                <a16:creationId xmlns:a16="http://schemas.microsoft.com/office/drawing/2014/main" id="{B9E12670-A979-4ED0-9338-B8B3FCBCC544}"/>
              </a:ext>
            </a:extLst>
          </p:cNvPr>
          <p:cNvPicPr>
            <a:picLocks xmlns:a="http://schemas.openxmlformats.org/drawingml/2006/main" noChangeAspect="1"/>
          </p:cNvPicPr>
          <p:nvPr/>
        </p:nvPicPr>
        <p:blipFill>
          <a:blip xmlns:r="http://schemas.openxmlformats.org/officeDocument/2006/relationships" xmlns:a="http://schemas.openxmlformats.org/drawingml/2006/main" r:embed="R0f1ad495a52e41c8"/>
          <a:stretch xmlns:a="http://schemas.openxmlformats.org/drawingml/2006/main"/>
        </p:blipFill>
        <p:spPr>
          <a:xfrm xmlns:a="http://schemas.openxmlformats.org/drawingml/2006/main">
            <a:off x="1304925" y="1190625"/>
            <a:ext cx="5867400" cy="4191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7A3CB99-3562-4ECB-8901-71683561FC35}"/>
              </a:ext>
            </a:extLst>
          </p:cNvPr>
          <p:cNvSpPr>
            <a:spLocks xmlns:a="http://schemas.openxmlformats.org/drawingml/2006/main" noGrp="1"/>
          </p:cNvSpPr>
          <p:nvPr/>
        </p:nvSpPr>
        <p:spPr>
          <a:xfrm xmlns:a="http://schemas.openxmlformats.org/drawingml/2006/main">
            <a:off x="8143875" y="1428750"/>
            <a:ext cx="3476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D6D76"/>
                </a:solidFill>
                <a:latin typeface="Avenir Next"/>
                <a:ea typeface="Avenir Next"/>
                <a:cs typeface="Avenir Next"/>
              </a:defRPr>
            </a:defPPr>
            <a:lvl1pPr>
              <a:buNone/>
              <a:defRPr sz="2100" b="0">
                <a:solidFill>
                  <a:srgbClr val="5D6D76"/>
                </a:solidFill>
                <a:latin typeface="Avenir Next"/>
                <a:ea typeface="Avenir Next"/>
                <a:cs typeface="Avenir Next"/>
              </a:defRPr>
            </a:lvl1pPr>
            <a:lvl2pPr>
              <a:buNone/>
              <a:defRPr sz="2100" b="0">
                <a:solidFill>
                  <a:srgbClr val="5D6D76"/>
                </a:solidFill>
                <a:latin typeface="Avenir Next"/>
                <a:ea typeface="Avenir Next"/>
                <a:cs typeface="Avenir Next"/>
              </a:defRPr>
            </a:lvl2pPr>
            <a:lvl3pPr>
              <a:buNone/>
              <a:defRPr sz="2100" b="0">
                <a:solidFill>
                  <a:srgbClr val="5D6D76"/>
                </a:solidFill>
                <a:latin typeface="Avenir Next"/>
                <a:ea typeface="Avenir Next"/>
                <a:cs typeface="Avenir Next"/>
              </a:defRPr>
            </a:lvl3pPr>
            <a:lvl4pPr>
              <a:buNone/>
              <a:defRPr sz="2100" b="0">
                <a:solidFill>
                  <a:srgbClr val="5D6D76"/>
                </a:solidFill>
                <a:latin typeface="Avenir Next"/>
                <a:ea typeface="Avenir Next"/>
                <a:cs typeface="Avenir Next"/>
              </a:defRPr>
            </a:lvl4pPr>
            <a:lvl5pPr>
              <a:buNone/>
              <a:defRPr sz="2100" b="0">
                <a:solidFill>
                  <a:srgbClr val="5D6D76"/>
                </a:solidFill>
                <a:latin typeface="Avenir Next"/>
                <a:ea typeface="Avenir Next"/>
                <a:cs typeface="Avenir Next"/>
              </a:defRPr>
            </a:lvl5pPr>
            <a:lvl6pPr>
              <a:buNone/>
              <a:defRPr sz="2100" b="0">
                <a:solidFill>
                  <a:srgbClr val="5D6D76"/>
                </a:solidFill>
                <a:latin typeface="Avenir Next"/>
                <a:ea typeface="Avenir Next"/>
                <a:cs typeface="Avenir Next"/>
              </a:defRPr>
            </a:lvl6pPr>
            <a:lvl7pPr>
              <a:buNone/>
              <a:defRPr sz="2100" b="0">
                <a:solidFill>
                  <a:srgbClr val="5D6D76"/>
                </a:solidFill>
                <a:latin typeface="Avenir Next"/>
                <a:ea typeface="Avenir Next"/>
                <a:cs typeface="Avenir Next"/>
              </a:defRPr>
            </a:lvl7pPr>
            <a:lvl8pPr>
              <a:buNone/>
              <a:defRPr sz="2100" b="0">
                <a:solidFill>
                  <a:srgbClr val="5D6D76"/>
                </a:solidFill>
                <a:latin typeface="Avenir Next"/>
                <a:ea typeface="Avenir Next"/>
                <a:cs typeface="Avenir Next"/>
              </a:defRPr>
            </a:lvl8pPr>
            <a:lvl9pPr>
              <a:buNone/>
              <a:defRPr sz="2100" b="0">
                <a:solidFill>
                  <a:srgbClr val="5D6D76"/>
                </a:solidFill>
                <a:latin typeface="Avenir Next"/>
                <a:ea typeface="Avenir Next"/>
                <a:cs typeface="Avenir Next"/>
              </a:defRPr>
            </a:lvl9pPr>
          </a:lstStyle>
          <a:p xmlns:a="http://schemas.openxmlformats.org/drawingml/2006/main">
            <a:pPr>
              <a:buNone/>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Recall = sensitivity.</a:t>
            </a:r>
          </a:p>
        </p:txBody>
      </p:sp>
      <p:sp>
        <p:nvSpPr>
          <p:cNvPr id="7" name="">
            <a:extLst xmlns:a="http://schemas.openxmlformats.org/drawingml/2006/main">
              <a:ext uri="{FF2B5EF4-FFF2-40B4-BE49-F238E27FC236}">
                <a16:creationId xmlns:a16="http://schemas.microsoft.com/office/drawing/2014/main" id="{AA1E2064-ED16-4FE8-BFF6-8A3590D39169}"/>
              </a:ext>
            </a:extLst>
          </p:cNvPr>
          <p:cNvSpPr>
            <a:spLocks xmlns:a="http://schemas.openxmlformats.org/drawingml/2006/main" noGrp="1"/>
          </p:cNvSpPr>
          <p:nvPr/>
        </p:nvSpPr>
        <p:spPr>
          <a:xfrm xmlns:a="http://schemas.openxmlformats.org/drawingml/2006/main">
            <a:off x="8143875" y="2619375"/>
            <a:ext cx="3476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D6D76"/>
                </a:solidFill>
                <a:latin typeface="Avenir Next"/>
                <a:ea typeface="Avenir Next"/>
                <a:cs typeface="Avenir Next"/>
              </a:defRPr>
            </a:defPPr>
            <a:lvl1pPr>
              <a:buNone/>
              <a:defRPr sz="2100" b="0">
                <a:solidFill>
                  <a:srgbClr val="5D6D76"/>
                </a:solidFill>
                <a:latin typeface="Avenir Next"/>
                <a:ea typeface="Avenir Next"/>
                <a:cs typeface="Avenir Next"/>
              </a:defRPr>
            </a:lvl1pPr>
            <a:lvl2pPr>
              <a:buNone/>
              <a:defRPr sz="2100" b="0">
                <a:solidFill>
                  <a:srgbClr val="5D6D76"/>
                </a:solidFill>
                <a:latin typeface="Avenir Next"/>
                <a:ea typeface="Avenir Next"/>
                <a:cs typeface="Avenir Next"/>
              </a:defRPr>
            </a:lvl2pPr>
            <a:lvl3pPr>
              <a:buNone/>
              <a:defRPr sz="2100" b="0">
                <a:solidFill>
                  <a:srgbClr val="5D6D76"/>
                </a:solidFill>
                <a:latin typeface="Avenir Next"/>
                <a:ea typeface="Avenir Next"/>
                <a:cs typeface="Avenir Next"/>
              </a:defRPr>
            </a:lvl3pPr>
            <a:lvl4pPr>
              <a:buNone/>
              <a:defRPr sz="2100" b="0">
                <a:solidFill>
                  <a:srgbClr val="5D6D76"/>
                </a:solidFill>
                <a:latin typeface="Avenir Next"/>
                <a:ea typeface="Avenir Next"/>
                <a:cs typeface="Avenir Next"/>
              </a:defRPr>
            </a:lvl4pPr>
            <a:lvl5pPr>
              <a:buNone/>
              <a:defRPr sz="2100" b="0">
                <a:solidFill>
                  <a:srgbClr val="5D6D76"/>
                </a:solidFill>
                <a:latin typeface="Avenir Next"/>
                <a:ea typeface="Avenir Next"/>
                <a:cs typeface="Avenir Next"/>
              </a:defRPr>
            </a:lvl5pPr>
            <a:lvl6pPr>
              <a:buNone/>
              <a:defRPr sz="2100" b="0">
                <a:solidFill>
                  <a:srgbClr val="5D6D76"/>
                </a:solidFill>
                <a:latin typeface="Avenir Next"/>
                <a:ea typeface="Avenir Next"/>
                <a:cs typeface="Avenir Next"/>
              </a:defRPr>
            </a:lvl6pPr>
            <a:lvl7pPr>
              <a:buNone/>
              <a:defRPr sz="2100" b="0">
                <a:solidFill>
                  <a:srgbClr val="5D6D76"/>
                </a:solidFill>
                <a:latin typeface="Avenir Next"/>
                <a:ea typeface="Avenir Next"/>
                <a:cs typeface="Avenir Next"/>
              </a:defRPr>
            </a:lvl7pPr>
            <a:lvl8pPr>
              <a:buNone/>
              <a:defRPr sz="2100" b="0">
                <a:solidFill>
                  <a:srgbClr val="5D6D76"/>
                </a:solidFill>
                <a:latin typeface="Avenir Next"/>
                <a:ea typeface="Avenir Next"/>
                <a:cs typeface="Avenir Next"/>
              </a:defRPr>
            </a:lvl8pPr>
            <a:lvl9pPr>
              <a:buNone/>
              <a:defRPr sz="2100" b="0">
                <a:solidFill>
                  <a:srgbClr val="5D6D76"/>
                </a:solidFill>
                <a:latin typeface="Avenir Next"/>
                <a:ea typeface="Avenir Next"/>
                <a:cs typeface="Avenir Next"/>
              </a:defRPr>
            </a:lvl9pPr>
          </a:lstStyle>
          <a:p xmlns:a="http://schemas.openxmlformats.org/drawingml/2006/main">
            <a:pPr>
              <a:buNone/>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Precision = positive</a:t>
            </a:r>
          </a:p>
          <a:p xmlns:a="http://schemas.openxmlformats.org/drawingml/2006/main">
            <a:pPr>
              <a:buNone/>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predictive value.</a:t>
            </a:r>
          </a:p>
        </p:txBody>
      </p:sp>
      <p:sp>
        <p:nvSpPr>
          <p:cNvPr id="8" name="">
            <a:extLst xmlns:a="http://schemas.openxmlformats.org/drawingml/2006/main">
              <a:ext uri="{FF2B5EF4-FFF2-40B4-BE49-F238E27FC236}">
                <a16:creationId xmlns:a16="http://schemas.microsoft.com/office/drawing/2014/main" id="{0CD64B2F-69FF-49D4-9CCE-83641FDC6D33}"/>
              </a:ext>
            </a:extLst>
          </p:cNvPr>
          <p:cNvSpPr>
            <a:spLocks xmlns:a="http://schemas.openxmlformats.org/drawingml/2006/main" noGrp="1"/>
          </p:cNvSpPr>
          <p:nvPr/>
        </p:nvSpPr>
        <p:spPr>
          <a:xfrm xmlns:a="http://schemas.openxmlformats.org/drawingml/2006/main">
            <a:off x="8143875" y="3810000"/>
            <a:ext cx="3476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D6D76"/>
                </a:solidFill>
                <a:latin typeface="Avenir Next"/>
                <a:ea typeface="Avenir Next"/>
                <a:cs typeface="Avenir Next"/>
              </a:defRPr>
            </a:defPPr>
            <a:lvl1pPr>
              <a:buNone/>
              <a:defRPr sz="2100" b="0">
                <a:solidFill>
                  <a:srgbClr val="5D6D76"/>
                </a:solidFill>
                <a:latin typeface="Avenir Next"/>
                <a:ea typeface="Avenir Next"/>
                <a:cs typeface="Avenir Next"/>
              </a:defRPr>
            </a:lvl1pPr>
            <a:lvl2pPr>
              <a:buNone/>
              <a:defRPr sz="2100" b="0">
                <a:solidFill>
                  <a:srgbClr val="5D6D76"/>
                </a:solidFill>
                <a:latin typeface="Avenir Next"/>
                <a:ea typeface="Avenir Next"/>
                <a:cs typeface="Avenir Next"/>
              </a:defRPr>
            </a:lvl2pPr>
            <a:lvl3pPr>
              <a:buNone/>
              <a:defRPr sz="2100" b="0">
                <a:solidFill>
                  <a:srgbClr val="5D6D76"/>
                </a:solidFill>
                <a:latin typeface="Avenir Next"/>
                <a:ea typeface="Avenir Next"/>
                <a:cs typeface="Avenir Next"/>
              </a:defRPr>
            </a:lvl3pPr>
            <a:lvl4pPr>
              <a:buNone/>
              <a:defRPr sz="2100" b="0">
                <a:solidFill>
                  <a:srgbClr val="5D6D76"/>
                </a:solidFill>
                <a:latin typeface="Avenir Next"/>
                <a:ea typeface="Avenir Next"/>
                <a:cs typeface="Avenir Next"/>
              </a:defRPr>
            </a:lvl4pPr>
            <a:lvl5pPr>
              <a:buNone/>
              <a:defRPr sz="2100" b="0">
                <a:solidFill>
                  <a:srgbClr val="5D6D76"/>
                </a:solidFill>
                <a:latin typeface="Avenir Next"/>
                <a:ea typeface="Avenir Next"/>
                <a:cs typeface="Avenir Next"/>
              </a:defRPr>
            </a:lvl5pPr>
            <a:lvl6pPr>
              <a:buNone/>
              <a:defRPr sz="2100" b="0">
                <a:solidFill>
                  <a:srgbClr val="5D6D76"/>
                </a:solidFill>
                <a:latin typeface="Avenir Next"/>
                <a:ea typeface="Avenir Next"/>
                <a:cs typeface="Avenir Next"/>
              </a:defRPr>
            </a:lvl6pPr>
            <a:lvl7pPr>
              <a:buNone/>
              <a:defRPr sz="2100" b="0">
                <a:solidFill>
                  <a:srgbClr val="5D6D76"/>
                </a:solidFill>
                <a:latin typeface="Avenir Next"/>
                <a:ea typeface="Avenir Next"/>
                <a:cs typeface="Avenir Next"/>
              </a:defRPr>
            </a:lvl7pPr>
            <a:lvl8pPr>
              <a:buNone/>
              <a:defRPr sz="2100" b="0">
                <a:solidFill>
                  <a:srgbClr val="5D6D76"/>
                </a:solidFill>
                <a:latin typeface="Avenir Next"/>
                <a:ea typeface="Avenir Next"/>
                <a:cs typeface="Avenir Next"/>
              </a:defRPr>
            </a:lvl8pPr>
            <a:lvl9pPr>
              <a:buNone/>
              <a:defRPr sz="2100" b="0">
                <a:solidFill>
                  <a:srgbClr val="5D6D76"/>
                </a:solidFill>
                <a:latin typeface="Avenir Next"/>
                <a:ea typeface="Avenir Next"/>
                <a:cs typeface="Avenir Next"/>
              </a:defRPr>
            </a:lvl9pPr>
          </a:lstStyle>
          <a:p xmlns:a="http://schemas.openxmlformats.org/drawingml/2006/main">
            <a:pPr>
              <a:buNone/>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The curve shows their</a:t>
            </a:r>
          </a:p>
          <a:p xmlns:a="http://schemas.openxmlformats.org/drawingml/2006/main">
            <a:pPr>
              <a:buNone/>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tradeoff across thresholds.</a:t>
            </a:r>
          </a:p>
        </p:txBody>
      </p:sp>
      <p:sp>
        <p:nvSpPr>
          <p:cNvPr id="9" name="">
            <a:extLst xmlns:a="http://schemas.openxmlformats.org/drawingml/2006/main">
              <a:ext uri="{FF2B5EF4-FFF2-40B4-BE49-F238E27FC236}">
                <a16:creationId xmlns:a16="http://schemas.microsoft.com/office/drawing/2014/main" id="{2C10441A-9E7E-467E-8E71-CF2F414E691C}"/>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Disease frequency matters when interpreting precision and comparing datasets.</a:t>
            </a:r>
          </a:p>
        </p:txBody>
      </p:sp>
    </p:spTree>
    <p:extLst>
      <p:ext uri="{BB962C8B-B14F-4D97-AF65-F5344CB8AC3E}">
        <p14:creationId xmlns:p14="http://schemas.microsoft.com/office/powerpoint/2010/main" val="23575516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EEF4682-3FBF-4703-8299-7F12FCE6A6B7}"/>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23</a:t>
            </a:r>
          </a:p>
        </p:txBody>
      </p:sp>
      <p:sp>
        <p:nvSpPr>
          <p:cNvPr id="2" name="">
            <a:extLst xmlns:a="http://schemas.openxmlformats.org/drawingml/2006/main">
              <a:ext uri="{FF2B5EF4-FFF2-40B4-BE49-F238E27FC236}">
                <a16:creationId xmlns:a16="http://schemas.microsoft.com/office/drawing/2014/main" id="{8B3476F2-51DC-4990-8762-1124A82DFE07}"/>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Appendix: probability thresholds</a:t>
            </a:r>
          </a:p>
        </p:txBody>
      </p:sp>
      <p:sp>
        <p:nvSpPr>
          <p:cNvPr id="3" name="">
            <a:extLst xmlns:a="http://schemas.openxmlformats.org/drawingml/2006/main">
              <a:ext uri="{FF2B5EF4-FFF2-40B4-BE49-F238E27FC236}">
                <a16:creationId xmlns:a16="http://schemas.microsoft.com/office/drawing/2014/main" id="{502AE6DF-0A9F-45B6-A22B-D72509CBD08A}"/>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36858DBA-CD37-4D71-95F0-FD19F344CE77}"/>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pic>
        <p:nvPicPr>
          <p:cNvPr id="5" name="">
            <a:extLst xmlns:a="http://schemas.openxmlformats.org/drawingml/2006/main">
              <a:ext uri="{FF2B5EF4-FFF2-40B4-BE49-F238E27FC236}">
                <a16:creationId xmlns:a16="http://schemas.microsoft.com/office/drawing/2014/main" id="{2BEEE57A-C1DB-4E47-9794-B342C6B35A0D}"/>
              </a:ext>
            </a:extLst>
          </p:cNvPr>
          <p:cNvPicPr>
            <a:picLocks xmlns:a="http://schemas.openxmlformats.org/drawingml/2006/main" noChangeAspect="1"/>
          </p:cNvPicPr>
          <p:nvPr/>
        </p:nvPicPr>
        <p:blipFill>
          <a:blip xmlns:r="http://schemas.openxmlformats.org/officeDocument/2006/relationships" xmlns:a="http://schemas.openxmlformats.org/drawingml/2006/main" r:embed="Rf91530eaf4b14dfe"/>
          <a:stretch xmlns:a="http://schemas.openxmlformats.org/drawingml/2006/main"/>
        </p:blipFill>
        <p:spPr>
          <a:xfrm xmlns:a="http://schemas.openxmlformats.org/drawingml/2006/main">
            <a:off x="1304925" y="1190625"/>
            <a:ext cx="5867400" cy="4191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BFA80B7-98FA-40F4-96CD-B2ABA82C564A}"/>
              </a:ext>
            </a:extLst>
          </p:cNvPr>
          <p:cNvSpPr>
            <a:spLocks xmlns:a="http://schemas.openxmlformats.org/drawingml/2006/main" noGrp="1"/>
          </p:cNvSpPr>
          <p:nvPr/>
        </p:nvSpPr>
        <p:spPr>
          <a:xfrm xmlns:a="http://schemas.openxmlformats.org/drawingml/2006/main">
            <a:off x="8143875" y="1428750"/>
            <a:ext cx="3476625"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D6D76"/>
                </a:solidFill>
                <a:latin typeface="Avenir Next"/>
                <a:ea typeface="Avenir Next"/>
                <a:cs typeface="Avenir Next"/>
              </a:defRPr>
            </a:defPPr>
            <a:lvl1pPr>
              <a:buNone/>
              <a:defRPr sz="2025" b="0">
                <a:solidFill>
                  <a:srgbClr val="5D6D76"/>
                </a:solidFill>
                <a:latin typeface="Avenir Next"/>
                <a:ea typeface="Avenir Next"/>
                <a:cs typeface="Avenir Next"/>
              </a:defRPr>
            </a:lvl1pPr>
            <a:lvl2pPr>
              <a:buNone/>
              <a:defRPr sz="2025" b="0">
                <a:solidFill>
                  <a:srgbClr val="5D6D76"/>
                </a:solidFill>
                <a:latin typeface="Avenir Next"/>
                <a:ea typeface="Avenir Next"/>
                <a:cs typeface="Avenir Next"/>
              </a:defRPr>
            </a:lvl2pPr>
            <a:lvl3pPr>
              <a:buNone/>
              <a:defRPr sz="2025" b="0">
                <a:solidFill>
                  <a:srgbClr val="5D6D76"/>
                </a:solidFill>
                <a:latin typeface="Avenir Next"/>
                <a:ea typeface="Avenir Next"/>
                <a:cs typeface="Avenir Next"/>
              </a:defRPr>
            </a:lvl3pPr>
            <a:lvl4pPr>
              <a:buNone/>
              <a:defRPr sz="2025" b="0">
                <a:solidFill>
                  <a:srgbClr val="5D6D76"/>
                </a:solidFill>
                <a:latin typeface="Avenir Next"/>
                <a:ea typeface="Avenir Next"/>
                <a:cs typeface="Avenir Next"/>
              </a:defRPr>
            </a:lvl4pPr>
            <a:lvl5pPr>
              <a:buNone/>
              <a:defRPr sz="2025" b="0">
                <a:solidFill>
                  <a:srgbClr val="5D6D76"/>
                </a:solidFill>
                <a:latin typeface="Avenir Next"/>
                <a:ea typeface="Avenir Next"/>
                <a:cs typeface="Avenir Next"/>
              </a:defRPr>
            </a:lvl5pPr>
            <a:lvl6pPr>
              <a:buNone/>
              <a:defRPr sz="2025" b="0">
                <a:solidFill>
                  <a:srgbClr val="5D6D76"/>
                </a:solidFill>
                <a:latin typeface="Avenir Next"/>
                <a:ea typeface="Avenir Next"/>
                <a:cs typeface="Avenir Next"/>
              </a:defRPr>
            </a:lvl6pPr>
            <a:lvl7pPr>
              <a:buNone/>
              <a:defRPr sz="2025" b="0">
                <a:solidFill>
                  <a:srgbClr val="5D6D76"/>
                </a:solidFill>
                <a:latin typeface="Avenir Next"/>
                <a:ea typeface="Avenir Next"/>
                <a:cs typeface="Avenir Next"/>
              </a:defRPr>
            </a:lvl7pPr>
            <a:lvl8pPr>
              <a:buNone/>
              <a:defRPr sz="2025" b="0">
                <a:solidFill>
                  <a:srgbClr val="5D6D76"/>
                </a:solidFill>
                <a:latin typeface="Avenir Next"/>
                <a:ea typeface="Avenir Next"/>
                <a:cs typeface="Avenir Next"/>
              </a:defRPr>
            </a:lvl8pPr>
            <a:lvl9pPr>
              <a:buNone/>
              <a:defRPr sz="2025" b="0">
                <a:solidFill>
                  <a:srgbClr val="5D6D76"/>
                </a:solidFill>
                <a:latin typeface="Avenir Next"/>
                <a:ea typeface="Avenir Next"/>
                <a:cs typeface="Avenir Next"/>
              </a:defRPr>
            </a:lvl9pPr>
          </a:lstStyle>
          <a:p xmlns:a="http://schemas.openxmlformats.org/drawingml/2006/main">
            <a:pPr>
              <a:buNone/>
              <a:defRPr sz="2025" b="0">
                <a:solidFill>
                  <a:srgbClr val="5D6D76"/>
                </a:solidFill>
                <a:latin typeface="Avenir Next"/>
                <a:ea typeface="Avenir Next"/>
                <a:cs typeface="Avenir Next"/>
              </a:defRPr>
            </a:pPr>
            <a:r>
              <a:rPr sz="2025" b="0">
                <a:solidFill>
                  <a:srgbClr val="5D6D76"/>
                </a:solidFill>
                <a:latin typeface="Avenir Next"/>
                <a:ea typeface="Avenir Next"/>
                <a:cs typeface="Avenir Next"/>
              </a:rPr>
              <a:t>Lower threshold usually</a:t>
            </a:r>
          </a:p>
          <a:p xmlns:a="http://schemas.openxmlformats.org/drawingml/2006/main">
            <a:pPr>
              <a:buNone/>
              <a:defRPr sz="2025" b="0">
                <a:solidFill>
                  <a:srgbClr val="5D6D76"/>
                </a:solidFill>
                <a:latin typeface="Avenir Next"/>
                <a:ea typeface="Avenir Next"/>
                <a:cs typeface="Avenir Next"/>
              </a:defRPr>
            </a:pPr>
            <a:r>
              <a:rPr sz="2025" b="0">
                <a:solidFill>
                  <a:srgbClr val="5D6D76"/>
                </a:solidFill>
                <a:latin typeface="Avenir Next"/>
                <a:ea typeface="Avenir Next"/>
                <a:cs typeface="Avenir Next"/>
              </a:rPr>
              <a:t>raises sensitivity and</a:t>
            </a:r>
          </a:p>
          <a:p xmlns:a="http://schemas.openxmlformats.org/drawingml/2006/main">
            <a:pPr>
              <a:buNone/>
              <a:defRPr sz="2025" b="0">
                <a:solidFill>
                  <a:srgbClr val="5D6D76"/>
                </a:solidFill>
                <a:latin typeface="Avenir Next"/>
                <a:ea typeface="Avenir Next"/>
                <a:cs typeface="Avenir Next"/>
              </a:defRPr>
            </a:pPr>
            <a:r>
              <a:rPr sz="2025" b="0">
                <a:solidFill>
                  <a:srgbClr val="5D6D76"/>
                </a:solidFill>
                <a:latin typeface="Avenir Next"/>
                <a:ea typeface="Avenir Next"/>
                <a:cs typeface="Avenir Next"/>
              </a:rPr>
              <a:t>reduces specificity.</a:t>
            </a:r>
          </a:p>
        </p:txBody>
      </p:sp>
      <p:sp>
        <p:nvSpPr>
          <p:cNvPr id="7" name="">
            <a:extLst xmlns:a="http://schemas.openxmlformats.org/drawingml/2006/main">
              <a:ext uri="{FF2B5EF4-FFF2-40B4-BE49-F238E27FC236}">
                <a16:creationId xmlns:a16="http://schemas.microsoft.com/office/drawing/2014/main" id="{84B83213-6CC4-419C-8C4B-C92D556103F3}"/>
              </a:ext>
            </a:extLst>
          </p:cNvPr>
          <p:cNvSpPr>
            <a:spLocks xmlns:a="http://schemas.openxmlformats.org/drawingml/2006/main" noGrp="1"/>
          </p:cNvSpPr>
          <p:nvPr/>
        </p:nvSpPr>
        <p:spPr>
          <a:xfrm xmlns:a="http://schemas.openxmlformats.org/drawingml/2006/main">
            <a:off x="8143875" y="3143250"/>
            <a:ext cx="3476625"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D6D76"/>
                </a:solidFill>
                <a:latin typeface="Avenir Next"/>
                <a:ea typeface="Avenir Next"/>
                <a:cs typeface="Avenir Next"/>
              </a:defRPr>
            </a:defPPr>
            <a:lvl1pPr>
              <a:buNone/>
              <a:defRPr sz="2025" b="0">
                <a:solidFill>
                  <a:srgbClr val="5D6D76"/>
                </a:solidFill>
                <a:latin typeface="Avenir Next"/>
                <a:ea typeface="Avenir Next"/>
                <a:cs typeface="Avenir Next"/>
              </a:defRPr>
            </a:lvl1pPr>
            <a:lvl2pPr>
              <a:buNone/>
              <a:defRPr sz="2025" b="0">
                <a:solidFill>
                  <a:srgbClr val="5D6D76"/>
                </a:solidFill>
                <a:latin typeface="Avenir Next"/>
                <a:ea typeface="Avenir Next"/>
                <a:cs typeface="Avenir Next"/>
              </a:defRPr>
            </a:lvl2pPr>
            <a:lvl3pPr>
              <a:buNone/>
              <a:defRPr sz="2025" b="0">
                <a:solidFill>
                  <a:srgbClr val="5D6D76"/>
                </a:solidFill>
                <a:latin typeface="Avenir Next"/>
                <a:ea typeface="Avenir Next"/>
                <a:cs typeface="Avenir Next"/>
              </a:defRPr>
            </a:lvl3pPr>
            <a:lvl4pPr>
              <a:buNone/>
              <a:defRPr sz="2025" b="0">
                <a:solidFill>
                  <a:srgbClr val="5D6D76"/>
                </a:solidFill>
                <a:latin typeface="Avenir Next"/>
                <a:ea typeface="Avenir Next"/>
                <a:cs typeface="Avenir Next"/>
              </a:defRPr>
            </a:lvl4pPr>
            <a:lvl5pPr>
              <a:buNone/>
              <a:defRPr sz="2025" b="0">
                <a:solidFill>
                  <a:srgbClr val="5D6D76"/>
                </a:solidFill>
                <a:latin typeface="Avenir Next"/>
                <a:ea typeface="Avenir Next"/>
                <a:cs typeface="Avenir Next"/>
              </a:defRPr>
            </a:lvl5pPr>
            <a:lvl6pPr>
              <a:buNone/>
              <a:defRPr sz="2025" b="0">
                <a:solidFill>
                  <a:srgbClr val="5D6D76"/>
                </a:solidFill>
                <a:latin typeface="Avenir Next"/>
                <a:ea typeface="Avenir Next"/>
                <a:cs typeface="Avenir Next"/>
              </a:defRPr>
            </a:lvl6pPr>
            <a:lvl7pPr>
              <a:buNone/>
              <a:defRPr sz="2025" b="0">
                <a:solidFill>
                  <a:srgbClr val="5D6D76"/>
                </a:solidFill>
                <a:latin typeface="Avenir Next"/>
                <a:ea typeface="Avenir Next"/>
                <a:cs typeface="Avenir Next"/>
              </a:defRPr>
            </a:lvl7pPr>
            <a:lvl8pPr>
              <a:buNone/>
              <a:defRPr sz="2025" b="0">
                <a:solidFill>
                  <a:srgbClr val="5D6D76"/>
                </a:solidFill>
                <a:latin typeface="Avenir Next"/>
                <a:ea typeface="Avenir Next"/>
                <a:cs typeface="Avenir Next"/>
              </a:defRPr>
            </a:lvl8pPr>
            <a:lvl9pPr>
              <a:buNone/>
              <a:defRPr sz="2025" b="0">
                <a:solidFill>
                  <a:srgbClr val="5D6D76"/>
                </a:solidFill>
                <a:latin typeface="Avenir Next"/>
                <a:ea typeface="Avenir Next"/>
                <a:cs typeface="Avenir Next"/>
              </a:defRPr>
            </a:lvl9pPr>
          </a:lstStyle>
          <a:p xmlns:a="http://schemas.openxmlformats.org/drawingml/2006/main">
            <a:pPr>
              <a:buNone/>
              <a:defRPr sz="2025" b="0">
                <a:solidFill>
                  <a:srgbClr val="5D6D76"/>
                </a:solidFill>
                <a:latin typeface="Avenir Next"/>
                <a:ea typeface="Avenir Next"/>
                <a:cs typeface="Avenir Next"/>
              </a:defRPr>
            </a:pPr>
            <a:r>
              <a:rPr sz="2025" b="0">
                <a:solidFill>
                  <a:srgbClr val="5D6D76"/>
                </a:solidFill>
                <a:latin typeface="Avenir Next"/>
                <a:ea typeface="Avenir Next"/>
                <a:cs typeface="Avenir Next"/>
              </a:rPr>
              <a:t>Higher threshold usually</a:t>
            </a:r>
          </a:p>
          <a:p xmlns:a="http://schemas.openxmlformats.org/drawingml/2006/main">
            <a:pPr>
              <a:buNone/>
              <a:defRPr sz="2025" b="0">
                <a:solidFill>
                  <a:srgbClr val="5D6D76"/>
                </a:solidFill>
                <a:latin typeface="Avenir Next"/>
                <a:ea typeface="Avenir Next"/>
                <a:cs typeface="Avenir Next"/>
              </a:defRPr>
            </a:pPr>
            <a:r>
              <a:rPr sz="2025" b="0">
                <a:solidFill>
                  <a:srgbClr val="5D6D76"/>
                </a:solidFill>
                <a:latin typeface="Avenir Next"/>
                <a:ea typeface="Avenir Next"/>
                <a:cs typeface="Avenir Next"/>
              </a:rPr>
              <a:t>reduces sensitivity and</a:t>
            </a:r>
          </a:p>
          <a:p xmlns:a="http://schemas.openxmlformats.org/drawingml/2006/main">
            <a:pPr>
              <a:buNone/>
              <a:defRPr sz="2025" b="0">
                <a:solidFill>
                  <a:srgbClr val="5D6D76"/>
                </a:solidFill>
                <a:latin typeface="Avenir Next"/>
                <a:ea typeface="Avenir Next"/>
                <a:cs typeface="Avenir Next"/>
              </a:defRPr>
            </a:pPr>
            <a:r>
              <a:rPr sz="2025" b="0">
                <a:solidFill>
                  <a:srgbClr val="5D6D76"/>
                </a:solidFill>
                <a:latin typeface="Avenir Next"/>
                <a:ea typeface="Avenir Next"/>
                <a:cs typeface="Avenir Next"/>
              </a:rPr>
              <a:t>raises specificity.</a:t>
            </a:r>
          </a:p>
        </p:txBody>
      </p:sp>
      <p:sp>
        <p:nvSpPr>
          <p:cNvPr id="8" name="">
            <a:extLst xmlns:a="http://schemas.openxmlformats.org/drawingml/2006/main">
              <a:ext uri="{FF2B5EF4-FFF2-40B4-BE49-F238E27FC236}">
                <a16:creationId xmlns:a16="http://schemas.microsoft.com/office/drawing/2014/main" id="{CE00918F-915D-4AC7-A948-4928BE4005A4}"/>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Checkpoint: How would lowering the threshold affect missed disease and false alarms?</a:t>
            </a:r>
          </a:p>
        </p:txBody>
      </p:sp>
    </p:spTree>
    <p:extLst>
      <p:ext uri="{BB962C8B-B14F-4D97-AF65-F5344CB8AC3E}">
        <p14:creationId xmlns:p14="http://schemas.microsoft.com/office/powerpoint/2010/main" val="111697021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0B43329-B286-4D1C-817E-DABF0BCC7FDF}"/>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24</a:t>
            </a:r>
          </a:p>
        </p:txBody>
      </p:sp>
      <p:sp>
        <p:nvSpPr>
          <p:cNvPr id="2" name="">
            <a:extLst xmlns:a="http://schemas.openxmlformats.org/drawingml/2006/main">
              <a:ext uri="{FF2B5EF4-FFF2-40B4-BE49-F238E27FC236}">
                <a16:creationId xmlns:a16="http://schemas.microsoft.com/office/drawing/2014/main" id="{C25A9268-F9AE-4ABD-984B-8B4D6659FF8C}"/>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Appendix: resampling</a:t>
            </a:r>
          </a:p>
        </p:txBody>
      </p:sp>
      <p:sp>
        <p:nvSpPr>
          <p:cNvPr id="3" name="">
            <a:extLst xmlns:a="http://schemas.openxmlformats.org/drawingml/2006/main">
              <a:ext uri="{FF2B5EF4-FFF2-40B4-BE49-F238E27FC236}">
                <a16:creationId xmlns:a16="http://schemas.microsoft.com/office/drawing/2014/main" id="{7CEE26F6-6C00-4815-B520-9C4103CB0564}"/>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0CB3703E-A05F-4019-8088-9FC535ABFCAB}"/>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sp>
        <p:nvSpPr>
          <p:cNvPr id="5" name="">
            <a:extLst xmlns:a="http://schemas.openxmlformats.org/drawingml/2006/main">
              <a:ext uri="{FF2B5EF4-FFF2-40B4-BE49-F238E27FC236}">
                <a16:creationId xmlns:a16="http://schemas.microsoft.com/office/drawing/2014/main" id="{85184AC4-E7A0-4E6A-9063-0DC52651FD41}"/>
              </a:ext>
            </a:extLst>
          </p:cNvPr>
          <p:cNvSpPr>
            <a:spLocks xmlns:a="http://schemas.openxmlformats.org/drawingml/2006/main" noGrp="1"/>
          </p:cNvSpPr>
          <p:nvPr/>
        </p:nvSpPr>
        <p:spPr>
          <a:xfrm xmlns:a="http://schemas.openxmlformats.org/drawingml/2006/main">
            <a:off x="619125" y="1381125"/>
            <a:ext cx="1095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5D6D76"/>
                </a:solidFill>
                <a:latin typeface="Avenir Next"/>
                <a:ea typeface="Avenir Next"/>
                <a:cs typeface="Avenir Next"/>
              </a:defRPr>
            </a:defPPr>
            <a:lvl1pPr>
              <a:buNone/>
              <a:defRPr sz="2325" b="0">
                <a:solidFill>
                  <a:srgbClr val="5D6D76"/>
                </a:solidFill>
                <a:latin typeface="Avenir Next"/>
                <a:ea typeface="Avenir Next"/>
                <a:cs typeface="Avenir Next"/>
              </a:defRPr>
            </a:lvl1pPr>
            <a:lvl2pPr>
              <a:buNone/>
              <a:defRPr sz="2325" b="0">
                <a:solidFill>
                  <a:srgbClr val="5D6D76"/>
                </a:solidFill>
                <a:latin typeface="Avenir Next"/>
                <a:ea typeface="Avenir Next"/>
                <a:cs typeface="Avenir Next"/>
              </a:defRPr>
            </a:lvl2pPr>
            <a:lvl3pPr>
              <a:buNone/>
              <a:defRPr sz="2325" b="0">
                <a:solidFill>
                  <a:srgbClr val="5D6D76"/>
                </a:solidFill>
                <a:latin typeface="Avenir Next"/>
                <a:ea typeface="Avenir Next"/>
                <a:cs typeface="Avenir Next"/>
              </a:defRPr>
            </a:lvl3pPr>
            <a:lvl4pPr>
              <a:buNone/>
              <a:defRPr sz="2325" b="0">
                <a:solidFill>
                  <a:srgbClr val="5D6D76"/>
                </a:solidFill>
                <a:latin typeface="Avenir Next"/>
                <a:ea typeface="Avenir Next"/>
                <a:cs typeface="Avenir Next"/>
              </a:defRPr>
            </a:lvl4pPr>
            <a:lvl5pPr>
              <a:buNone/>
              <a:defRPr sz="2325" b="0">
                <a:solidFill>
                  <a:srgbClr val="5D6D76"/>
                </a:solidFill>
                <a:latin typeface="Avenir Next"/>
                <a:ea typeface="Avenir Next"/>
                <a:cs typeface="Avenir Next"/>
              </a:defRPr>
            </a:lvl5pPr>
            <a:lvl6pPr>
              <a:buNone/>
              <a:defRPr sz="2325" b="0">
                <a:solidFill>
                  <a:srgbClr val="5D6D76"/>
                </a:solidFill>
                <a:latin typeface="Avenir Next"/>
                <a:ea typeface="Avenir Next"/>
                <a:cs typeface="Avenir Next"/>
              </a:defRPr>
            </a:lvl6pPr>
            <a:lvl7pPr>
              <a:buNone/>
              <a:defRPr sz="2325" b="0">
                <a:solidFill>
                  <a:srgbClr val="5D6D76"/>
                </a:solidFill>
                <a:latin typeface="Avenir Next"/>
                <a:ea typeface="Avenir Next"/>
                <a:cs typeface="Avenir Next"/>
              </a:defRPr>
            </a:lvl7pPr>
            <a:lvl8pPr>
              <a:buNone/>
              <a:defRPr sz="2325" b="0">
                <a:solidFill>
                  <a:srgbClr val="5D6D76"/>
                </a:solidFill>
                <a:latin typeface="Avenir Next"/>
                <a:ea typeface="Avenir Next"/>
                <a:cs typeface="Avenir Next"/>
              </a:defRPr>
            </a:lvl8pPr>
            <a:lvl9pPr>
              <a:buNone/>
              <a:defRPr sz="2325" b="0">
                <a:solidFill>
                  <a:srgbClr val="5D6D76"/>
                </a:solidFill>
                <a:latin typeface="Avenir Next"/>
                <a:ea typeface="Avenir Next"/>
                <a:cs typeface="Avenir Next"/>
              </a:defRPr>
            </a:lvl9pPr>
          </a:lstStyle>
          <a:p xmlns:a="http://schemas.openxmlformats.org/drawingml/2006/main">
            <a:pPr>
              <a:buNone/>
              <a:defRPr sz="2325" b="0">
                <a:solidFill>
                  <a:srgbClr val="5D6D76"/>
                </a:solidFill>
                <a:latin typeface="Avenir Next"/>
                <a:ea typeface="Avenir Next"/>
                <a:cs typeface="Avenir Next"/>
              </a:defRPr>
            </a:pPr>
            <a:r>
              <a:rPr sz="2325" b="0">
                <a:solidFill>
                  <a:srgbClr val="5D6D76"/>
                </a:solidFill>
                <a:latin typeface="Avenir Next"/>
                <a:ea typeface="Avenir Next"/>
                <a:cs typeface="Avenir Next"/>
              </a:rPr>
              <a:t>Cross-validation rotates which fold stays out of fitting.</a:t>
            </a:r>
          </a:p>
        </p:txBody>
      </p:sp>
      <p:sp>
        <p:nvSpPr>
          <p:cNvPr id="6" name="">
            <a:extLst xmlns:a="http://schemas.openxmlformats.org/drawingml/2006/main">
              <a:ext uri="{FF2B5EF4-FFF2-40B4-BE49-F238E27FC236}">
                <a16:creationId xmlns:a16="http://schemas.microsoft.com/office/drawing/2014/main" id="{37B85E2C-B800-43CC-B6FB-62A0E45F4A7D}"/>
              </a:ext>
            </a:extLst>
          </p:cNvPr>
          <p:cNvSpPr>
            <a:spLocks xmlns:a="http://schemas.openxmlformats.org/drawingml/2006/main" noGrp="1"/>
          </p:cNvSpPr>
          <p:nvPr/>
        </p:nvSpPr>
        <p:spPr>
          <a:xfrm xmlns:a="http://schemas.openxmlformats.org/drawingml/2006/main">
            <a:off x="619125" y="2476500"/>
            <a:ext cx="1095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5D6D76"/>
                </a:solidFill>
                <a:latin typeface="Avenir Next"/>
                <a:ea typeface="Avenir Next"/>
                <a:cs typeface="Avenir Next"/>
              </a:defRPr>
            </a:defPPr>
            <a:lvl1pPr>
              <a:buNone/>
              <a:defRPr sz="2325" b="0">
                <a:solidFill>
                  <a:srgbClr val="5D6D76"/>
                </a:solidFill>
                <a:latin typeface="Avenir Next"/>
                <a:ea typeface="Avenir Next"/>
                <a:cs typeface="Avenir Next"/>
              </a:defRPr>
            </a:lvl1pPr>
            <a:lvl2pPr>
              <a:buNone/>
              <a:defRPr sz="2325" b="0">
                <a:solidFill>
                  <a:srgbClr val="5D6D76"/>
                </a:solidFill>
                <a:latin typeface="Avenir Next"/>
                <a:ea typeface="Avenir Next"/>
                <a:cs typeface="Avenir Next"/>
              </a:defRPr>
            </a:lvl2pPr>
            <a:lvl3pPr>
              <a:buNone/>
              <a:defRPr sz="2325" b="0">
                <a:solidFill>
                  <a:srgbClr val="5D6D76"/>
                </a:solidFill>
                <a:latin typeface="Avenir Next"/>
                <a:ea typeface="Avenir Next"/>
                <a:cs typeface="Avenir Next"/>
              </a:defRPr>
            </a:lvl3pPr>
            <a:lvl4pPr>
              <a:buNone/>
              <a:defRPr sz="2325" b="0">
                <a:solidFill>
                  <a:srgbClr val="5D6D76"/>
                </a:solidFill>
                <a:latin typeface="Avenir Next"/>
                <a:ea typeface="Avenir Next"/>
                <a:cs typeface="Avenir Next"/>
              </a:defRPr>
            </a:lvl4pPr>
            <a:lvl5pPr>
              <a:buNone/>
              <a:defRPr sz="2325" b="0">
                <a:solidFill>
                  <a:srgbClr val="5D6D76"/>
                </a:solidFill>
                <a:latin typeface="Avenir Next"/>
                <a:ea typeface="Avenir Next"/>
                <a:cs typeface="Avenir Next"/>
              </a:defRPr>
            </a:lvl5pPr>
            <a:lvl6pPr>
              <a:buNone/>
              <a:defRPr sz="2325" b="0">
                <a:solidFill>
                  <a:srgbClr val="5D6D76"/>
                </a:solidFill>
                <a:latin typeface="Avenir Next"/>
                <a:ea typeface="Avenir Next"/>
                <a:cs typeface="Avenir Next"/>
              </a:defRPr>
            </a:lvl6pPr>
            <a:lvl7pPr>
              <a:buNone/>
              <a:defRPr sz="2325" b="0">
                <a:solidFill>
                  <a:srgbClr val="5D6D76"/>
                </a:solidFill>
                <a:latin typeface="Avenir Next"/>
                <a:ea typeface="Avenir Next"/>
                <a:cs typeface="Avenir Next"/>
              </a:defRPr>
            </a:lvl7pPr>
            <a:lvl8pPr>
              <a:buNone/>
              <a:defRPr sz="2325" b="0">
                <a:solidFill>
                  <a:srgbClr val="5D6D76"/>
                </a:solidFill>
                <a:latin typeface="Avenir Next"/>
                <a:ea typeface="Avenir Next"/>
                <a:cs typeface="Avenir Next"/>
              </a:defRPr>
            </a:lvl8pPr>
            <a:lvl9pPr>
              <a:buNone/>
              <a:defRPr sz="2325" b="0">
                <a:solidFill>
                  <a:srgbClr val="5D6D76"/>
                </a:solidFill>
                <a:latin typeface="Avenir Next"/>
                <a:ea typeface="Avenir Next"/>
                <a:cs typeface="Avenir Next"/>
              </a:defRPr>
            </a:lvl9pPr>
          </a:lstStyle>
          <a:p xmlns:a="http://schemas.openxmlformats.org/drawingml/2006/main">
            <a:pPr>
              <a:buNone/>
              <a:defRPr sz="2325" b="0">
                <a:solidFill>
                  <a:srgbClr val="5D6D76"/>
                </a:solidFill>
                <a:latin typeface="Avenir Next"/>
                <a:ea typeface="Avenir Next"/>
                <a:cs typeface="Avenir Next"/>
              </a:defRPr>
            </a:pPr>
            <a:r>
              <a:rPr sz="2325" b="0">
                <a:solidFill>
                  <a:srgbClr val="5D6D76"/>
                </a:solidFill>
                <a:latin typeface="Avenir Next"/>
                <a:ea typeface="Avenir Next"/>
                <a:cs typeface="Avenir Next"/>
              </a:rPr>
              <a:t>Repeated subsampling draws different training/test splits.</a:t>
            </a:r>
          </a:p>
        </p:txBody>
      </p:sp>
      <p:sp>
        <p:nvSpPr>
          <p:cNvPr id="7" name="">
            <a:extLst xmlns:a="http://schemas.openxmlformats.org/drawingml/2006/main">
              <a:ext uri="{FF2B5EF4-FFF2-40B4-BE49-F238E27FC236}">
                <a16:creationId xmlns:a16="http://schemas.microsoft.com/office/drawing/2014/main" id="{6A5D1544-2574-4F52-8886-7B50F772DC17}"/>
              </a:ext>
            </a:extLst>
          </p:cNvPr>
          <p:cNvSpPr>
            <a:spLocks xmlns:a="http://schemas.openxmlformats.org/drawingml/2006/main" noGrp="1"/>
          </p:cNvSpPr>
          <p:nvPr/>
        </p:nvSpPr>
        <p:spPr>
          <a:xfrm xmlns:a="http://schemas.openxmlformats.org/drawingml/2006/main">
            <a:off x="619125" y="3571875"/>
            <a:ext cx="1095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5D6D76"/>
                </a:solidFill>
                <a:latin typeface="Avenir Next"/>
                <a:ea typeface="Avenir Next"/>
                <a:cs typeface="Avenir Next"/>
              </a:defRPr>
            </a:defPPr>
            <a:lvl1pPr>
              <a:buNone/>
              <a:defRPr sz="2325" b="0">
                <a:solidFill>
                  <a:srgbClr val="5D6D76"/>
                </a:solidFill>
                <a:latin typeface="Avenir Next"/>
                <a:ea typeface="Avenir Next"/>
                <a:cs typeface="Avenir Next"/>
              </a:defRPr>
            </a:lvl1pPr>
            <a:lvl2pPr>
              <a:buNone/>
              <a:defRPr sz="2325" b="0">
                <a:solidFill>
                  <a:srgbClr val="5D6D76"/>
                </a:solidFill>
                <a:latin typeface="Avenir Next"/>
                <a:ea typeface="Avenir Next"/>
                <a:cs typeface="Avenir Next"/>
              </a:defRPr>
            </a:lvl2pPr>
            <a:lvl3pPr>
              <a:buNone/>
              <a:defRPr sz="2325" b="0">
                <a:solidFill>
                  <a:srgbClr val="5D6D76"/>
                </a:solidFill>
                <a:latin typeface="Avenir Next"/>
                <a:ea typeface="Avenir Next"/>
                <a:cs typeface="Avenir Next"/>
              </a:defRPr>
            </a:lvl3pPr>
            <a:lvl4pPr>
              <a:buNone/>
              <a:defRPr sz="2325" b="0">
                <a:solidFill>
                  <a:srgbClr val="5D6D76"/>
                </a:solidFill>
                <a:latin typeface="Avenir Next"/>
                <a:ea typeface="Avenir Next"/>
                <a:cs typeface="Avenir Next"/>
              </a:defRPr>
            </a:lvl4pPr>
            <a:lvl5pPr>
              <a:buNone/>
              <a:defRPr sz="2325" b="0">
                <a:solidFill>
                  <a:srgbClr val="5D6D76"/>
                </a:solidFill>
                <a:latin typeface="Avenir Next"/>
                <a:ea typeface="Avenir Next"/>
                <a:cs typeface="Avenir Next"/>
              </a:defRPr>
            </a:lvl5pPr>
            <a:lvl6pPr>
              <a:buNone/>
              <a:defRPr sz="2325" b="0">
                <a:solidFill>
                  <a:srgbClr val="5D6D76"/>
                </a:solidFill>
                <a:latin typeface="Avenir Next"/>
                <a:ea typeface="Avenir Next"/>
                <a:cs typeface="Avenir Next"/>
              </a:defRPr>
            </a:lvl6pPr>
            <a:lvl7pPr>
              <a:buNone/>
              <a:defRPr sz="2325" b="0">
                <a:solidFill>
                  <a:srgbClr val="5D6D76"/>
                </a:solidFill>
                <a:latin typeface="Avenir Next"/>
                <a:ea typeface="Avenir Next"/>
                <a:cs typeface="Avenir Next"/>
              </a:defRPr>
            </a:lvl7pPr>
            <a:lvl8pPr>
              <a:buNone/>
              <a:defRPr sz="2325" b="0">
                <a:solidFill>
                  <a:srgbClr val="5D6D76"/>
                </a:solidFill>
                <a:latin typeface="Avenir Next"/>
                <a:ea typeface="Avenir Next"/>
                <a:cs typeface="Avenir Next"/>
              </a:defRPr>
            </a:lvl8pPr>
            <a:lvl9pPr>
              <a:buNone/>
              <a:defRPr sz="2325" b="0">
                <a:solidFill>
                  <a:srgbClr val="5D6D76"/>
                </a:solidFill>
                <a:latin typeface="Avenir Next"/>
                <a:ea typeface="Avenir Next"/>
                <a:cs typeface="Avenir Next"/>
              </a:defRPr>
            </a:lvl9pPr>
          </a:lstStyle>
          <a:p xmlns:a="http://schemas.openxmlformats.org/drawingml/2006/main">
            <a:pPr>
              <a:buNone/>
              <a:defRPr sz="2325" b="0">
                <a:solidFill>
                  <a:srgbClr val="5D6D76"/>
                </a:solidFill>
                <a:latin typeface="Avenir Next"/>
                <a:ea typeface="Avenir Next"/>
                <a:cs typeface="Avenir Next"/>
              </a:defRPr>
            </a:pPr>
            <a:r>
              <a:rPr sz="2325" b="0">
                <a:solidFill>
                  <a:srgbClr val="5D6D76"/>
                </a:solidFill>
                <a:latin typeface="Avenir Next"/>
                <a:ea typeface="Avenir Next"/>
                <a:cs typeface="Avenir Next"/>
              </a:rPr>
              <a:t>Bootstrap samples training rows with replacement.</a:t>
            </a:r>
          </a:p>
        </p:txBody>
      </p:sp>
      <p:sp>
        <p:nvSpPr>
          <p:cNvPr id="8" name="">
            <a:extLst xmlns:a="http://schemas.openxmlformats.org/drawingml/2006/main">
              <a:ext uri="{FF2B5EF4-FFF2-40B4-BE49-F238E27FC236}">
                <a16:creationId xmlns:a16="http://schemas.microsoft.com/office/drawing/2014/main" id="{C3DB4EDC-FAFD-4BB0-ADF4-0969DDCC9795}"/>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Completed locally: 3-fold CV, 100 subsamples and 40 bootstrap repetitions.</a:t>
            </a:r>
          </a:p>
        </p:txBody>
      </p:sp>
    </p:spTree>
    <p:extLst>
      <p:ext uri="{BB962C8B-B14F-4D97-AF65-F5344CB8AC3E}">
        <p14:creationId xmlns:p14="http://schemas.microsoft.com/office/powerpoint/2010/main" val="6956782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2BD7FFD-5CE4-4035-B311-F9E39421FE2C}"/>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25</a:t>
            </a:r>
          </a:p>
        </p:txBody>
      </p:sp>
      <p:sp>
        <p:nvSpPr>
          <p:cNvPr id="2" name="">
            <a:extLst xmlns:a="http://schemas.openxmlformats.org/drawingml/2006/main">
              <a:ext uri="{FF2B5EF4-FFF2-40B4-BE49-F238E27FC236}">
                <a16:creationId xmlns:a16="http://schemas.microsoft.com/office/drawing/2014/main" id="{28EF9898-8104-4CB2-80AD-0204B09182A6}"/>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Appendix: tuning and nested cross-validation</a:t>
            </a:r>
          </a:p>
        </p:txBody>
      </p:sp>
      <p:sp>
        <p:nvSpPr>
          <p:cNvPr id="3" name="">
            <a:extLst xmlns:a="http://schemas.openxmlformats.org/drawingml/2006/main">
              <a:ext uri="{FF2B5EF4-FFF2-40B4-BE49-F238E27FC236}">
                <a16:creationId xmlns:a16="http://schemas.microsoft.com/office/drawing/2014/main" id="{581195C9-5462-4B55-9198-9879E8B6DBAB}"/>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0F00C041-5416-4175-B4F0-93FB3E6EBB90}"/>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sp>
        <p:nvSpPr>
          <p:cNvPr id="5" name="">
            <a:extLst xmlns:a="http://schemas.openxmlformats.org/drawingml/2006/main">
              <a:ext uri="{FF2B5EF4-FFF2-40B4-BE49-F238E27FC236}">
                <a16:creationId xmlns:a16="http://schemas.microsoft.com/office/drawing/2014/main" id="{4EE23166-D72E-4D84-894F-5F884C8121F8}"/>
              </a:ext>
            </a:extLst>
          </p:cNvPr>
          <p:cNvSpPr>
            <a:spLocks xmlns:a="http://schemas.openxmlformats.org/drawingml/2006/main" noGrp="1"/>
          </p:cNvSpPr>
          <p:nvPr/>
        </p:nvSpPr>
        <p:spPr>
          <a:xfrm xmlns:a="http://schemas.openxmlformats.org/drawingml/2006/main">
            <a:off x="619125" y="1381125"/>
            <a:ext cx="1095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5D6D76"/>
                </a:solidFill>
                <a:latin typeface="Avenir Next"/>
                <a:ea typeface="Avenir Next"/>
                <a:cs typeface="Avenir Next"/>
              </a:defRPr>
            </a:defPPr>
            <a:lvl1pPr>
              <a:buNone/>
              <a:defRPr sz="2325" b="0">
                <a:solidFill>
                  <a:srgbClr val="5D6D76"/>
                </a:solidFill>
                <a:latin typeface="Avenir Next"/>
                <a:ea typeface="Avenir Next"/>
                <a:cs typeface="Avenir Next"/>
              </a:defRPr>
            </a:lvl1pPr>
            <a:lvl2pPr>
              <a:buNone/>
              <a:defRPr sz="2325" b="0">
                <a:solidFill>
                  <a:srgbClr val="5D6D76"/>
                </a:solidFill>
                <a:latin typeface="Avenir Next"/>
                <a:ea typeface="Avenir Next"/>
                <a:cs typeface="Avenir Next"/>
              </a:defRPr>
            </a:lvl2pPr>
            <a:lvl3pPr>
              <a:buNone/>
              <a:defRPr sz="2325" b="0">
                <a:solidFill>
                  <a:srgbClr val="5D6D76"/>
                </a:solidFill>
                <a:latin typeface="Avenir Next"/>
                <a:ea typeface="Avenir Next"/>
                <a:cs typeface="Avenir Next"/>
              </a:defRPr>
            </a:lvl3pPr>
            <a:lvl4pPr>
              <a:buNone/>
              <a:defRPr sz="2325" b="0">
                <a:solidFill>
                  <a:srgbClr val="5D6D76"/>
                </a:solidFill>
                <a:latin typeface="Avenir Next"/>
                <a:ea typeface="Avenir Next"/>
                <a:cs typeface="Avenir Next"/>
              </a:defRPr>
            </a:lvl4pPr>
            <a:lvl5pPr>
              <a:buNone/>
              <a:defRPr sz="2325" b="0">
                <a:solidFill>
                  <a:srgbClr val="5D6D76"/>
                </a:solidFill>
                <a:latin typeface="Avenir Next"/>
                <a:ea typeface="Avenir Next"/>
                <a:cs typeface="Avenir Next"/>
              </a:defRPr>
            </a:lvl5pPr>
            <a:lvl6pPr>
              <a:buNone/>
              <a:defRPr sz="2325" b="0">
                <a:solidFill>
                  <a:srgbClr val="5D6D76"/>
                </a:solidFill>
                <a:latin typeface="Avenir Next"/>
                <a:ea typeface="Avenir Next"/>
                <a:cs typeface="Avenir Next"/>
              </a:defRPr>
            </a:lvl6pPr>
            <a:lvl7pPr>
              <a:buNone/>
              <a:defRPr sz="2325" b="0">
                <a:solidFill>
                  <a:srgbClr val="5D6D76"/>
                </a:solidFill>
                <a:latin typeface="Avenir Next"/>
                <a:ea typeface="Avenir Next"/>
                <a:cs typeface="Avenir Next"/>
              </a:defRPr>
            </a:lvl7pPr>
            <a:lvl8pPr>
              <a:buNone/>
              <a:defRPr sz="2325" b="0">
                <a:solidFill>
                  <a:srgbClr val="5D6D76"/>
                </a:solidFill>
                <a:latin typeface="Avenir Next"/>
                <a:ea typeface="Avenir Next"/>
                <a:cs typeface="Avenir Next"/>
              </a:defRPr>
            </a:lvl8pPr>
            <a:lvl9pPr>
              <a:buNone/>
              <a:defRPr sz="2325" b="0">
                <a:solidFill>
                  <a:srgbClr val="5D6D76"/>
                </a:solidFill>
                <a:latin typeface="Avenir Next"/>
                <a:ea typeface="Avenir Next"/>
                <a:cs typeface="Avenir Next"/>
              </a:defRPr>
            </a:lvl9pPr>
          </a:lstStyle>
          <a:p xmlns:a="http://schemas.openxmlformats.org/drawingml/2006/main">
            <a:pPr>
              <a:buNone/>
              <a:defRPr sz="2325" b="0">
                <a:solidFill>
                  <a:srgbClr val="5D6D76"/>
                </a:solidFill>
                <a:latin typeface="Avenir Next"/>
                <a:ea typeface="Avenir Next"/>
                <a:cs typeface="Avenir Next"/>
              </a:defRPr>
            </a:pPr>
            <a:r>
              <a:rPr sz="2325" b="0">
                <a:solidFill>
                  <a:srgbClr val="5D6D76"/>
                </a:solidFill>
                <a:latin typeface="Avenir Next"/>
                <a:ea typeface="Avenir Next"/>
                <a:cs typeface="Avenir Next"/>
              </a:rPr>
              <a:t>A hyperparameter controls how a model learns.</a:t>
            </a:r>
          </a:p>
        </p:txBody>
      </p:sp>
      <p:sp>
        <p:nvSpPr>
          <p:cNvPr id="6" name="">
            <a:extLst xmlns:a="http://schemas.openxmlformats.org/drawingml/2006/main">
              <a:ext uri="{FF2B5EF4-FFF2-40B4-BE49-F238E27FC236}">
                <a16:creationId xmlns:a16="http://schemas.microsoft.com/office/drawing/2014/main" id="{24CD70BC-DDCA-4E10-B3E8-E60594FF6539}"/>
              </a:ext>
            </a:extLst>
          </p:cNvPr>
          <p:cNvSpPr>
            <a:spLocks xmlns:a="http://schemas.openxmlformats.org/drawingml/2006/main" noGrp="1"/>
          </p:cNvSpPr>
          <p:nvPr/>
        </p:nvSpPr>
        <p:spPr>
          <a:xfrm xmlns:a="http://schemas.openxmlformats.org/drawingml/2006/main">
            <a:off x="619125" y="2381250"/>
            <a:ext cx="1095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5D6D76"/>
                </a:solidFill>
                <a:latin typeface="Avenir Next"/>
                <a:ea typeface="Avenir Next"/>
                <a:cs typeface="Avenir Next"/>
              </a:defRPr>
            </a:defPPr>
            <a:lvl1pPr>
              <a:buNone/>
              <a:defRPr sz="2325" b="0">
                <a:solidFill>
                  <a:srgbClr val="5D6D76"/>
                </a:solidFill>
                <a:latin typeface="Avenir Next"/>
                <a:ea typeface="Avenir Next"/>
                <a:cs typeface="Avenir Next"/>
              </a:defRPr>
            </a:lvl1pPr>
            <a:lvl2pPr>
              <a:buNone/>
              <a:defRPr sz="2325" b="0">
                <a:solidFill>
                  <a:srgbClr val="5D6D76"/>
                </a:solidFill>
                <a:latin typeface="Avenir Next"/>
                <a:ea typeface="Avenir Next"/>
                <a:cs typeface="Avenir Next"/>
              </a:defRPr>
            </a:lvl2pPr>
            <a:lvl3pPr>
              <a:buNone/>
              <a:defRPr sz="2325" b="0">
                <a:solidFill>
                  <a:srgbClr val="5D6D76"/>
                </a:solidFill>
                <a:latin typeface="Avenir Next"/>
                <a:ea typeface="Avenir Next"/>
                <a:cs typeface="Avenir Next"/>
              </a:defRPr>
            </a:lvl3pPr>
            <a:lvl4pPr>
              <a:buNone/>
              <a:defRPr sz="2325" b="0">
                <a:solidFill>
                  <a:srgbClr val="5D6D76"/>
                </a:solidFill>
                <a:latin typeface="Avenir Next"/>
                <a:ea typeface="Avenir Next"/>
                <a:cs typeface="Avenir Next"/>
              </a:defRPr>
            </a:lvl4pPr>
            <a:lvl5pPr>
              <a:buNone/>
              <a:defRPr sz="2325" b="0">
                <a:solidFill>
                  <a:srgbClr val="5D6D76"/>
                </a:solidFill>
                <a:latin typeface="Avenir Next"/>
                <a:ea typeface="Avenir Next"/>
                <a:cs typeface="Avenir Next"/>
              </a:defRPr>
            </a:lvl5pPr>
            <a:lvl6pPr>
              <a:buNone/>
              <a:defRPr sz="2325" b="0">
                <a:solidFill>
                  <a:srgbClr val="5D6D76"/>
                </a:solidFill>
                <a:latin typeface="Avenir Next"/>
                <a:ea typeface="Avenir Next"/>
                <a:cs typeface="Avenir Next"/>
              </a:defRPr>
            </a:lvl6pPr>
            <a:lvl7pPr>
              <a:buNone/>
              <a:defRPr sz="2325" b="0">
                <a:solidFill>
                  <a:srgbClr val="5D6D76"/>
                </a:solidFill>
                <a:latin typeface="Avenir Next"/>
                <a:ea typeface="Avenir Next"/>
                <a:cs typeface="Avenir Next"/>
              </a:defRPr>
            </a:lvl7pPr>
            <a:lvl8pPr>
              <a:buNone/>
              <a:defRPr sz="2325" b="0">
                <a:solidFill>
                  <a:srgbClr val="5D6D76"/>
                </a:solidFill>
                <a:latin typeface="Avenir Next"/>
                <a:ea typeface="Avenir Next"/>
                <a:cs typeface="Avenir Next"/>
              </a:defRPr>
            </a:lvl8pPr>
            <a:lvl9pPr>
              <a:buNone/>
              <a:defRPr sz="2325" b="0">
                <a:solidFill>
                  <a:srgbClr val="5D6D76"/>
                </a:solidFill>
                <a:latin typeface="Avenir Next"/>
                <a:ea typeface="Avenir Next"/>
                <a:cs typeface="Avenir Next"/>
              </a:defRPr>
            </a:lvl9pPr>
          </a:lstStyle>
          <a:p xmlns:a="http://schemas.openxmlformats.org/drawingml/2006/main">
            <a:pPr>
              <a:buNone/>
              <a:defRPr sz="2325" b="0">
                <a:solidFill>
                  <a:srgbClr val="5D6D76"/>
                </a:solidFill>
                <a:latin typeface="Avenir Next"/>
                <a:ea typeface="Avenir Next"/>
                <a:cs typeface="Avenir Next"/>
              </a:defRPr>
            </a:pPr>
            <a:r>
              <a:rPr sz="2325" b="0">
                <a:solidFill>
                  <a:srgbClr val="5D6D76"/>
                </a:solidFill>
                <a:latin typeface="Avenir Next"/>
                <a:ea typeface="Avenir Next"/>
                <a:cs typeface="Avenir Next"/>
              </a:rPr>
              <a:t>Inner resampling selects settings within training data.</a:t>
            </a:r>
          </a:p>
        </p:txBody>
      </p:sp>
      <p:sp>
        <p:nvSpPr>
          <p:cNvPr id="7" name="">
            <a:extLst xmlns:a="http://schemas.openxmlformats.org/drawingml/2006/main">
              <a:ext uri="{FF2B5EF4-FFF2-40B4-BE49-F238E27FC236}">
                <a16:creationId xmlns:a16="http://schemas.microsoft.com/office/drawing/2014/main" id="{0EF3609D-51DF-43F2-8A5F-66D8A48952D1}"/>
              </a:ext>
            </a:extLst>
          </p:cNvPr>
          <p:cNvSpPr>
            <a:spLocks xmlns:a="http://schemas.openxmlformats.org/drawingml/2006/main" noGrp="1"/>
          </p:cNvSpPr>
          <p:nvPr/>
        </p:nvSpPr>
        <p:spPr>
          <a:xfrm xmlns:a="http://schemas.openxmlformats.org/drawingml/2006/main">
            <a:off x="619125" y="3381375"/>
            <a:ext cx="1095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5D6D76"/>
                </a:solidFill>
                <a:latin typeface="Avenir Next"/>
                <a:ea typeface="Avenir Next"/>
                <a:cs typeface="Avenir Next"/>
              </a:defRPr>
            </a:defPPr>
            <a:lvl1pPr>
              <a:buNone/>
              <a:defRPr sz="2325" b="0">
                <a:solidFill>
                  <a:srgbClr val="5D6D76"/>
                </a:solidFill>
                <a:latin typeface="Avenir Next"/>
                <a:ea typeface="Avenir Next"/>
                <a:cs typeface="Avenir Next"/>
              </a:defRPr>
            </a:lvl1pPr>
            <a:lvl2pPr>
              <a:buNone/>
              <a:defRPr sz="2325" b="0">
                <a:solidFill>
                  <a:srgbClr val="5D6D76"/>
                </a:solidFill>
                <a:latin typeface="Avenir Next"/>
                <a:ea typeface="Avenir Next"/>
                <a:cs typeface="Avenir Next"/>
              </a:defRPr>
            </a:lvl2pPr>
            <a:lvl3pPr>
              <a:buNone/>
              <a:defRPr sz="2325" b="0">
                <a:solidFill>
                  <a:srgbClr val="5D6D76"/>
                </a:solidFill>
                <a:latin typeface="Avenir Next"/>
                <a:ea typeface="Avenir Next"/>
                <a:cs typeface="Avenir Next"/>
              </a:defRPr>
            </a:lvl3pPr>
            <a:lvl4pPr>
              <a:buNone/>
              <a:defRPr sz="2325" b="0">
                <a:solidFill>
                  <a:srgbClr val="5D6D76"/>
                </a:solidFill>
                <a:latin typeface="Avenir Next"/>
                <a:ea typeface="Avenir Next"/>
                <a:cs typeface="Avenir Next"/>
              </a:defRPr>
            </a:lvl4pPr>
            <a:lvl5pPr>
              <a:buNone/>
              <a:defRPr sz="2325" b="0">
                <a:solidFill>
                  <a:srgbClr val="5D6D76"/>
                </a:solidFill>
                <a:latin typeface="Avenir Next"/>
                <a:ea typeface="Avenir Next"/>
                <a:cs typeface="Avenir Next"/>
              </a:defRPr>
            </a:lvl5pPr>
            <a:lvl6pPr>
              <a:buNone/>
              <a:defRPr sz="2325" b="0">
                <a:solidFill>
                  <a:srgbClr val="5D6D76"/>
                </a:solidFill>
                <a:latin typeface="Avenir Next"/>
                <a:ea typeface="Avenir Next"/>
                <a:cs typeface="Avenir Next"/>
              </a:defRPr>
            </a:lvl6pPr>
            <a:lvl7pPr>
              <a:buNone/>
              <a:defRPr sz="2325" b="0">
                <a:solidFill>
                  <a:srgbClr val="5D6D76"/>
                </a:solidFill>
                <a:latin typeface="Avenir Next"/>
                <a:ea typeface="Avenir Next"/>
                <a:cs typeface="Avenir Next"/>
              </a:defRPr>
            </a:lvl7pPr>
            <a:lvl8pPr>
              <a:buNone/>
              <a:defRPr sz="2325" b="0">
                <a:solidFill>
                  <a:srgbClr val="5D6D76"/>
                </a:solidFill>
                <a:latin typeface="Avenir Next"/>
                <a:ea typeface="Avenir Next"/>
                <a:cs typeface="Avenir Next"/>
              </a:defRPr>
            </a:lvl8pPr>
            <a:lvl9pPr>
              <a:buNone/>
              <a:defRPr sz="2325" b="0">
                <a:solidFill>
                  <a:srgbClr val="5D6D76"/>
                </a:solidFill>
                <a:latin typeface="Avenir Next"/>
                <a:ea typeface="Avenir Next"/>
                <a:cs typeface="Avenir Next"/>
              </a:defRPr>
            </a:lvl9pPr>
          </a:lstStyle>
          <a:p xmlns:a="http://schemas.openxmlformats.org/drawingml/2006/main">
            <a:pPr>
              <a:buNone/>
              <a:defRPr sz="2325" b="0">
                <a:solidFill>
                  <a:srgbClr val="5D6D76"/>
                </a:solidFill>
                <a:latin typeface="Avenir Next"/>
                <a:ea typeface="Avenir Next"/>
                <a:cs typeface="Avenir Next"/>
              </a:defRPr>
            </a:pPr>
            <a:r>
              <a:rPr sz="2325" b="0">
                <a:solidFill>
                  <a:srgbClr val="5D6D76"/>
                </a:solidFill>
                <a:latin typeface="Avenir Next"/>
                <a:ea typeface="Avenir Next"/>
                <a:cs typeface="Avenir Next"/>
              </a:rPr>
              <a:t>Outer folds assess the whole selection procedure.</a:t>
            </a:r>
          </a:p>
        </p:txBody>
      </p:sp>
      <p:sp>
        <p:nvSpPr>
          <p:cNvPr id="8" name="">
            <a:extLst xmlns:a="http://schemas.openxmlformats.org/drawingml/2006/main">
              <a:ext uri="{FF2B5EF4-FFF2-40B4-BE49-F238E27FC236}">
                <a16:creationId xmlns:a16="http://schemas.microsoft.com/office/drawing/2014/main" id="{4DA7DF93-2593-40C6-84B9-4248A8EA1923}"/>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Full grid search and full-budget nested CV remain unexecuted. Only reduced smoke runs passed.</a:t>
            </a:r>
          </a:p>
        </p:txBody>
      </p:sp>
    </p:spTree>
    <p:extLst>
      <p:ext uri="{BB962C8B-B14F-4D97-AF65-F5344CB8AC3E}">
        <p14:creationId xmlns:p14="http://schemas.microsoft.com/office/powerpoint/2010/main" val="92681206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D29E16F-FDDE-45E2-A9C6-243E75A57C18}"/>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26</a:t>
            </a:r>
          </a:p>
        </p:txBody>
      </p:sp>
      <p:sp>
        <p:nvSpPr>
          <p:cNvPr id="2" name="">
            <a:extLst xmlns:a="http://schemas.openxmlformats.org/drawingml/2006/main">
              <a:ext uri="{FF2B5EF4-FFF2-40B4-BE49-F238E27FC236}">
                <a16:creationId xmlns:a16="http://schemas.microsoft.com/office/drawing/2014/main" id="{69B3A328-2F61-4992-A2F2-F860C4AA4F31}"/>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Appendix: interpretation</a:t>
            </a:r>
          </a:p>
        </p:txBody>
      </p:sp>
      <p:sp>
        <p:nvSpPr>
          <p:cNvPr id="3" name="">
            <a:extLst xmlns:a="http://schemas.openxmlformats.org/drawingml/2006/main">
              <a:ext uri="{FF2B5EF4-FFF2-40B4-BE49-F238E27FC236}">
                <a16:creationId xmlns:a16="http://schemas.microsoft.com/office/drawing/2014/main" id="{9E56BFAB-1597-45AC-8B35-BC4CFFEC6475}"/>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7AC3784F-297F-462F-BF14-7AABDE9538E1}"/>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graphicFrame>
        <p:nvGraphicFramePr>
          <p:cNvPr id="5" name="">
            <a:extLst xmlns:a="http://schemas.openxmlformats.org/drawingml/2006/main">
              <a:ext uri="{FF2B5EF4-FFF2-40B4-BE49-F238E27FC236}">
                <a16:creationId xmlns:a16="http://schemas.microsoft.com/office/drawing/2014/main" id="{9179FEE7-9050-433C-A6E2-BB9437DD5623}"/>
              </a:ext>
            </a:extLst>
          </p:cNvPr>
          <p:cNvGraphicFramePr/>
          <p:nvPr/>
        </p:nvGraphicFramePr>
        <p:xfrm>
          <a:off xmlns:a="http://schemas.openxmlformats.org/drawingml/2006/main" x="619125" y="1524000"/>
          <a:ext xmlns:a="http://schemas.openxmlformats.org/drawingml/2006/main" cx="10953750" cy="3238500"/>
        </p:xfrm>
        <a:graphic xmlns:a="http://schemas.openxmlformats.org/drawingml/2006/main">
          <a:graphicData uri="http://schemas.openxmlformats.org/drawingml/2006/table">
            <a:tbl>
              <a:tblPr/>
              <a:tblGrid>
                <a:gridCol w="5476875"/>
                <a:gridCol w="5476875"/>
              </a:tblGrid>
              <a:tr h="809625">
                <a:tc>
                  <a:txBody>
                    <a:bodyPr/>
                    <a:lstStyle/>
                    <a:p>
                      <a:r>
                        <a:rPr sz="1800" b="1">
                          <a:solidFill>
                            <a:srgbClr val="FFFFFF"/>
                          </a:solidFill>
                          <a:latin typeface="Avenir Next"/>
                          <a:ea typeface="Avenir Next"/>
                          <a:cs typeface="Avenir Next"/>
                        </a:rPr>
                        <a:t>Approach</a:t>
                      </a:r>
                    </a:p>
                  </a:txBody>
                  <a:tcPr marL="91440" marR="91440" marT="45720" marB="45720">
                    <a:solidFill>
                      <a:srgbClr val="09253A"/>
                    </a:solidFill>
                  </a:tcPr>
                </a:tc>
                <a:tc>
                  <a:txBody>
                    <a:bodyPr/>
                    <a:lstStyle/>
                    <a:p>
                      <a:r>
                        <a:rPr sz="1800" b="1">
                          <a:solidFill>
                            <a:srgbClr val="FFFFFF"/>
                          </a:solidFill>
                          <a:latin typeface="Avenir Next"/>
                          <a:ea typeface="Avenir Next"/>
                          <a:cs typeface="Avenir Next"/>
                        </a:rPr>
                        <a:t>Question</a:t>
                      </a:r>
                    </a:p>
                  </a:txBody>
                  <a:tcPr marL="91440" marR="91440" marT="45720" marB="45720">
                    <a:solidFill>
                      <a:srgbClr val="09253A"/>
                    </a:solidFill>
                  </a:tcPr>
                </a:tc>
              </a:tr>
              <a:tr h="809625">
                <a:tc>
                  <a:txBody>
                    <a:bodyPr/>
                    <a:lstStyle/>
                    <a:p>
                      <a:r>
                        <a:rPr sz="1800" b="0">
                          <a:solidFill>
                            <a:srgbClr val="09253A"/>
                          </a:solidFill>
                          <a:latin typeface="Avenir Next"/>
                          <a:ea typeface="Avenir Next"/>
                          <a:cs typeface="Avenir Next"/>
                        </a:rPr>
                        <a:t>Feature importance</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Which predictors contribute to this fitted model?</a:t>
                      </a:r>
                    </a:p>
                  </a:txBody>
                  <a:tcPr marL="91440" marR="91440" marT="45720" marB="45720">
                    <a:solidFill>
                      <a:srgbClr val="F7F2E8"/>
                    </a:solidFill>
                  </a:tcPr>
                </a:tc>
              </a:tr>
              <a:tr h="809625">
                <a:tc>
                  <a:txBody>
                    <a:bodyPr/>
                    <a:lstStyle/>
                    <a:p>
                      <a:r>
                        <a:rPr sz="1800" b="0">
                          <a:solidFill>
                            <a:srgbClr val="09253A"/>
                          </a:solidFill>
                          <a:latin typeface="Avenir Next"/>
                          <a:ea typeface="Avenir Next"/>
                          <a:cs typeface="Avenir Next"/>
                        </a:rPr>
                        <a:t>Feature effects</a:t>
                      </a:r>
                    </a:p>
                  </a:txBody>
                  <a:tcPr marL="91440" marR="91440" marT="45720" marB="45720">
                    <a:solidFill>
                      <a:srgbClr val="FFFFFF"/>
                    </a:solidFill>
                  </a:tcPr>
                </a:tc>
                <a:tc>
                  <a:txBody>
                    <a:bodyPr/>
                    <a:lstStyle/>
                    <a:p>
                      <a:r>
                        <a:rPr sz="1800" b="0">
                          <a:solidFill>
                            <a:srgbClr val="09253A"/>
                          </a:solidFill>
                          <a:latin typeface="Avenir Next"/>
                          <a:ea typeface="Avenir Next"/>
                          <a:cs typeface="Avenir Next"/>
                        </a:rPr>
                        <a:t>How do predictions vary with a predictor?</a:t>
                      </a:r>
                    </a:p>
                  </a:txBody>
                  <a:tcPr marL="91440" marR="91440" marT="45720" marB="45720">
                    <a:solidFill>
                      <a:srgbClr val="FFFFFF"/>
                    </a:solidFill>
                  </a:tcPr>
                </a:tc>
              </a:tr>
              <a:tr h="809625">
                <a:tc>
                  <a:txBody>
                    <a:bodyPr/>
                    <a:lstStyle/>
                    <a:p>
                      <a:r>
                        <a:rPr sz="1800" b="0">
                          <a:solidFill>
                            <a:srgbClr val="09253A"/>
                          </a:solidFill>
                          <a:latin typeface="Avenir Next"/>
                          <a:ea typeface="Avenir Next"/>
                          <a:cs typeface="Avenir Next"/>
                        </a:rPr>
                        <a:t>Local explanation</a:t>
                      </a:r>
                    </a:p>
                  </a:txBody>
                  <a:tcPr marL="91440" marR="91440" marT="45720" marB="45720">
                    <a:solidFill>
                      <a:srgbClr val="F7F2E8"/>
                    </a:solidFill>
                  </a:tcPr>
                </a:tc>
                <a:tc>
                  <a:txBody>
                    <a:bodyPr/>
                    <a:lstStyle/>
                    <a:p>
                      <a:r>
                        <a:rPr sz="1800" b="0">
                          <a:solidFill>
                            <a:srgbClr val="09253A"/>
                          </a:solidFill>
                          <a:latin typeface="Avenir Next"/>
                          <a:ea typeface="Avenir Next"/>
                          <a:cs typeface="Avenir Next"/>
                        </a:rPr>
                        <a:t>What helps explain this one prediction?</a:t>
                      </a:r>
                    </a:p>
                  </a:txBody>
                  <a:tcPr marL="91440" marR="91440" marT="45720" marB="45720">
                    <a:solidFill>
                      <a:srgbClr val="F7F2E8"/>
                    </a:solidFill>
                  </a:tcPr>
                </a:tc>
              </a:tr>
            </a:tbl>
          </a:graphicData>
        </a:graphic>
      </p:graphicFrame>
      <p:sp>
        <p:nvSpPr>
          <p:cNvPr id="6" name="">
            <a:extLst xmlns:a="http://schemas.openxmlformats.org/drawingml/2006/main">
              <a:ext uri="{FF2B5EF4-FFF2-40B4-BE49-F238E27FC236}">
                <a16:creationId xmlns:a16="http://schemas.microsoft.com/office/drawing/2014/main" id="{5D0C683C-B040-446A-86F5-EA8B394A3AE9}"/>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Conceptual extension. No computed feature ranking or local explanation is supplied.</a:t>
            </a:r>
          </a:p>
        </p:txBody>
      </p:sp>
    </p:spTree>
    <p:extLst>
      <p:ext uri="{BB962C8B-B14F-4D97-AF65-F5344CB8AC3E}">
        <p14:creationId xmlns:p14="http://schemas.microsoft.com/office/powerpoint/2010/main" val="26844192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C90147D-7107-44BE-A665-743B49EFB19D}"/>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27</a:t>
            </a:r>
          </a:p>
        </p:txBody>
      </p:sp>
      <p:sp>
        <p:nvSpPr>
          <p:cNvPr id="2" name="">
            <a:extLst xmlns:a="http://schemas.openxmlformats.org/drawingml/2006/main">
              <a:ext uri="{FF2B5EF4-FFF2-40B4-BE49-F238E27FC236}">
                <a16:creationId xmlns:a16="http://schemas.microsoft.com/office/drawing/2014/main" id="{0A8E5FBC-4D25-4EB5-AA04-5DFCB5F955AD}"/>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Appendix: synthetic observations</a:t>
            </a:r>
          </a:p>
        </p:txBody>
      </p:sp>
      <p:sp>
        <p:nvSpPr>
          <p:cNvPr id="3" name="">
            <a:extLst xmlns:a="http://schemas.openxmlformats.org/drawingml/2006/main">
              <a:ext uri="{FF2B5EF4-FFF2-40B4-BE49-F238E27FC236}">
                <a16:creationId xmlns:a16="http://schemas.microsoft.com/office/drawing/2014/main" id="{F0B87965-C976-40A6-9C42-93742E35DECC}"/>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EFF0B0F3-B224-43DE-B577-402F22750434}"/>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sp>
        <p:nvSpPr>
          <p:cNvPr id="5" name="">
            <a:extLst xmlns:a="http://schemas.openxmlformats.org/drawingml/2006/main">
              <a:ext uri="{FF2B5EF4-FFF2-40B4-BE49-F238E27FC236}">
                <a16:creationId xmlns:a16="http://schemas.microsoft.com/office/drawing/2014/main" id="{EA5F404B-BE0B-4CC5-88B9-1C96BE8E3BF9}"/>
              </a:ext>
            </a:extLst>
          </p:cNvPr>
          <p:cNvSpPr>
            <a:spLocks xmlns:a="http://schemas.openxmlformats.org/drawingml/2006/main" noGrp="1"/>
          </p:cNvSpPr>
          <p:nvPr/>
        </p:nvSpPr>
        <p:spPr>
          <a:xfrm xmlns:a="http://schemas.openxmlformats.org/drawingml/2006/main">
            <a:off x="619125" y="1381125"/>
            <a:ext cx="1095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5D6D76"/>
                </a:solidFill>
                <a:latin typeface="Avenir Next"/>
                <a:ea typeface="Avenir Next"/>
                <a:cs typeface="Avenir Next"/>
              </a:defRPr>
            </a:defPPr>
            <a:lvl1pPr>
              <a:buNone/>
              <a:defRPr sz="2325" b="0">
                <a:solidFill>
                  <a:srgbClr val="5D6D76"/>
                </a:solidFill>
                <a:latin typeface="Avenir Next"/>
                <a:ea typeface="Avenir Next"/>
                <a:cs typeface="Avenir Next"/>
              </a:defRPr>
            </a:lvl1pPr>
            <a:lvl2pPr>
              <a:buNone/>
              <a:defRPr sz="2325" b="0">
                <a:solidFill>
                  <a:srgbClr val="5D6D76"/>
                </a:solidFill>
                <a:latin typeface="Avenir Next"/>
                <a:ea typeface="Avenir Next"/>
                <a:cs typeface="Avenir Next"/>
              </a:defRPr>
            </a:lvl2pPr>
            <a:lvl3pPr>
              <a:buNone/>
              <a:defRPr sz="2325" b="0">
                <a:solidFill>
                  <a:srgbClr val="5D6D76"/>
                </a:solidFill>
                <a:latin typeface="Avenir Next"/>
                <a:ea typeface="Avenir Next"/>
                <a:cs typeface="Avenir Next"/>
              </a:defRPr>
            </a:lvl3pPr>
            <a:lvl4pPr>
              <a:buNone/>
              <a:defRPr sz="2325" b="0">
                <a:solidFill>
                  <a:srgbClr val="5D6D76"/>
                </a:solidFill>
                <a:latin typeface="Avenir Next"/>
                <a:ea typeface="Avenir Next"/>
                <a:cs typeface="Avenir Next"/>
              </a:defRPr>
            </a:lvl4pPr>
            <a:lvl5pPr>
              <a:buNone/>
              <a:defRPr sz="2325" b="0">
                <a:solidFill>
                  <a:srgbClr val="5D6D76"/>
                </a:solidFill>
                <a:latin typeface="Avenir Next"/>
                <a:ea typeface="Avenir Next"/>
                <a:cs typeface="Avenir Next"/>
              </a:defRPr>
            </a:lvl5pPr>
            <a:lvl6pPr>
              <a:buNone/>
              <a:defRPr sz="2325" b="0">
                <a:solidFill>
                  <a:srgbClr val="5D6D76"/>
                </a:solidFill>
                <a:latin typeface="Avenir Next"/>
                <a:ea typeface="Avenir Next"/>
                <a:cs typeface="Avenir Next"/>
              </a:defRPr>
            </a:lvl6pPr>
            <a:lvl7pPr>
              <a:buNone/>
              <a:defRPr sz="2325" b="0">
                <a:solidFill>
                  <a:srgbClr val="5D6D76"/>
                </a:solidFill>
                <a:latin typeface="Avenir Next"/>
                <a:ea typeface="Avenir Next"/>
                <a:cs typeface="Avenir Next"/>
              </a:defRPr>
            </a:lvl7pPr>
            <a:lvl8pPr>
              <a:buNone/>
              <a:defRPr sz="2325" b="0">
                <a:solidFill>
                  <a:srgbClr val="5D6D76"/>
                </a:solidFill>
                <a:latin typeface="Avenir Next"/>
                <a:ea typeface="Avenir Next"/>
                <a:cs typeface="Avenir Next"/>
              </a:defRPr>
            </a:lvl8pPr>
            <a:lvl9pPr>
              <a:buNone/>
              <a:defRPr sz="2325" b="0">
                <a:solidFill>
                  <a:srgbClr val="5D6D76"/>
                </a:solidFill>
                <a:latin typeface="Avenir Next"/>
                <a:ea typeface="Avenir Next"/>
                <a:cs typeface="Avenir Next"/>
              </a:defRPr>
            </a:lvl9pPr>
          </a:lstStyle>
          <a:p xmlns:a="http://schemas.openxmlformats.org/drawingml/2006/main">
            <a:pPr>
              <a:buNone/>
              <a:defRPr sz="2325" b="0">
                <a:solidFill>
                  <a:srgbClr val="5D6D76"/>
                </a:solidFill>
                <a:latin typeface="Avenir Next"/>
                <a:ea typeface="Avenir Next"/>
                <a:cs typeface="Avenir Next"/>
              </a:defRPr>
            </a:pPr>
            <a:r>
              <a:rPr sz="2325" b="0">
                <a:solidFill>
                  <a:srgbClr val="5D6D76"/>
                </a:solidFill>
                <a:latin typeface="Avenir Next"/>
                <a:ea typeface="Avenir Next"/>
                <a:cs typeface="Avenir Next"/>
              </a:rPr>
              <a:t>A generator learns patterns from the observed data.</a:t>
            </a:r>
          </a:p>
        </p:txBody>
      </p:sp>
      <p:sp>
        <p:nvSpPr>
          <p:cNvPr id="6" name="">
            <a:extLst xmlns:a="http://schemas.openxmlformats.org/drawingml/2006/main">
              <a:ext uri="{FF2B5EF4-FFF2-40B4-BE49-F238E27FC236}">
                <a16:creationId xmlns:a16="http://schemas.microsoft.com/office/drawing/2014/main" id="{16CC91B1-5DCE-4EF9-9DA3-515D8414AB4E}"/>
              </a:ext>
            </a:extLst>
          </p:cNvPr>
          <p:cNvSpPr>
            <a:spLocks xmlns:a="http://schemas.openxmlformats.org/drawingml/2006/main" noGrp="1"/>
          </p:cNvSpPr>
          <p:nvPr/>
        </p:nvSpPr>
        <p:spPr>
          <a:xfrm xmlns:a="http://schemas.openxmlformats.org/drawingml/2006/main">
            <a:off x="619125" y="2476500"/>
            <a:ext cx="1095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5D6D76"/>
                </a:solidFill>
                <a:latin typeface="Avenir Next"/>
                <a:ea typeface="Avenir Next"/>
                <a:cs typeface="Avenir Next"/>
              </a:defRPr>
            </a:defPPr>
            <a:lvl1pPr>
              <a:buNone/>
              <a:defRPr sz="2325" b="0">
                <a:solidFill>
                  <a:srgbClr val="5D6D76"/>
                </a:solidFill>
                <a:latin typeface="Avenir Next"/>
                <a:ea typeface="Avenir Next"/>
                <a:cs typeface="Avenir Next"/>
              </a:defRPr>
            </a:lvl1pPr>
            <a:lvl2pPr>
              <a:buNone/>
              <a:defRPr sz="2325" b="0">
                <a:solidFill>
                  <a:srgbClr val="5D6D76"/>
                </a:solidFill>
                <a:latin typeface="Avenir Next"/>
                <a:ea typeface="Avenir Next"/>
                <a:cs typeface="Avenir Next"/>
              </a:defRPr>
            </a:lvl2pPr>
            <a:lvl3pPr>
              <a:buNone/>
              <a:defRPr sz="2325" b="0">
                <a:solidFill>
                  <a:srgbClr val="5D6D76"/>
                </a:solidFill>
                <a:latin typeface="Avenir Next"/>
                <a:ea typeface="Avenir Next"/>
                <a:cs typeface="Avenir Next"/>
              </a:defRPr>
            </a:lvl3pPr>
            <a:lvl4pPr>
              <a:buNone/>
              <a:defRPr sz="2325" b="0">
                <a:solidFill>
                  <a:srgbClr val="5D6D76"/>
                </a:solidFill>
                <a:latin typeface="Avenir Next"/>
                <a:ea typeface="Avenir Next"/>
                <a:cs typeface="Avenir Next"/>
              </a:defRPr>
            </a:lvl4pPr>
            <a:lvl5pPr>
              <a:buNone/>
              <a:defRPr sz="2325" b="0">
                <a:solidFill>
                  <a:srgbClr val="5D6D76"/>
                </a:solidFill>
                <a:latin typeface="Avenir Next"/>
                <a:ea typeface="Avenir Next"/>
                <a:cs typeface="Avenir Next"/>
              </a:defRPr>
            </a:lvl5pPr>
            <a:lvl6pPr>
              <a:buNone/>
              <a:defRPr sz="2325" b="0">
                <a:solidFill>
                  <a:srgbClr val="5D6D76"/>
                </a:solidFill>
                <a:latin typeface="Avenir Next"/>
                <a:ea typeface="Avenir Next"/>
                <a:cs typeface="Avenir Next"/>
              </a:defRPr>
            </a:lvl6pPr>
            <a:lvl7pPr>
              <a:buNone/>
              <a:defRPr sz="2325" b="0">
                <a:solidFill>
                  <a:srgbClr val="5D6D76"/>
                </a:solidFill>
                <a:latin typeface="Avenir Next"/>
                <a:ea typeface="Avenir Next"/>
                <a:cs typeface="Avenir Next"/>
              </a:defRPr>
            </a:lvl7pPr>
            <a:lvl8pPr>
              <a:buNone/>
              <a:defRPr sz="2325" b="0">
                <a:solidFill>
                  <a:srgbClr val="5D6D76"/>
                </a:solidFill>
                <a:latin typeface="Avenir Next"/>
                <a:ea typeface="Avenir Next"/>
                <a:cs typeface="Avenir Next"/>
              </a:defRPr>
            </a:lvl8pPr>
            <a:lvl9pPr>
              <a:buNone/>
              <a:defRPr sz="2325" b="0">
                <a:solidFill>
                  <a:srgbClr val="5D6D76"/>
                </a:solidFill>
                <a:latin typeface="Avenir Next"/>
                <a:ea typeface="Avenir Next"/>
                <a:cs typeface="Avenir Next"/>
              </a:defRPr>
            </a:lvl9pPr>
          </a:lstStyle>
          <a:p xmlns:a="http://schemas.openxmlformats.org/drawingml/2006/main">
            <a:pPr>
              <a:buNone/>
              <a:defRPr sz="2325" b="0">
                <a:solidFill>
                  <a:srgbClr val="5D6D76"/>
                </a:solidFill>
                <a:latin typeface="Avenir Next"/>
                <a:ea typeface="Avenir Next"/>
                <a:cs typeface="Avenir Next"/>
              </a:defRPr>
            </a:pPr>
            <a:r>
              <a:rPr sz="2325" b="0">
                <a:solidFill>
                  <a:srgbClr val="5D6D76"/>
                </a:solidFill>
                <a:latin typeface="Avenir Next"/>
                <a:ea typeface="Avenir Next"/>
                <a:cs typeface="Avenir Next"/>
              </a:rPr>
              <a:t>Generate artificial records with the fitted distribution.</a:t>
            </a:r>
          </a:p>
        </p:txBody>
      </p:sp>
      <p:sp>
        <p:nvSpPr>
          <p:cNvPr id="7" name="">
            <a:extLst xmlns:a="http://schemas.openxmlformats.org/drawingml/2006/main">
              <a:ext uri="{FF2B5EF4-FFF2-40B4-BE49-F238E27FC236}">
                <a16:creationId xmlns:a16="http://schemas.microsoft.com/office/drawing/2014/main" id="{7A4646BC-FA02-4A89-80BC-649690BB23D7}"/>
              </a:ext>
            </a:extLst>
          </p:cNvPr>
          <p:cNvSpPr>
            <a:spLocks xmlns:a="http://schemas.openxmlformats.org/drawingml/2006/main" noGrp="1"/>
          </p:cNvSpPr>
          <p:nvPr/>
        </p:nvSpPr>
        <p:spPr>
          <a:xfrm xmlns:a="http://schemas.openxmlformats.org/drawingml/2006/main">
            <a:off x="619125" y="3571875"/>
            <a:ext cx="1095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5D6D76"/>
                </a:solidFill>
                <a:latin typeface="Avenir Next"/>
                <a:ea typeface="Avenir Next"/>
                <a:cs typeface="Avenir Next"/>
              </a:defRPr>
            </a:defPPr>
            <a:lvl1pPr>
              <a:buNone/>
              <a:defRPr sz="2325" b="0">
                <a:solidFill>
                  <a:srgbClr val="5D6D76"/>
                </a:solidFill>
                <a:latin typeface="Avenir Next"/>
                <a:ea typeface="Avenir Next"/>
                <a:cs typeface="Avenir Next"/>
              </a:defRPr>
            </a:lvl1pPr>
            <a:lvl2pPr>
              <a:buNone/>
              <a:defRPr sz="2325" b="0">
                <a:solidFill>
                  <a:srgbClr val="5D6D76"/>
                </a:solidFill>
                <a:latin typeface="Avenir Next"/>
                <a:ea typeface="Avenir Next"/>
                <a:cs typeface="Avenir Next"/>
              </a:defRPr>
            </a:lvl2pPr>
            <a:lvl3pPr>
              <a:buNone/>
              <a:defRPr sz="2325" b="0">
                <a:solidFill>
                  <a:srgbClr val="5D6D76"/>
                </a:solidFill>
                <a:latin typeface="Avenir Next"/>
                <a:ea typeface="Avenir Next"/>
                <a:cs typeface="Avenir Next"/>
              </a:defRPr>
            </a:lvl3pPr>
            <a:lvl4pPr>
              <a:buNone/>
              <a:defRPr sz="2325" b="0">
                <a:solidFill>
                  <a:srgbClr val="5D6D76"/>
                </a:solidFill>
                <a:latin typeface="Avenir Next"/>
                <a:ea typeface="Avenir Next"/>
                <a:cs typeface="Avenir Next"/>
              </a:defRPr>
            </a:lvl4pPr>
            <a:lvl5pPr>
              <a:buNone/>
              <a:defRPr sz="2325" b="0">
                <a:solidFill>
                  <a:srgbClr val="5D6D76"/>
                </a:solidFill>
                <a:latin typeface="Avenir Next"/>
                <a:ea typeface="Avenir Next"/>
                <a:cs typeface="Avenir Next"/>
              </a:defRPr>
            </a:lvl5pPr>
            <a:lvl6pPr>
              <a:buNone/>
              <a:defRPr sz="2325" b="0">
                <a:solidFill>
                  <a:srgbClr val="5D6D76"/>
                </a:solidFill>
                <a:latin typeface="Avenir Next"/>
                <a:ea typeface="Avenir Next"/>
                <a:cs typeface="Avenir Next"/>
              </a:defRPr>
            </a:lvl6pPr>
            <a:lvl7pPr>
              <a:buNone/>
              <a:defRPr sz="2325" b="0">
                <a:solidFill>
                  <a:srgbClr val="5D6D76"/>
                </a:solidFill>
                <a:latin typeface="Avenir Next"/>
                <a:ea typeface="Avenir Next"/>
                <a:cs typeface="Avenir Next"/>
              </a:defRPr>
            </a:lvl7pPr>
            <a:lvl8pPr>
              <a:buNone/>
              <a:defRPr sz="2325" b="0">
                <a:solidFill>
                  <a:srgbClr val="5D6D76"/>
                </a:solidFill>
                <a:latin typeface="Avenir Next"/>
                <a:ea typeface="Avenir Next"/>
                <a:cs typeface="Avenir Next"/>
              </a:defRPr>
            </a:lvl8pPr>
            <a:lvl9pPr>
              <a:buNone/>
              <a:defRPr sz="2325" b="0">
                <a:solidFill>
                  <a:srgbClr val="5D6D76"/>
                </a:solidFill>
                <a:latin typeface="Avenir Next"/>
                <a:ea typeface="Avenir Next"/>
                <a:cs typeface="Avenir Next"/>
              </a:defRPr>
            </a:lvl9pPr>
          </a:lstStyle>
          <a:p xmlns:a="http://schemas.openxmlformats.org/drawingml/2006/main">
            <a:pPr>
              <a:buNone/>
              <a:defRPr sz="2325" b="0">
                <a:solidFill>
                  <a:srgbClr val="5D6D76"/>
                </a:solidFill>
                <a:latin typeface="Avenir Next"/>
                <a:ea typeface="Avenir Next"/>
                <a:cs typeface="Avenir Next"/>
              </a:defRPr>
            </a:pPr>
            <a:r>
              <a:rPr sz="2325" b="0">
                <a:solidFill>
                  <a:srgbClr val="5D6D76"/>
                </a:solidFill>
                <a:latin typeface="Avenir Next"/>
                <a:ea typeface="Avenir Next"/>
                <a:cs typeface="Avenir Next"/>
              </a:rPr>
              <a:t>Compare age summaries and outcome proportions with heart.</a:t>
            </a:r>
          </a:p>
        </p:txBody>
      </p:sp>
      <p:sp>
        <p:nvSpPr>
          <p:cNvPr id="8" name="">
            <a:extLst xmlns:a="http://schemas.openxmlformats.org/drawingml/2006/main">
              <a:ext uri="{FF2B5EF4-FFF2-40B4-BE49-F238E27FC236}">
                <a16:creationId xmlns:a16="http://schemas.microsoft.com/office/drawing/2014/main" id="{D445850A-AE3B-4748-8AE5-C95BCC7360AF}"/>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Generated rows are synthetic examples. They are not additional observed patients.</a:t>
            </a:r>
          </a:p>
        </p:txBody>
      </p:sp>
    </p:spTree>
    <p:extLst>
      <p:ext uri="{BB962C8B-B14F-4D97-AF65-F5344CB8AC3E}">
        <p14:creationId xmlns:p14="http://schemas.microsoft.com/office/powerpoint/2010/main" val="67796662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1A4F21A-DB7A-447D-97E8-7BE7FB067290}"/>
              </a:ext>
            </a:extLst>
          </p:cNvPr>
          <p:cNvSpPr>
            <a:spLocks xmlns:a="http://schemas.openxmlformats.org/drawingml/2006/main" noGrp="1"/>
          </p:cNvSpPr>
          <p:nvPr/>
        </p:nvSpPr>
        <p:spPr>
          <a:xfrm xmlns:a="http://schemas.openxmlformats.org/drawingml/2006/main">
            <a:off x="552450" y="3810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D8B8B"/>
                </a:solidFill>
                <a:latin typeface="Avenir Next"/>
                <a:ea typeface="Avenir Next"/>
                <a:cs typeface="Avenir Next"/>
              </a:defRPr>
            </a:defPPr>
            <a:lvl1pPr>
              <a:buNone/>
              <a:defRPr sz="1350" b="1">
                <a:solidFill>
                  <a:srgbClr val="0D8B8B"/>
                </a:solidFill>
                <a:latin typeface="Avenir Next"/>
                <a:ea typeface="Avenir Next"/>
                <a:cs typeface="Avenir Next"/>
              </a:defRPr>
            </a:lvl1pPr>
            <a:lvl2pPr>
              <a:buNone/>
              <a:defRPr sz="1350" b="1">
                <a:solidFill>
                  <a:srgbClr val="0D8B8B"/>
                </a:solidFill>
                <a:latin typeface="Avenir Next"/>
                <a:ea typeface="Avenir Next"/>
                <a:cs typeface="Avenir Next"/>
              </a:defRPr>
            </a:lvl2pPr>
            <a:lvl3pPr>
              <a:buNone/>
              <a:defRPr sz="1350" b="1">
                <a:solidFill>
                  <a:srgbClr val="0D8B8B"/>
                </a:solidFill>
                <a:latin typeface="Avenir Next"/>
                <a:ea typeface="Avenir Next"/>
                <a:cs typeface="Avenir Next"/>
              </a:defRPr>
            </a:lvl3pPr>
            <a:lvl4pPr>
              <a:buNone/>
              <a:defRPr sz="1350" b="1">
                <a:solidFill>
                  <a:srgbClr val="0D8B8B"/>
                </a:solidFill>
                <a:latin typeface="Avenir Next"/>
                <a:ea typeface="Avenir Next"/>
                <a:cs typeface="Avenir Next"/>
              </a:defRPr>
            </a:lvl4pPr>
            <a:lvl5pPr>
              <a:buNone/>
              <a:defRPr sz="1350" b="1">
                <a:solidFill>
                  <a:srgbClr val="0D8B8B"/>
                </a:solidFill>
                <a:latin typeface="Avenir Next"/>
                <a:ea typeface="Avenir Next"/>
                <a:cs typeface="Avenir Next"/>
              </a:defRPr>
            </a:lvl5pPr>
            <a:lvl6pPr>
              <a:buNone/>
              <a:defRPr sz="1350" b="1">
                <a:solidFill>
                  <a:srgbClr val="0D8B8B"/>
                </a:solidFill>
                <a:latin typeface="Avenir Next"/>
                <a:ea typeface="Avenir Next"/>
                <a:cs typeface="Avenir Next"/>
              </a:defRPr>
            </a:lvl6pPr>
            <a:lvl7pPr>
              <a:buNone/>
              <a:defRPr sz="1350" b="1">
                <a:solidFill>
                  <a:srgbClr val="0D8B8B"/>
                </a:solidFill>
                <a:latin typeface="Avenir Next"/>
                <a:ea typeface="Avenir Next"/>
                <a:cs typeface="Avenir Next"/>
              </a:defRPr>
            </a:lvl7pPr>
            <a:lvl8pPr>
              <a:buNone/>
              <a:defRPr sz="1350" b="1">
                <a:solidFill>
                  <a:srgbClr val="0D8B8B"/>
                </a:solidFill>
                <a:latin typeface="Avenir Next"/>
                <a:ea typeface="Avenir Next"/>
                <a:cs typeface="Avenir Next"/>
              </a:defRPr>
            </a:lvl8pPr>
            <a:lvl9pPr>
              <a:buNone/>
              <a:defRPr sz="1350" b="1">
                <a:solidFill>
                  <a:srgbClr val="0D8B8B"/>
                </a:solidFill>
                <a:latin typeface="Avenir Next"/>
                <a:ea typeface="Avenir Next"/>
                <a:cs typeface="Avenir Next"/>
              </a:defRPr>
            </a:lvl9pPr>
          </a:lstStyle>
          <a:p xmlns:a="http://schemas.openxmlformats.org/drawingml/2006/main">
            <a:pPr>
              <a:buNone/>
              <a:defRPr sz="1350" b="1">
                <a:solidFill>
                  <a:srgbClr val="0D8B8B"/>
                </a:solidFill>
                <a:latin typeface="Avenir Next"/>
                <a:ea typeface="Avenir Next"/>
                <a:cs typeface="Avenir Next"/>
              </a:defRPr>
            </a:pPr>
            <a:r>
              <a:rPr sz="1350" b="1">
                <a:solidFill>
                  <a:srgbClr val="0D8B8B"/>
                </a:solidFill>
                <a:latin typeface="Avenir Next"/>
                <a:ea typeface="Avenir Next"/>
                <a:cs typeface="Avenir Next"/>
              </a:rPr>
              <a:t>28</a:t>
            </a:r>
          </a:p>
        </p:txBody>
      </p:sp>
      <p:sp>
        <p:nvSpPr>
          <p:cNvPr id="2" name="">
            <a:extLst xmlns:a="http://schemas.openxmlformats.org/drawingml/2006/main">
              <a:ext uri="{FF2B5EF4-FFF2-40B4-BE49-F238E27FC236}">
                <a16:creationId xmlns:a16="http://schemas.microsoft.com/office/drawing/2014/main" id="{5932208B-C388-46D1-B478-4F32371EBDA6}"/>
              </a:ext>
            </a:extLst>
          </p:cNvPr>
          <p:cNvSpPr>
            <a:spLocks xmlns:a="http://schemas.openxmlformats.org/drawingml/2006/main" noGrp="1"/>
          </p:cNvSpPr>
          <p:nvPr/>
        </p:nvSpPr>
        <p:spPr>
          <a:xfrm xmlns:a="http://schemas.openxmlformats.org/drawingml/2006/main">
            <a:off x="1066800" y="3143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253A"/>
                </a:solidFill>
                <a:latin typeface="Avenir Next"/>
                <a:ea typeface="Avenir Next"/>
                <a:cs typeface="Avenir Next"/>
              </a:defRPr>
            </a:defPPr>
            <a:lvl1pPr>
              <a:buNone/>
              <a:defRPr sz="2700" b="1">
                <a:solidFill>
                  <a:srgbClr val="09253A"/>
                </a:solidFill>
                <a:latin typeface="Avenir Next"/>
                <a:ea typeface="Avenir Next"/>
                <a:cs typeface="Avenir Next"/>
              </a:defRPr>
            </a:lvl1pPr>
            <a:lvl2pPr>
              <a:buNone/>
              <a:defRPr sz="2700" b="1">
                <a:solidFill>
                  <a:srgbClr val="09253A"/>
                </a:solidFill>
                <a:latin typeface="Avenir Next"/>
                <a:ea typeface="Avenir Next"/>
                <a:cs typeface="Avenir Next"/>
              </a:defRPr>
            </a:lvl2pPr>
            <a:lvl3pPr>
              <a:buNone/>
              <a:defRPr sz="2700" b="1">
                <a:solidFill>
                  <a:srgbClr val="09253A"/>
                </a:solidFill>
                <a:latin typeface="Avenir Next"/>
                <a:ea typeface="Avenir Next"/>
                <a:cs typeface="Avenir Next"/>
              </a:defRPr>
            </a:lvl3pPr>
            <a:lvl4pPr>
              <a:buNone/>
              <a:defRPr sz="2700" b="1">
                <a:solidFill>
                  <a:srgbClr val="09253A"/>
                </a:solidFill>
                <a:latin typeface="Avenir Next"/>
                <a:ea typeface="Avenir Next"/>
                <a:cs typeface="Avenir Next"/>
              </a:defRPr>
            </a:lvl4pPr>
            <a:lvl5pPr>
              <a:buNone/>
              <a:defRPr sz="2700" b="1">
                <a:solidFill>
                  <a:srgbClr val="09253A"/>
                </a:solidFill>
                <a:latin typeface="Avenir Next"/>
                <a:ea typeface="Avenir Next"/>
                <a:cs typeface="Avenir Next"/>
              </a:defRPr>
            </a:lvl5pPr>
            <a:lvl6pPr>
              <a:buNone/>
              <a:defRPr sz="2700" b="1">
                <a:solidFill>
                  <a:srgbClr val="09253A"/>
                </a:solidFill>
                <a:latin typeface="Avenir Next"/>
                <a:ea typeface="Avenir Next"/>
                <a:cs typeface="Avenir Next"/>
              </a:defRPr>
            </a:lvl6pPr>
            <a:lvl7pPr>
              <a:buNone/>
              <a:defRPr sz="2700" b="1">
                <a:solidFill>
                  <a:srgbClr val="09253A"/>
                </a:solidFill>
                <a:latin typeface="Avenir Next"/>
                <a:ea typeface="Avenir Next"/>
                <a:cs typeface="Avenir Next"/>
              </a:defRPr>
            </a:lvl7pPr>
            <a:lvl8pPr>
              <a:buNone/>
              <a:defRPr sz="2700" b="1">
                <a:solidFill>
                  <a:srgbClr val="09253A"/>
                </a:solidFill>
                <a:latin typeface="Avenir Next"/>
                <a:ea typeface="Avenir Next"/>
                <a:cs typeface="Avenir Next"/>
              </a:defRPr>
            </a:lvl8pPr>
            <a:lvl9pPr>
              <a:buNone/>
              <a:defRPr sz="2700" b="1">
                <a:solidFill>
                  <a:srgbClr val="09253A"/>
                </a:solidFill>
                <a:latin typeface="Avenir Next"/>
                <a:ea typeface="Avenir Next"/>
                <a:cs typeface="Avenir Next"/>
              </a:defRPr>
            </a:lvl9pPr>
          </a:lstStyle>
          <a:p xmlns:a="http://schemas.openxmlformats.org/drawingml/2006/main">
            <a:pPr>
              <a:buNone/>
              <a:defRPr sz="2700" b="1">
                <a:solidFill>
                  <a:srgbClr val="09253A"/>
                </a:solidFill>
                <a:latin typeface="Avenir Next"/>
                <a:ea typeface="Avenir Next"/>
                <a:cs typeface="Avenir Next"/>
              </a:defRPr>
            </a:pPr>
            <a:r>
              <a:rPr sz="2700" b="1">
                <a:solidFill>
                  <a:srgbClr val="09253A"/>
                </a:solidFill>
                <a:latin typeface="Avenir Next"/>
                <a:ea typeface="Avenir Next"/>
                <a:cs typeface="Avenir Next"/>
              </a:rPr>
              <a:t>Appendix: sources and reproducibility</a:t>
            </a:r>
          </a:p>
        </p:txBody>
      </p:sp>
      <p:sp>
        <p:nvSpPr>
          <p:cNvPr id="3" name="">
            <a:extLst xmlns:a="http://schemas.openxmlformats.org/drawingml/2006/main">
              <a:ext uri="{FF2B5EF4-FFF2-40B4-BE49-F238E27FC236}">
                <a16:creationId xmlns:a16="http://schemas.microsoft.com/office/drawing/2014/main" id="{916786B2-E5BA-4A4B-82FD-7BDCA30CEC04}"/>
              </a:ext>
            </a:extLst>
          </p:cNvPr>
          <p:cNvSpPr>
            <a:spLocks xmlns:a="http://schemas.openxmlformats.org/drawingml/2006/main" noGrp="1"/>
          </p:cNvSpPr>
          <p:nvPr/>
        </p:nvSpPr>
        <p:spPr>
          <a:xfrm xmlns:a="http://schemas.openxmlformats.org/drawingml/2006/main">
            <a:off x="552450" y="981075"/>
            <a:ext cx="11087100" cy="19050"/>
          </a:xfrm>
          <a:prstGeom xmlns:a="http://schemas.openxmlformats.org/drawingml/2006/main" prst="rect">
            <a:avLst/>
          </a:prstGeom>
          <a:solidFill xmlns:a="http://schemas.openxmlformats.org/drawingml/2006/main">
            <a:srgbClr val="DCE9E7"/>
          </a:solidFill>
          <a:ln xmlns:a="http://schemas.openxmlformats.org/drawingml/2006/main" w="0">
            <a:noFill/>
          </a:ln>
        </p:spPr>
        <p:txBody>
          <a:bodyPr xmlns:a="http://schemas.openxmlformats.org/drawingml/2006/main"/>
          <a:lstStyle xmlns:a="http://schemas.openxmlformats.org/drawingml/2006/main">
            <a:defPPr>
              <a:defRPr sz="100" b="0">
                <a:solidFill>
                  <a:srgbClr val="DCE9E7"/>
                </a:solidFill>
                <a:latin typeface="Avenir Next"/>
                <a:ea typeface="Avenir Next"/>
                <a:cs typeface="Avenir Next"/>
              </a:defRPr>
            </a:defPPr>
            <a:lvl1pPr>
              <a:buNone/>
              <a:defRPr sz="100" b="0">
                <a:solidFill>
                  <a:srgbClr val="DCE9E7"/>
                </a:solidFill>
                <a:latin typeface="Avenir Next"/>
                <a:ea typeface="Avenir Next"/>
                <a:cs typeface="Avenir Next"/>
              </a:defRPr>
            </a:lvl1pPr>
            <a:lvl2pPr>
              <a:buNone/>
              <a:defRPr sz="100" b="0">
                <a:solidFill>
                  <a:srgbClr val="DCE9E7"/>
                </a:solidFill>
                <a:latin typeface="Avenir Next"/>
                <a:ea typeface="Avenir Next"/>
                <a:cs typeface="Avenir Next"/>
              </a:defRPr>
            </a:lvl2pPr>
            <a:lvl3pPr>
              <a:buNone/>
              <a:defRPr sz="100" b="0">
                <a:solidFill>
                  <a:srgbClr val="DCE9E7"/>
                </a:solidFill>
                <a:latin typeface="Avenir Next"/>
                <a:ea typeface="Avenir Next"/>
                <a:cs typeface="Avenir Next"/>
              </a:defRPr>
            </a:lvl3pPr>
            <a:lvl4pPr>
              <a:buNone/>
              <a:defRPr sz="100" b="0">
                <a:solidFill>
                  <a:srgbClr val="DCE9E7"/>
                </a:solidFill>
                <a:latin typeface="Avenir Next"/>
                <a:ea typeface="Avenir Next"/>
                <a:cs typeface="Avenir Next"/>
              </a:defRPr>
            </a:lvl4pPr>
            <a:lvl5pPr>
              <a:buNone/>
              <a:defRPr sz="100" b="0">
                <a:solidFill>
                  <a:srgbClr val="DCE9E7"/>
                </a:solidFill>
                <a:latin typeface="Avenir Next"/>
                <a:ea typeface="Avenir Next"/>
                <a:cs typeface="Avenir Next"/>
              </a:defRPr>
            </a:lvl5pPr>
            <a:lvl6pPr>
              <a:buNone/>
              <a:defRPr sz="100" b="0">
                <a:solidFill>
                  <a:srgbClr val="DCE9E7"/>
                </a:solidFill>
                <a:latin typeface="Avenir Next"/>
                <a:ea typeface="Avenir Next"/>
                <a:cs typeface="Avenir Next"/>
              </a:defRPr>
            </a:lvl6pPr>
            <a:lvl7pPr>
              <a:buNone/>
              <a:defRPr sz="100" b="0">
                <a:solidFill>
                  <a:srgbClr val="DCE9E7"/>
                </a:solidFill>
                <a:latin typeface="Avenir Next"/>
                <a:ea typeface="Avenir Next"/>
                <a:cs typeface="Avenir Next"/>
              </a:defRPr>
            </a:lvl7pPr>
            <a:lvl8pPr>
              <a:buNone/>
              <a:defRPr sz="100" b="0">
                <a:solidFill>
                  <a:srgbClr val="DCE9E7"/>
                </a:solidFill>
                <a:latin typeface="Avenir Next"/>
                <a:ea typeface="Avenir Next"/>
                <a:cs typeface="Avenir Next"/>
              </a:defRPr>
            </a:lvl8pPr>
            <a:lvl9pPr>
              <a:buNone/>
              <a:defRPr sz="100" b="0">
                <a:solidFill>
                  <a:srgbClr val="DCE9E7"/>
                </a:solidFill>
                <a:latin typeface="Avenir Next"/>
                <a:ea typeface="Avenir Next"/>
                <a:cs typeface="Avenir Next"/>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9096CF21-646C-48CC-BFBE-237672787E10}"/>
              </a:ext>
            </a:extLst>
          </p:cNvPr>
          <p:cNvSpPr>
            <a:spLocks xmlns:a="http://schemas.openxmlformats.org/drawingml/2006/main" noGrp="1"/>
          </p:cNvSpPr>
          <p:nvPr/>
        </p:nvSpPr>
        <p:spPr>
          <a:xfrm xmlns:a="http://schemas.openxmlformats.org/drawingml/2006/main">
            <a:off x="6191250" y="6467475"/>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D6D76"/>
                </a:solidFill>
                <a:latin typeface="Avenir Next"/>
                <a:ea typeface="Avenir Next"/>
                <a:cs typeface="Avenir Next"/>
              </a:defRPr>
            </a:defPPr>
            <a:lvl1pPr>
              <a:buNone/>
              <a:defRPr sz="900" b="0">
                <a:solidFill>
                  <a:srgbClr val="5D6D76"/>
                </a:solidFill>
                <a:latin typeface="Avenir Next"/>
                <a:ea typeface="Avenir Next"/>
                <a:cs typeface="Avenir Next"/>
              </a:defRPr>
            </a:lvl1pPr>
            <a:lvl2pPr>
              <a:buNone/>
              <a:defRPr sz="900" b="0">
                <a:solidFill>
                  <a:srgbClr val="5D6D76"/>
                </a:solidFill>
                <a:latin typeface="Avenir Next"/>
                <a:ea typeface="Avenir Next"/>
                <a:cs typeface="Avenir Next"/>
              </a:defRPr>
            </a:lvl2pPr>
            <a:lvl3pPr>
              <a:buNone/>
              <a:defRPr sz="900" b="0">
                <a:solidFill>
                  <a:srgbClr val="5D6D76"/>
                </a:solidFill>
                <a:latin typeface="Avenir Next"/>
                <a:ea typeface="Avenir Next"/>
                <a:cs typeface="Avenir Next"/>
              </a:defRPr>
            </a:lvl3pPr>
            <a:lvl4pPr>
              <a:buNone/>
              <a:defRPr sz="900" b="0">
                <a:solidFill>
                  <a:srgbClr val="5D6D76"/>
                </a:solidFill>
                <a:latin typeface="Avenir Next"/>
                <a:ea typeface="Avenir Next"/>
                <a:cs typeface="Avenir Next"/>
              </a:defRPr>
            </a:lvl4pPr>
            <a:lvl5pPr>
              <a:buNone/>
              <a:defRPr sz="900" b="0">
                <a:solidFill>
                  <a:srgbClr val="5D6D76"/>
                </a:solidFill>
                <a:latin typeface="Avenir Next"/>
                <a:ea typeface="Avenir Next"/>
                <a:cs typeface="Avenir Next"/>
              </a:defRPr>
            </a:lvl5pPr>
            <a:lvl6pPr>
              <a:buNone/>
              <a:defRPr sz="900" b="0">
                <a:solidFill>
                  <a:srgbClr val="5D6D76"/>
                </a:solidFill>
                <a:latin typeface="Avenir Next"/>
                <a:ea typeface="Avenir Next"/>
                <a:cs typeface="Avenir Next"/>
              </a:defRPr>
            </a:lvl6pPr>
            <a:lvl7pPr>
              <a:buNone/>
              <a:defRPr sz="900" b="0">
                <a:solidFill>
                  <a:srgbClr val="5D6D76"/>
                </a:solidFill>
                <a:latin typeface="Avenir Next"/>
                <a:ea typeface="Avenir Next"/>
                <a:cs typeface="Avenir Next"/>
              </a:defRPr>
            </a:lvl7pPr>
            <a:lvl8pPr>
              <a:buNone/>
              <a:defRPr sz="900" b="0">
                <a:solidFill>
                  <a:srgbClr val="5D6D76"/>
                </a:solidFill>
                <a:latin typeface="Avenir Next"/>
                <a:ea typeface="Avenir Next"/>
                <a:cs typeface="Avenir Next"/>
              </a:defRPr>
            </a:lvl8pPr>
            <a:lvl9pPr>
              <a:buNone/>
              <a:defRPr sz="900" b="0">
                <a:solidFill>
                  <a:srgbClr val="5D6D76"/>
                </a:solidFill>
                <a:latin typeface="Avenir Next"/>
                <a:ea typeface="Avenir Next"/>
                <a:cs typeface="Avenir Next"/>
              </a:defRPr>
            </a:lvl9pPr>
          </a:lstStyle>
          <a:p xmlns:a="http://schemas.openxmlformats.org/drawingml/2006/main">
            <a:pPr>
              <a:buNone/>
              <a:defRPr sz="900" b="0">
                <a:solidFill>
                  <a:srgbClr val="5D6D76"/>
                </a:solidFill>
                <a:latin typeface="Avenir Next"/>
                <a:ea typeface="Avenir Next"/>
                <a:cs typeface="Avenir Next"/>
              </a:defRPr>
            </a:pPr>
            <a:r>
              <a:rPr sz="900" b="0">
                <a:solidFill>
                  <a:srgbClr val="5D6D76"/>
                </a:solidFill>
                <a:latin typeface="Avenir Next"/>
                <a:ea typeface="Avenir Next"/>
                <a:cs typeface="Avenir Next"/>
              </a:rPr>
              <a:t>Machine Learning in Epidemiology with R — Part 2</a:t>
            </a:r>
          </a:p>
        </p:txBody>
      </p:sp>
      <p:sp>
        <p:nvSpPr>
          <p:cNvPr id="5" name="">
            <a:extLst xmlns:a="http://schemas.openxmlformats.org/drawingml/2006/main">
              <a:ext uri="{FF2B5EF4-FFF2-40B4-BE49-F238E27FC236}">
                <a16:creationId xmlns:a16="http://schemas.microsoft.com/office/drawing/2014/main" id="{DBCBC04B-86E9-4AF1-AB89-E20EA545F8D6}"/>
              </a:ext>
            </a:extLst>
          </p:cNvPr>
          <p:cNvSpPr>
            <a:spLocks xmlns:a="http://schemas.openxmlformats.org/drawingml/2006/main" noGrp="1"/>
          </p:cNvSpPr>
          <p:nvPr/>
        </p:nvSpPr>
        <p:spPr>
          <a:xfrm xmlns:a="http://schemas.openxmlformats.org/drawingml/2006/main">
            <a:off x="619125" y="1333500"/>
            <a:ext cx="109537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D6D76"/>
                </a:solidFill>
                <a:latin typeface="Avenir Next"/>
                <a:ea typeface="Avenir Next"/>
                <a:cs typeface="Avenir Next"/>
              </a:defRPr>
            </a:defPPr>
            <a:lvl1pPr>
              <a:buNone/>
              <a:defRPr sz="2100" b="0">
                <a:solidFill>
                  <a:srgbClr val="5D6D76"/>
                </a:solidFill>
                <a:latin typeface="Avenir Next"/>
                <a:ea typeface="Avenir Next"/>
                <a:cs typeface="Avenir Next"/>
              </a:defRPr>
            </a:lvl1pPr>
            <a:lvl2pPr>
              <a:buNone/>
              <a:defRPr sz="2100" b="0">
                <a:solidFill>
                  <a:srgbClr val="5D6D76"/>
                </a:solidFill>
                <a:latin typeface="Avenir Next"/>
                <a:ea typeface="Avenir Next"/>
                <a:cs typeface="Avenir Next"/>
              </a:defRPr>
            </a:lvl2pPr>
            <a:lvl3pPr>
              <a:buNone/>
              <a:defRPr sz="2100" b="0">
                <a:solidFill>
                  <a:srgbClr val="5D6D76"/>
                </a:solidFill>
                <a:latin typeface="Avenir Next"/>
                <a:ea typeface="Avenir Next"/>
                <a:cs typeface="Avenir Next"/>
              </a:defRPr>
            </a:lvl3pPr>
            <a:lvl4pPr>
              <a:buNone/>
              <a:defRPr sz="2100" b="0">
                <a:solidFill>
                  <a:srgbClr val="5D6D76"/>
                </a:solidFill>
                <a:latin typeface="Avenir Next"/>
                <a:ea typeface="Avenir Next"/>
                <a:cs typeface="Avenir Next"/>
              </a:defRPr>
            </a:lvl4pPr>
            <a:lvl5pPr>
              <a:buNone/>
              <a:defRPr sz="2100" b="0">
                <a:solidFill>
                  <a:srgbClr val="5D6D76"/>
                </a:solidFill>
                <a:latin typeface="Avenir Next"/>
                <a:ea typeface="Avenir Next"/>
                <a:cs typeface="Avenir Next"/>
              </a:defRPr>
            </a:lvl5pPr>
            <a:lvl6pPr>
              <a:buNone/>
              <a:defRPr sz="2100" b="0">
                <a:solidFill>
                  <a:srgbClr val="5D6D76"/>
                </a:solidFill>
                <a:latin typeface="Avenir Next"/>
                <a:ea typeface="Avenir Next"/>
                <a:cs typeface="Avenir Next"/>
              </a:defRPr>
            </a:lvl6pPr>
            <a:lvl7pPr>
              <a:buNone/>
              <a:defRPr sz="2100" b="0">
                <a:solidFill>
                  <a:srgbClr val="5D6D76"/>
                </a:solidFill>
                <a:latin typeface="Avenir Next"/>
                <a:ea typeface="Avenir Next"/>
                <a:cs typeface="Avenir Next"/>
              </a:defRPr>
            </a:lvl7pPr>
            <a:lvl8pPr>
              <a:buNone/>
              <a:defRPr sz="2100" b="0">
                <a:solidFill>
                  <a:srgbClr val="5D6D76"/>
                </a:solidFill>
                <a:latin typeface="Avenir Next"/>
                <a:ea typeface="Avenir Next"/>
                <a:cs typeface="Avenir Next"/>
              </a:defRPr>
            </a:lvl8pPr>
            <a:lvl9pPr>
              <a:buNone/>
              <a:defRPr sz="2100" b="0">
                <a:solidFill>
                  <a:srgbClr val="5D6D76"/>
                </a:solidFill>
                <a:latin typeface="Avenir Next"/>
                <a:ea typeface="Avenir Next"/>
                <a:cs typeface="Avenir Next"/>
              </a:defRPr>
            </a:lvl9pPr>
          </a:lstStyle>
          <a:p xmlns:a="http://schemas.openxmlformats.org/drawingml/2006/main">
            <a:pPr>
              <a:buNone/>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Wright et al. (2026), Machine Learning in Epidemiology</a:t>
            </a:r>
          </a:p>
          <a:p xmlns:a="http://schemas.openxmlformats.org/drawingml/2006/main">
            <a:pPr>
              <a:buNone/>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arXiv:2602.16352v1, sections 2–6</a:t>
            </a:r>
          </a:p>
        </p:txBody>
      </p:sp>
      <p:sp>
        <p:nvSpPr>
          <p:cNvPr id="6" name="">
            <a:extLst xmlns:a="http://schemas.openxmlformats.org/drawingml/2006/main">
              <a:ext uri="{FF2B5EF4-FFF2-40B4-BE49-F238E27FC236}">
                <a16:creationId xmlns:a16="http://schemas.microsoft.com/office/drawing/2014/main" id="{B54EF449-E385-4D0B-8ED5-CA6B9A562C0B}"/>
              </a:ext>
            </a:extLst>
          </p:cNvPr>
          <p:cNvSpPr>
            <a:spLocks xmlns:a="http://schemas.openxmlformats.org/drawingml/2006/main" noGrp="1"/>
          </p:cNvSpPr>
          <p:nvPr/>
        </p:nvSpPr>
        <p:spPr>
          <a:xfrm xmlns:a="http://schemas.openxmlformats.org/drawingml/2006/main">
            <a:off x="619125" y="2524125"/>
            <a:ext cx="109537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D6D76"/>
                </a:solidFill>
                <a:latin typeface="Avenir Next"/>
                <a:ea typeface="Avenir Next"/>
                <a:cs typeface="Avenir Next"/>
              </a:defRPr>
            </a:defPPr>
            <a:lvl1pPr>
              <a:buNone/>
              <a:defRPr sz="2100" b="0">
                <a:solidFill>
                  <a:srgbClr val="5D6D76"/>
                </a:solidFill>
                <a:latin typeface="Avenir Next"/>
                <a:ea typeface="Avenir Next"/>
                <a:cs typeface="Avenir Next"/>
              </a:defRPr>
            </a:lvl1pPr>
            <a:lvl2pPr>
              <a:buNone/>
              <a:defRPr sz="2100" b="0">
                <a:solidFill>
                  <a:srgbClr val="5D6D76"/>
                </a:solidFill>
                <a:latin typeface="Avenir Next"/>
                <a:ea typeface="Avenir Next"/>
                <a:cs typeface="Avenir Next"/>
              </a:defRPr>
            </a:lvl2pPr>
            <a:lvl3pPr>
              <a:buNone/>
              <a:defRPr sz="2100" b="0">
                <a:solidFill>
                  <a:srgbClr val="5D6D76"/>
                </a:solidFill>
                <a:latin typeface="Avenir Next"/>
                <a:ea typeface="Avenir Next"/>
                <a:cs typeface="Avenir Next"/>
              </a:defRPr>
            </a:lvl3pPr>
            <a:lvl4pPr>
              <a:buNone/>
              <a:defRPr sz="2100" b="0">
                <a:solidFill>
                  <a:srgbClr val="5D6D76"/>
                </a:solidFill>
                <a:latin typeface="Avenir Next"/>
                <a:ea typeface="Avenir Next"/>
                <a:cs typeface="Avenir Next"/>
              </a:defRPr>
            </a:lvl4pPr>
            <a:lvl5pPr>
              <a:buNone/>
              <a:defRPr sz="2100" b="0">
                <a:solidFill>
                  <a:srgbClr val="5D6D76"/>
                </a:solidFill>
                <a:latin typeface="Avenir Next"/>
                <a:ea typeface="Avenir Next"/>
                <a:cs typeface="Avenir Next"/>
              </a:defRPr>
            </a:lvl5pPr>
            <a:lvl6pPr>
              <a:buNone/>
              <a:defRPr sz="2100" b="0">
                <a:solidFill>
                  <a:srgbClr val="5D6D76"/>
                </a:solidFill>
                <a:latin typeface="Avenir Next"/>
                <a:ea typeface="Avenir Next"/>
                <a:cs typeface="Avenir Next"/>
              </a:defRPr>
            </a:lvl6pPr>
            <a:lvl7pPr>
              <a:buNone/>
              <a:defRPr sz="2100" b="0">
                <a:solidFill>
                  <a:srgbClr val="5D6D76"/>
                </a:solidFill>
                <a:latin typeface="Avenir Next"/>
                <a:ea typeface="Avenir Next"/>
                <a:cs typeface="Avenir Next"/>
              </a:defRPr>
            </a:lvl7pPr>
            <a:lvl8pPr>
              <a:buNone/>
              <a:defRPr sz="2100" b="0">
                <a:solidFill>
                  <a:srgbClr val="5D6D76"/>
                </a:solidFill>
                <a:latin typeface="Avenir Next"/>
                <a:ea typeface="Avenir Next"/>
                <a:cs typeface="Avenir Next"/>
              </a:defRPr>
            </a:lvl8pPr>
            <a:lvl9pPr>
              <a:buNone/>
              <a:defRPr sz="2100" b="0">
                <a:solidFill>
                  <a:srgbClr val="5D6D76"/>
                </a:solidFill>
                <a:latin typeface="Avenir Next"/>
                <a:ea typeface="Avenir Next"/>
                <a:cs typeface="Avenir Next"/>
              </a:defRPr>
            </a:lvl9pPr>
          </a:lstStyle>
          <a:p xmlns:a="http://schemas.openxmlformats.org/drawingml/2006/main">
            <a:pPr>
              <a:buNone/>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OpenML heart-statlog, dataset 53, version 1</a:t>
            </a:r>
          </a:p>
        </p:txBody>
      </p:sp>
      <p:sp>
        <p:nvSpPr>
          <p:cNvPr id="7" name="">
            <a:extLst xmlns:a="http://schemas.openxmlformats.org/drawingml/2006/main">
              <a:ext uri="{FF2B5EF4-FFF2-40B4-BE49-F238E27FC236}">
                <a16:creationId xmlns:a16="http://schemas.microsoft.com/office/drawing/2014/main" id="{14B9A715-A595-42BA-BAAF-0A54B715DA69}"/>
              </a:ext>
            </a:extLst>
          </p:cNvPr>
          <p:cNvSpPr>
            <a:spLocks xmlns:a="http://schemas.openxmlformats.org/drawingml/2006/main" noGrp="1"/>
          </p:cNvSpPr>
          <p:nvPr/>
        </p:nvSpPr>
        <p:spPr>
          <a:xfrm xmlns:a="http://schemas.openxmlformats.org/drawingml/2006/main">
            <a:off x="619125" y="3714750"/>
            <a:ext cx="109537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D6D76"/>
                </a:solidFill>
                <a:latin typeface="Avenir Next"/>
                <a:ea typeface="Avenir Next"/>
                <a:cs typeface="Avenir Next"/>
              </a:defRPr>
            </a:defPPr>
            <a:lvl1pPr>
              <a:buNone/>
              <a:defRPr sz="2100" b="0">
                <a:solidFill>
                  <a:srgbClr val="5D6D76"/>
                </a:solidFill>
                <a:latin typeface="Avenir Next"/>
                <a:ea typeface="Avenir Next"/>
                <a:cs typeface="Avenir Next"/>
              </a:defRPr>
            </a:lvl1pPr>
            <a:lvl2pPr>
              <a:buNone/>
              <a:defRPr sz="2100" b="0">
                <a:solidFill>
                  <a:srgbClr val="5D6D76"/>
                </a:solidFill>
                <a:latin typeface="Avenir Next"/>
                <a:ea typeface="Avenir Next"/>
                <a:cs typeface="Avenir Next"/>
              </a:defRPr>
            </a:lvl2pPr>
            <a:lvl3pPr>
              <a:buNone/>
              <a:defRPr sz="2100" b="0">
                <a:solidFill>
                  <a:srgbClr val="5D6D76"/>
                </a:solidFill>
                <a:latin typeface="Avenir Next"/>
                <a:ea typeface="Avenir Next"/>
                <a:cs typeface="Avenir Next"/>
              </a:defRPr>
            </a:lvl3pPr>
            <a:lvl4pPr>
              <a:buNone/>
              <a:defRPr sz="2100" b="0">
                <a:solidFill>
                  <a:srgbClr val="5D6D76"/>
                </a:solidFill>
                <a:latin typeface="Avenir Next"/>
                <a:ea typeface="Avenir Next"/>
                <a:cs typeface="Avenir Next"/>
              </a:defRPr>
            </a:lvl4pPr>
            <a:lvl5pPr>
              <a:buNone/>
              <a:defRPr sz="2100" b="0">
                <a:solidFill>
                  <a:srgbClr val="5D6D76"/>
                </a:solidFill>
                <a:latin typeface="Avenir Next"/>
                <a:ea typeface="Avenir Next"/>
                <a:cs typeface="Avenir Next"/>
              </a:defRPr>
            </a:lvl5pPr>
            <a:lvl6pPr>
              <a:buNone/>
              <a:defRPr sz="2100" b="0">
                <a:solidFill>
                  <a:srgbClr val="5D6D76"/>
                </a:solidFill>
                <a:latin typeface="Avenir Next"/>
                <a:ea typeface="Avenir Next"/>
                <a:cs typeface="Avenir Next"/>
              </a:defRPr>
            </a:lvl6pPr>
            <a:lvl7pPr>
              <a:buNone/>
              <a:defRPr sz="2100" b="0">
                <a:solidFill>
                  <a:srgbClr val="5D6D76"/>
                </a:solidFill>
                <a:latin typeface="Avenir Next"/>
                <a:ea typeface="Avenir Next"/>
                <a:cs typeface="Avenir Next"/>
              </a:defRPr>
            </a:lvl7pPr>
            <a:lvl8pPr>
              <a:buNone/>
              <a:defRPr sz="2100" b="0">
                <a:solidFill>
                  <a:srgbClr val="5D6D76"/>
                </a:solidFill>
                <a:latin typeface="Avenir Next"/>
                <a:ea typeface="Avenir Next"/>
                <a:cs typeface="Avenir Next"/>
              </a:defRPr>
            </a:lvl8pPr>
            <a:lvl9pPr>
              <a:buNone/>
              <a:defRPr sz="2100" b="0">
                <a:solidFill>
                  <a:srgbClr val="5D6D76"/>
                </a:solidFill>
                <a:latin typeface="Avenir Next"/>
                <a:ea typeface="Avenir Next"/>
                <a:cs typeface="Avenir Next"/>
              </a:defRPr>
            </a:lvl9pPr>
          </a:lstStyle>
          <a:p xmlns:a="http://schemas.openxmlformats.org/drawingml/2006/main">
            <a:pPr>
              <a:buNone/>
              <a:defRPr sz="2100" b="0">
                <a:solidFill>
                  <a:srgbClr val="5D6D76"/>
                </a:solidFill>
                <a:latin typeface="Avenir Next"/>
                <a:ea typeface="Avenir Next"/>
                <a:cs typeface="Avenir Next"/>
              </a:defRPr>
            </a:pPr>
            <a:r>
              <a:rPr sz="2100" b="0">
                <a:solidFill>
                  <a:srgbClr val="5D6D76"/>
                </a:solidFill>
                <a:latin typeface="Avenir Next"/>
                <a:ea typeface="Avenir Next"/>
                <a:cs typeface="Avenir Next"/>
              </a:rPr>
              <a:t>Local notebook, scripts, saved figures and output records</a:t>
            </a:r>
          </a:p>
        </p:txBody>
      </p:sp>
      <p:sp>
        <p:nvSpPr>
          <p:cNvPr id="8" name="">
            <a:extLst xmlns:a="http://schemas.openxmlformats.org/drawingml/2006/main">
              <a:ext uri="{FF2B5EF4-FFF2-40B4-BE49-F238E27FC236}">
                <a16:creationId xmlns:a16="http://schemas.microsoft.com/office/drawing/2014/main" id="{2C37702E-8DA4-485F-9F1A-E50250C3108B}"/>
              </a:ext>
            </a:extLst>
          </p:cNvPr>
          <p:cNvSpPr>
            <a:spLocks xmlns:a="http://schemas.openxmlformats.org/drawingml/2006/main" noGrp="1"/>
          </p:cNvSpPr>
          <p:nvPr/>
        </p:nvSpPr>
        <p:spPr>
          <a:xfrm xmlns:a="http://schemas.openxmlformats.org/drawingml/2006/main">
            <a:off x="590550" y="5591175"/>
            <a:ext cx="11010900" cy="619125"/>
          </a:xfrm>
          <a:prstGeom xmlns:a="http://schemas.openxmlformats.org/drawingml/2006/main" prst="rect">
            <a:avLst/>
          </a:prstGeom>
          <a:solidFill xmlns:a="http://schemas.openxmlformats.org/drawingml/2006/main">
            <a:srgbClr val="F7F2E8"/>
          </a:solidFill>
          <a:ln xmlns:a="http://schemas.openxmlformats.org/drawingml/2006/main" w="0">
            <a:noFill/>
          </a:ln>
        </p:spPr>
        <p:txBody>
          <a:bodyPr xmlns:a="http://schemas.openxmlformats.org/drawingml/2006/main"/>
          <a:lstStyle xmlns:a="http://schemas.openxmlformats.org/drawingml/2006/main">
            <a:defPPr>
              <a:defRPr sz="1725" b="0">
                <a:solidFill>
                  <a:srgbClr val="09253A"/>
                </a:solidFill>
                <a:latin typeface="Avenir Next"/>
                <a:ea typeface="Avenir Next"/>
                <a:cs typeface="Avenir Next"/>
              </a:defRPr>
            </a:defPPr>
            <a:lvl1pPr>
              <a:buNone/>
              <a:defRPr sz="1725" b="0">
                <a:solidFill>
                  <a:srgbClr val="09253A"/>
                </a:solidFill>
                <a:latin typeface="Avenir Next"/>
                <a:ea typeface="Avenir Next"/>
                <a:cs typeface="Avenir Next"/>
              </a:defRPr>
            </a:lvl1pPr>
            <a:lvl2pPr>
              <a:buNone/>
              <a:defRPr sz="1725" b="0">
                <a:solidFill>
                  <a:srgbClr val="09253A"/>
                </a:solidFill>
                <a:latin typeface="Avenir Next"/>
                <a:ea typeface="Avenir Next"/>
                <a:cs typeface="Avenir Next"/>
              </a:defRPr>
            </a:lvl2pPr>
            <a:lvl3pPr>
              <a:buNone/>
              <a:defRPr sz="1725" b="0">
                <a:solidFill>
                  <a:srgbClr val="09253A"/>
                </a:solidFill>
                <a:latin typeface="Avenir Next"/>
                <a:ea typeface="Avenir Next"/>
                <a:cs typeface="Avenir Next"/>
              </a:defRPr>
            </a:lvl3pPr>
            <a:lvl4pPr>
              <a:buNone/>
              <a:defRPr sz="1725" b="0">
                <a:solidFill>
                  <a:srgbClr val="09253A"/>
                </a:solidFill>
                <a:latin typeface="Avenir Next"/>
                <a:ea typeface="Avenir Next"/>
                <a:cs typeface="Avenir Next"/>
              </a:defRPr>
            </a:lvl4pPr>
            <a:lvl5pPr>
              <a:buNone/>
              <a:defRPr sz="1725" b="0">
                <a:solidFill>
                  <a:srgbClr val="09253A"/>
                </a:solidFill>
                <a:latin typeface="Avenir Next"/>
                <a:ea typeface="Avenir Next"/>
                <a:cs typeface="Avenir Next"/>
              </a:defRPr>
            </a:lvl5pPr>
            <a:lvl6pPr>
              <a:buNone/>
              <a:defRPr sz="1725" b="0">
                <a:solidFill>
                  <a:srgbClr val="09253A"/>
                </a:solidFill>
                <a:latin typeface="Avenir Next"/>
                <a:ea typeface="Avenir Next"/>
                <a:cs typeface="Avenir Next"/>
              </a:defRPr>
            </a:lvl6pPr>
            <a:lvl7pPr>
              <a:buNone/>
              <a:defRPr sz="1725" b="0">
                <a:solidFill>
                  <a:srgbClr val="09253A"/>
                </a:solidFill>
                <a:latin typeface="Avenir Next"/>
                <a:ea typeface="Avenir Next"/>
                <a:cs typeface="Avenir Next"/>
              </a:defRPr>
            </a:lvl7pPr>
            <a:lvl8pPr>
              <a:buNone/>
              <a:defRPr sz="1725" b="0">
                <a:solidFill>
                  <a:srgbClr val="09253A"/>
                </a:solidFill>
                <a:latin typeface="Avenir Next"/>
                <a:ea typeface="Avenir Next"/>
                <a:cs typeface="Avenir Next"/>
              </a:defRPr>
            </a:lvl8pPr>
            <a:lvl9pPr>
              <a:buNone/>
              <a:defRPr sz="1725" b="0">
                <a:solidFill>
                  <a:srgbClr val="09253A"/>
                </a:solidFill>
                <a:latin typeface="Avenir Next"/>
                <a:ea typeface="Avenir Next"/>
                <a:cs typeface="Avenir Next"/>
              </a:defRPr>
            </a:lvl9pPr>
          </a:lstStyle>
          <a:p xmlns:a="http://schemas.openxmlformats.org/drawingml/2006/main">
            <a:pPr>
              <a:buNone/>
              <a:defRPr sz="1725" b="0">
                <a:solidFill>
                  <a:srgbClr val="09253A"/>
                </a:solidFill>
                <a:latin typeface="Avenir Next"/>
                <a:ea typeface="Avenir Next"/>
                <a:cs typeface="Avenir Next"/>
              </a:defRPr>
            </a:pPr>
            <a:r>
              <a:rPr sz="1725" b="0">
                <a:solidFill>
                  <a:srgbClr val="09253A"/>
                </a:solidFill>
                <a:latin typeface="Avenir Next"/>
                <a:ea typeface="Avenir Next"/>
                <a:cs typeface="Avenir Next"/>
              </a:rPr>
              <a:t>Source details, timing and evidence gaps accompany this deck.</a:t>
            </a:r>
          </a:p>
        </p:txBody>
      </p:sp>
    </p:spTree>
    <p:extLst>
      <p:ext uri="{BB962C8B-B14F-4D97-AF65-F5344CB8AC3E}">
        <p14:creationId xmlns:p14="http://schemas.microsoft.com/office/powerpoint/2010/main" val="10781854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2026-10-23T08:48:24.1490000Z</dcterms:created>
  <dcterms:modified xsi:type="dcterms:W3CDTF">2026-10-23T08:48:24.1490000Z</dcterms:modified>
</coreProperties>
</file>